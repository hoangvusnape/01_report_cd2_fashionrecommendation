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876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quý thầy cô trong Hội đồng và các bạn sinh viên. Em tên là Hoàng Đình Quý Vũ, mã số sinh viên 252805008, là sinh viên khoa Công nghệ Thông tin, trường Đại học Tôn Đức Thắng. Sau đây, em xin phép được trình bày báo cáo đề tài Capstone 3 của mình với tên gọi: 'Tích hợp biểu diễn đa phương thức vào hệ thống gợi ý thời trang dựa trên đồ thị'. Đề tài được thực hiện dưới sự hướng dẫn của Tiến sĩ Trần Trung Tín, đánh giá 24 cấu hình mạng đồ thị đa phương thức trên tập Vibrent Clothes Rental.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thuyết trình gồm 5 phần: (1) Đặt vấn đề &amp; động lực; (2) Câu hỏi nghiên cứu &amp; mục tiêu; (3) Phương pháp &amp; pipeline cùng 3 mô hình GNN; (4) Cấu hình thực nghiệm &amp; tập dữ liệu VCR; (5) Kết quả thực nghiệm &amp; thảo luận, kết luận.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bài toán chính, em trình bày ngắn gọn 3 triết lý gợi ý nền tảng. (1) Collaborative Filtering (CF): gợi ý dựa trên hành vi tương tác; điểm yếu là Cold-Start khi sản phẩm mới chưa có tương tác. (2) Content-Based (CB): đo tương đồng qua nội dung (màu, chất liệu, kiểu dáng), giải quyết Cold-Start. (3) Hybrid trong GCN: item_next = item_interaction (CF) + item_similar (CB), để CB bù đắp điểm yếu Cold-Start của CF trong một mô hình GCN thống nhất.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thời trang đối mặt hai nút thắt song hành: (1) tương tác cực thưa (&gt;99%) khiến CF truyền thống thiếu tín hiệu; (2) phụ thuộc hoàn toàn vào ID sản phẩm, bỏ qua hình ảnh/mô tả. Ý tưởng: tích hợp đặc trưng đa phương thức (ảnh + văn bản) vào đồ thị để truyền tín hiệu qua các cạnh tương đồng, giải quyết cold-start &amp; dữ liệu thưa.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câu hỏi nghiên cứu: RQ1 – bộ mã hóa hình ảnh nào phù hợp (CLIP vs MobileNetV2)? RQ2 – chiến lược hợp nhất nào tốt nhất? RQ3 – kiến trúc GNN nào mạnh nhất (CombiGCN/BM3/FREEDOM)? RQ4 – đa phương thức có hơn đơn phương thức? Kèm 5 mục tiêu O1–O5 từ tiền xử lý, trích xuất đặc trưng, huấn luyện tới đánh giá @K.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Tập VCR (Vibrent Clothes Rental) rất thưa (99.22%): 553 users, 2,194 items, 9,455 tương tác — môi trường lý tưởng test cold-start. Chia temporal 80/20 mỗi user; trung bình 3.81 item/user trong test nên chọn K=5 làm chỉ số chính để tránh bão hòa Recall ở K lớn.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5 giai đoạn: (1) Lọc 5-core; (2) Ánh xạ ID về chỉ số liên tục; (3) Temporal split 80/20 mỗi user; (4) Trích xuất đặc trưng đa phương thức (CLIP, MobileNetV2→PCA 768, BERT); (5) Huấn luyện &amp; đánh giá 24 cấu hình GNN với siêu tham số dùng chung.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cấu hình = 3 mô hình (CombiGCN, BM3, FREEDOM) × 2 bộ mã hóa ảnh (CLIP, MobileNetV2) × 4 chiến lược hợp nhất (img_only, text_only, late-avg, attention). Mỗi cấu hình huấn luyện tối đa 1,000 epochs với early stopping theo Recall@20.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kiến trúc tiêu biểu, chung xương sống LightGCN: CombiGCN (hợp nhất mức dữ liệu — lan truyền trên cả đồ thị tương tác và đồ thị tương đồng item-item); BM3 (hợp nhất mức mô hình qua bootstrap contrastive, không cần mẫu âm); FREEDOM (hợp nhất mức mô hình, hai view độc lập, liên kết bằng InfoNCE trên đồ thị kNN đóng băng).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CombiGCN: tính trước ma trận tương đồng item-item S offline; lan truyền đồng thời trên đồ thị tương tác user-item (CF) và đồ thị tương đồng item-item (semantic); tại mỗi lớp GCN cộng trực tiếp hai biểu diễn. Hội tụ nhanh nhờ đồ thị tĩnh làm tiên nghiệm, nhưng dễ overfit nếu train quá lâu.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BM3: chỉ lan truyền LightGCN trên đồ thị tương tác; projector tuyến tính chiếu ảnh/văn bản vào không gian embedding; bootstrap contrastive loss căn chỉnh nhánh CF và nhánh đa phương thức. Không cần mẫu âm → độc lập batch-size; bootstrap như regularizer mạnh, kiểm soát overfitting trên VCR.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FREEDOM: tách biệt hoàn toàn nhánh tương tác và nhánh ngữ nghĩa; nhánh ngữ nghĩa chạy trên đồ thị kNN đóng băng lúc khởi tạo; dùng InfoNCE căn chỉnh hai view. Trên VCR, FREEDOM kém nhất (thấp hơn BM3 ~53% NDCG@10) do đồ thị kNN tĩnh trên danh mục nhỏ (2,194 items) chứa nhiều nhiễu.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hai triết lý hợp nhất: Data-level (CombiGCN) — hợp nhất offline, ma trận S là tiên nghiệm tĩnh, dễ giải thích, tách khỏi số chiều đặc trưng. Model-level (BM3/FREEDOM) — chiếu &amp; hợp nhất end-to-end: late fusion (trung bình cộng) vs attention gating (trọng số học được, dễ overfit khi tương tác ít); kèm baseline img_only/text_only.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 bộ mã hóa hình ảnh: MobileNetV2 thắng trong cấu hình late-fusion tốt nhất của mỗi mô hình (BM3: 0.0186 vs 0.0142) nhờ giữ đặc trưng cục bộ (hoa văn, chất liệu, đường may). CLIP lại thắng ở cấu hình đơn phương thức (img_only) nhờ ngữ nghĩa mức cao. Kết luận: lựa chọn bộ mã hóa phụ thuộc cấu hình, không có bên nào thắng tuyệt đối.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&amp; RQ4: đa phương thức (late fusion) vượt trội đơn phương thức ở cả 3 mô hình; late fusion (trung bình cộng) là chiến lược tốt &amp; ổn định nhất. Attention gating làm giảm mạnh BM3 (−46%) và CombiGCN (−14%) do overfitting trên log thưa 9,455 tương tác. Kết luận RQ4: với dữ liệu thưa, đơn giản là tốt nhất và đa phương thức giúp cold-start.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RQ3 – so sánh mô hình: BM3 &gt; CombiGCN &gt; FREEDOM. Tại K=5, BM3 dẫn CombiGCN ~18.4% NDCG; ưu thế BM3 rõ từ K≥5 khi hiệu ứng bootstrap tích lũy. Tại K=1, BM3 và CombiGCN hòa (0.0127). FREEDOM cuối bảng do nhiễu đồ thị kNN tĩnh trên danh mục nhỏ (−53% vs BM3).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Động lực huấn luyện: CombiGCN hội tụ nhanh nhất (đỉnh epoch 280) nhưng loss giảm −70% sau đỉnh → nguy cơ overfit cao nếu không early stop. BM3 chậm hơn ~2.5× (đỉnh 720) nhưng ổn định, loss chỉ giảm −21%. FREEDOM đỉnh muộn 960, gần như phẳng. Khuyến nghị: CombiGCN khi ngân sách hẹp (early stop); BM3 khi ưu tiên chất lượng ranking.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kết luận từ 24 cấu hình: (1) Đa phương thức (late fusion) luôn cải thiện so với đơn phương thức. (2) Lựa chọn MobileNetV2 vs CLIP phụ thuộc cách hợp nhất; MBNv2 tốt hơn cho late fusion nhờ giữ đặc trưng cục bộ. (3) Hợp nhất đơn giản không tham số (late) hiệu quả hơn attention học được trên dữ liệu thưa. (4) BM3 là kiến trúc tối ưu nhất cho gợi ý thời trang thưa nhờ bootstrap tự giám sát.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hạn chế: (1) kết quả single-run, chưa kiểm định ý nghĩa thống kê đa seed; (2) độ thưa lớn khiến chỉ số tuyệt đối thấp (HR@10 ~7-8%), giá trị chủ yếu ở so sánh tương đối; (3) chưa benchmark baseline thuần (LightGCN-only, popularity), d=512 cố định; (4) đặc trưng tĩnh, chưa phản ánh xu hướng thời trang theo thời gian. Hướng tương lai: đa seed, thêm baseline, dữ liệu lớn hơn, đặc trưng theo thời gian.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chân thành cảm ơn quý thầy cô trong Hội đồng và Tiến sĩ Trần Trung Tín. Nghiên cứu chứng minh: kết hợp đặc trưng đa phương thức qua mạng đồ thị tự giám sát BM3 với bộ mã hóa MobileNetV2 là giải pháp tối ưu cho gợi ý thời trang trên dữ liệu thuê quần áo thưa VCR. Em xin lắng nghe câu hỏi từ quý thầy cô. Em xin cảm ơn.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Phụ lục 1 — công thức CombiGCN: chuẩn hóa đối xứng ma trận tương đồng S (giữ cosine&gt;0.5); cập nhật user chỉ trên đồ thị tương tác; item cộng trực tiếp nhánh CF và nhánh Sim; tổng hợp bằng trung bình cộng các lớp.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Phụ lục 2 — công thức BM3: chiếu đặc trưng ảnh/văn bản về d=512 và hợp nhất trung bình; cập nhật target bằng EMA (m=0.995); bootstrap loss bất đối xứng; mục tiêu tổng = BPR + λ1·reg + λ2·CL.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Phụ lục 3 — công thức FREEDOM: đồ thị kNN đóng băng (top-k=10); lan truyền nội dung độc lập; InfoNCE căn chỉnh CF và content (τ=0.2); mục tiêu tổng = BPR + λ1·reg + λ2·CL (λ2=0.1).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4.2 — Tác động của bộ mã hóa hình ảnh lên NDCG@10 trên tất cả cấu hình mô hình–hợp nhất (CLIP vs MobileNetV2). Cột cuối là thay đổi tương đối khi chuyển CLIP → MobileNetV2. In đậm = giá trị tốt hơn trong mỗi cặp.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buNone/>
            </a:pPr>
            <a:r>
              <a:rPr lang="en-US" sz="1200" kern="0" spc="150" dirty="0">
                <a:solidFill>
                  <a:srgbClr val="8899BB"/>
                </a:solidFill>
                <a:latin typeface="Segoe UI" pitchFamily="34" charset="0"/>
                <a:ea typeface="Segoe UI" pitchFamily="34" charset="-122"/>
                <a:cs typeface="Segoe UI" pitchFamily="34" charset="-120"/>
              </a:rPr>
              <a:t>TON DUC THANG UNIVERSITY · FACULTY OF INFORMATION TECHNOLOGY</a:t>
            </a:r>
            <a:endParaRPr lang="en-US" sz="1200" dirty="0"/>
          </a:p>
        </p:txBody>
      </p:sp>
      <p:sp>
        <p:nvSpPr>
          <p:cNvPr id="5" name="Text 1"/>
          <p:cNvSpPr/>
          <p:nvPr/>
        </p:nvSpPr>
        <p:spPr>
          <a:xfrm>
            <a:off x="609600" y="952500"/>
            <a:ext cx="10972495" cy="274320"/>
          </a:xfrm>
          <a:prstGeom prst="rect">
            <a:avLst/>
          </a:prstGeom>
          <a:noFill/>
          <a:ln/>
        </p:spPr>
        <p:txBody>
          <a:bodyPr wrap="square" rtlCol="0" anchor="ctr"/>
          <a:lstStyle/>
          <a:p>
            <a:pPr marL="0" indent="0">
              <a:buNone/>
            </a:pPr>
            <a:r>
              <a:rPr lang="en-US" sz="1200" dirty="0">
                <a:solidFill>
                  <a:srgbClr val="5A6B8C"/>
                </a:solidFill>
                <a:latin typeface="Segoe UI" pitchFamily="34" charset="0"/>
                <a:ea typeface="Segoe UI" pitchFamily="34" charset="-122"/>
                <a:cs typeface="Segoe UI" pitchFamily="34" charset="-120"/>
              </a:rPr>
              <a:t>research topic 2 · Computer Science · Ho Chi Minh City, 2026</a:t>
            </a:r>
            <a:endParaRPr lang="en-US" sz="1200" dirty="0"/>
          </a:p>
        </p:txBody>
      </p:sp>
      <p:sp>
        <p:nvSpPr>
          <p:cNvPr id="6" name="Shape 2"/>
          <p:cNvSpPr/>
          <p:nvPr/>
        </p:nvSpPr>
        <p:spPr>
          <a:xfrm>
            <a:off x="609600" y="2331720"/>
            <a:ext cx="283464" cy="27432"/>
          </a:xfrm>
          <a:prstGeom prst="roundRect">
            <a:avLst>
              <a:gd name="adj" fmla="val 50000"/>
            </a:avLst>
          </a:prstGeom>
          <a:solidFill>
            <a:srgbClr val="C1272D"/>
          </a:solidFill>
          <a:ln/>
        </p:spPr>
        <p:txBody>
          <a:bodyPr/>
          <a:lstStyle/>
          <a:p>
            <a:endParaRPr lang="en-US"/>
          </a:p>
        </p:txBody>
      </p:sp>
      <p:sp>
        <p:nvSpPr>
          <p:cNvPr id="7" name="Shape 3"/>
          <p:cNvSpPr/>
          <p:nvPr/>
        </p:nvSpPr>
        <p:spPr>
          <a:xfrm>
            <a:off x="938784" y="2331720"/>
            <a:ext cx="91440" cy="27432"/>
          </a:xfrm>
          <a:prstGeom prst="roundRect">
            <a:avLst>
              <a:gd name="adj" fmla="val 50000"/>
            </a:avLst>
          </a:prstGeom>
          <a:solidFill>
            <a:srgbClr val="1464B4"/>
          </a:solidFill>
          <a:ln/>
        </p:spPr>
        <p:txBody>
          <a:bodyPr/>
          <a:lstStyle/>
          <a:p>
            <a:endParaRPr lang="en-US"/>
          </a:p>
        </p:txBody>
      </p:sp>
      <p:sp>
        <p:nvSpPr>
          <p:cNvPr id="8" name="Text 4"/>
          <p:cNvSpPr/>
          <p:nvPr/>
        </p:nvSpPr>
        <p:spPr>
          <a:xfrm>
            <a:off x="609600" y="2468880"/>
            <a:ext cx="9692640" cy="1554480"/>
          </a:xfrm>
          <a:prstGeom prst="rect">
            <a:avLst/>
          </a:prstGeom>
          <a:noFill/>
          <a:ln/>
        </p:spPr>
        <p:txBody>
          <a:bodyPr wrap="square" rtlCol="0" anchor="t"/>
          <a:lstStyle/>
          <a:p>
            <a:pPr marL="0" indent="0">
              <a:lnSpc>
                <a:spcPct val="112000"/>
              </a:lnSpc>
              <a:buNone/>
            </a:pPr>
            <a:r>
              <a:rPr lang="en-US" sz="3200" b="1" dirty="0">
                <a:solidFill>
                  <a:srgbClr val="FFFFFF"/>
                </a:solidFill>
                <a:latin typeface="Georgia" pitchFamily="34" charset="0"/>
                <a:ea typeface="Georgia" pitchFamily="34" charset="-122"/>
                <a:cs typeface="Georgia" pitchFamily="34" charset="-120"/>
              </a:rPr>
              <a:t>Integrating Multimodal Representations</a:t>
            </a:r>
            <a:endParaRPr lang="en-US" sz="3200" dirty="0"/>
          </a:p>
          <a:p>
            <a:pPr marL="0" indent="0">
              <a:lnSpc>
                <a:spcPct val="112000"/>
              </a:lnSpc>
              <a:buNone/>
            </a:pPr>
            <a:r>
              <a:rPr lang="en-US" sz="3200" b="1" dirty="0">
                <a:solidFill>
                  <a:srgbClr val="FFFFFF"/>
                </a:solidFill>
                <a:latin typeface="Georgia" pitchFamily="34" charset="0"/>
                <a:ea typeface="Georgia" pitchFamily="34" charset="-122"/>
                <a:cs typeface="Georgia" pitchFamily="34" charset="-120"/>
              </a:rPr>
              <a:t>into Graph-based Fashion Recommender Systems</a:t>
            </a:r>
            <a:endParaRPr lang="en-US" sz="3200" dirty="0"/>
          </a:p>
        </p:txBody>
      </p:sp>
      <p:sp>
        <p:nvSpPr>
          <p:cNvPr id="9" name="Text 5"/>
          <p:cNvSpPr/>
          <p:nvPr/>
        </p:nvSpPr>
        <p:spPr>
          <a:xfrm>
            <a:off x="609600" y="4069080"/>
            <a:ext cx="9692640" cy="457200"/>
          </a:xfrm>
          <a:prstGeom prst="rect">
            <a:avLst/>
          </a:prstGeom>
          <a:noFill/>
          <a:ln/>
        </p:spPr>
        <p:txBody>
          <a:bodyPr wrap="square" rtlCol="0" anchor="t"/>
          <a:lstStyle/>
          <a:p>
            <a:pPr marL="0" indent="0">
              <a:buNone/>
            </a:pPr>
            <a:r>
              <a:rPr lang="en-US" sz="1500" dirty="0">
                <a:solidFill>
                  <a:srgbClr val="8899BB"/>
                </a:solidFill>
                <a:latin typeface="Segoe UI" pitchFamily="34" charset="0"/>
                <a:ea typeface="Segoe UI" pitchFamily="34" charset="-122"/>
                <a:cs typeface="Segoe UI" pitchFamily="34" charset="-120"/>
              </a:rPr>
              <a:t>Benchmarking 24 multimodal GNN configurations on the Vibrent Clothes Rental dataset</a:t>
            </a:r>
            <a:endParaRPr lang="en-US" sz="1500" dirty="0"/>
          </a:p>
        </p:txBody>
      </p:sp>
      <p:sp>
        <p:nvSpPr>
          <p:cNvPr id="10" name="Text 6"/>
          <p:cNvSpPr/>
          <p:nvPr/>
        </p:nvSpPr>
        <p:spPr>
          <a:xfrm>
            <a:off x="609600" y="5532120"/>
            <a:ext cx="3840480" cy="731520"/>
          </a:xfrm>
          <a:prstGeom prst="rect">
            <a:avLst/>
          </a:prstGeom>
          <a:noFill/>
          <a:ln/>
        </p:spPr>
        <p:txBody>
          <a:bodyPr wrap="square" rtlCol="0" anchor="t"/>
          <a:lstStyle/>
          <a:p>
            <a:pPr marL="0" indent="0">
              <a:lnSpc>
                <a:spcPct val="120000"/>
              </a:lnSpc>
              <a:buNone/>
            </a:pPr>
            <a:r>
              <a:rPr lang="en-US" sz="1100" dirty="0">
                <a:solidFill>
                  <a:srgbClr val="8899BB"/>
                </a:solidFill>
                <a:latin typeface="Segoe UI" pitchFamily="34" charset="0"/>
                <a:ea typeface="Segoe UI" pitchFamily="34" charset="-122"/>
                <a:cs typeface="Segoe UI" pitchFamily="34" charset="-120"/>
              </a:rPr>
              <a:t>Presented by
</a:t>
            </a:r>
            <a:r>
              <a:rPr lang="en-US" sz="1300" b="1" dirty="0">
                <a:solidFill>
                  <a:srgbClr val="FFFFFF"/>
                </a:solidFill>
                <a:latin typeface="Georgia" pitchFamily="34" charset="0"/>
                <a:ea typeface="Georgia" pitchFamily="34" charset="-122"/>
                <a:cs typeface="Georgia" pitchFamily="34" charset="-120"/>
              </a:rPr>
              <a:t>Hoang Dinh Quy Vu · 252805008</a:t>
            </a:r>
            <a:endParaRPr lang="en-US" sz="1100" dirty="0"/>
          </a:p>
        </p:txBody>
      </p:sp>
      <p:sp>
        <p:nvSpPr>
          <p:cNvPr id="11" name="Text 7"/>
          <p:cNvSpPr/>
          <p:nvPr/>
        </p:nvSpPr>
        <p:spPr>
          <a:xfrm>
            <a:off x="3444240" y="5532120"/>
            <a:ext cx="3657600" cy="731520"/>
          </a:xfrm>
          <a:prstGeom prst="rect">
            <a:avLst/>
          </a:prstGeom>
          <a:noFill/>
          <a:ln/>
        </p:spPr>
        <p:txBody>
          <a:bodyPr wrap="square" rtlCol="0" anchor="t"/>
          <a:lstStyle/>
          <a:p>
            <a:pPr marL="0" indent="0">
              <a:lnSpc>
                <a:spcPct val="120000"/>
              </a:lnSpc>
              <a:buNone/>
            </a:pPr>
            <a:r>
              <a:rPr lang="en-US" sz="1100" dirty="0">
                <a:solidFill>
                  <a:srgbClr val="8899BB"/>
                </a:solidFill>
                <a:latin typeface="Segoe UI" pitchFamily="34" charset="0"/>
                <a:ea typeface="Segoe UI" pitchFamily="34" charset="-122"/>
                <a:cs typeface="Segoe UI" pitchFamily="34" charset="-120"/>
              </a:rPr>
              <a:t>Advised by
</a:t>
            </a:r>
            <a:r>
              <a:rPr lang="en-US" sz="1300" b="1" dirty="0">
                <a:solidFill>
                  <a:srgbClr val="FFFFFF"/>
                </a:solidFill>
                <a:latin typeface="Georgia" pitchFamily="34" charset="0"/>
                <a:ea typeface="Georgia" pitchFamily="34" charset="-122"/>
                <a:cs typeface="Georgia" pitchFamily="34" charset="-120"/>
              </a:rPr>
              <a:t>Dr. Tran Trung Tin</a:t>
            </a:r>
            <a:endParaRPr lang="en-US" sz="1100" dirty="0"/>
          </a:p>
        </p:txBody>
      </p:sp>
      <p:sp>
        <p:nvSpPr>
          <p:cNvPr id="12" name="Shape 8"/>
          <p:cNvSpPr/>
          <p:nvPr/>
        </p:nvSpPr>
        <p:spPr>
          <a:xfrm>
            <a:off x="7558735" y="5623560"/>
            <a:ext cx="452628" cy="310896"/>
          </a:xfrm>
          <a:prstGeom prst="roundRect">
            <a:avLst>
              <a:gd name="adj" fmla="val 8824"/>
            </a:avLst>
          </a:prstGeom>
          <a:solidFill>
            <a:srgbClr val="17264A"/>
          </a:solidFill>
          <a:ln w="6350">
            <a:solidFill>
              <a:srgbClr val="7ECBA5">
                <a:alpha val="30000"/>
              </a:srgbClr>
            </a:solidFill>
            <a:prstDash val="solid"/>
          </a:ln>
        </p:spPr>
        <p:txBody>
          <a:bodyPr/>
          <a:lstStyle/>
          <a:p>
            <a:endParaRPr lang="en-US"/>
          </a:p>
        </p:txBody>
      </p:sp>
      <p:sp>
        <p:nvSpPr>
          <p:cNvPr id="13" name="Text 9"/>
          <p:cNvSpPr/>
          <p:nvPr/>
        </p:nvSpPr>
        <p:spPr>
          <a:xfrm>
            <a:off x="7558735" y="5623560"/>
            <a:ext cx="452628"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BM3</a:t>
            </a:r>
            <a:endParaRPr lang="en-US" sz="1100" dirty="0"/>
          </a:p>
        </p:txBody>
      </p:sp>
      <p:sp>
        <p:nvSpPr>
          <p:cNvPr id="14" name="Shape 10"/>
          <p:cNvSpPr/>
          <p:nvPr/>
        </p:nvSpPr>
        <p:spPr>
          <a:xfrm>
            <a:off x="8121091" y="5623560"/>
            <a:ext cx="841248" cy="310896"/>
          </a:xfrm>
          <a:prstGeom prst="roundRect">
            <a:avLst>
              <a:gd name="adj" fmla="val 8824"/>
            </a:avLst>
          </a:prstGeom>
          <a:solidFill>
            <a:srgbClr val="17264A"/>
          </a:solidFill>
          <a:ln w="6350">
            <a:solidFill>
              <a:srgbClr val="7ECBA5">
                <a:alpha val="30000"/>
              </a:srgbClr>
            </a:solidFill>
            <a:prstDash val="solid"/>
          </a:ln>
        </p:spPr>
        <p:txBody>
          <a:bodyPr/>
          <a:lstStyle/>
          <a:p>
            <a:endParaRPr lang="en-US"/>
          </a:p>
        </p:txBody>
      </p:sp>
      <p:sp>
        <p:nvSpPr>
          <p:cNvPr id="15" name="Text 11"/>
          <p:cNvSpPr/>
          <p:nvPr/>
        </p:nvSpPr>
        <p:spPr>
          <a:xfrm>
            <a:off x="8121091" y="5623560"/>
            <a:ext cx="841248"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CombiGCN</a:t>
            </a:r>
            <a:endParaRPr lang="en-US" sz="1100" dirty="0"/>
          </a:p>
        </p:txBody>
      </p:sp>
      <p:sp>
        <p:nvSpPr>
          <p:cNvPr id="16" name="Shape 12"/>
          <p:cNvSpPr/>
          <p:nvPr/>
        </p:nvSpPr>
        <p:spPr>
          <a:xfrm>
            <a:off x="9072067" y="5623560"/>
            <a:ext cx="763524" cy="310896"/>
          </a:xfrm>
          <a:prstGeom prst="roundRect">
            <a:avLst>
              <a:gd name="adj" fmla="val 8824"/>
            </a:avLst>
          </a:prstGeom>
          <a:solidFill>
            <a:srgbClr val="17264A"/>
          </a:solidFill>
          <a:ln w="6350">
            <a:solidFill>
              <a:srgbClr val="7ECBA5">
                <a:alpha val="30000"/>
              </a:srgbClr>
            </a:solidFill>
            <a:prstDash val="solid"/>
          </a:ln>
        </p:spPr>
        <p:txBody>
          <a:bodyPr/>
          <a:lstStyle/>
          <a:p>
            <a:endParaRPr lang="en-US"/>
          </a:p>
        </p:txBody>
      </p:sp>
      <p:sp>
        <p:nvSpPr>
          <p:cNvPr id="17" name="Text 13"/>
          <p:cNvSpPr/>
          <p:nvPr/>
        </p:nvSpPr>
        <p:spPr>
          <a:xfrm>
            <a:off x="9072067" y="5623560"/>
            <a:ext cx="763524"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FREEDOM</a:t>
            </a:r>
            <a:endParaRPr lang="en-US" sz="1100" dirty="0"/>
          </a:p>
        </p:txBody>
      </p:sp>
      <p:sp>
        <p:nvSpPr>
          <p:cNvPr id="18" name="Shape 14"/>
          <p:cNvSpPr/>
          <p:nvPr/>
        </p:nvSpPr>
        <p:spPr>
          <a:xfrm>
            <a:off x="7558735" y="6007608"/>
            <a:ext cx="530352" cy="310896"/>
          </a:xfrm>
          <a:prstGeom prst="roundRect">
            <a:avLst>
              <a:gd name="adj" fmla="val 8824"/>
            </a:avLst>
          </a:prstGeom>
          <a:solidFill>
            <a:srgbClr val="17264A"/>
          </a:solidFill>
          <a:ln w="6350">
            <a:solidFill>
              <a:srgbClr val="7ECBA5">
                <a:alpha val="30000"/>
              </a:srgbClr>
            </a:solidFill>
            <a:prstDash val="solid"/>
          </a:ln>
        </p:spPr>
        <p:txBody>
          <a:bodyPr/>
          <a:lstStyle/>
          <a:p>
            <a:endParaRPr lang="en-US"/>
          </a:p>
        </p:txBody>
      </p:sp>
      <p:sp>
        <p:nvSpPr>
          <p:cNvPr id="19" name="Text 15"/>
          <p:cNvSpPr/>
          <p:nvPr/>
        </p:nvSpPr>
        <p:spPr>
          <a:xfrm>
            <a:off x="7558735" y="6007608"/>
            <a:ext cx="530352"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CLIP</a:t>
            </a:r>
            <a:endParaRPr lang="en-US" sz="1100" dirty="0"/>
          </a:p>
        </p:txBody>
      </p:sp>
      <p:sp>
        <p:nvSpPr>
          <p:cNvPr id="20" name="Shape 16"/>
          <p:cNvSpPr/>
          <p:nvPr/>
        </p:nvSpPr>
        <p:spPr>
          <a:xfrm>
            <a:off x="8198815" y="6007608"/>
            <a:ext cx="1074420" cy="310896"/>
          </a:xfrm>
          <a:prstGeom prst="roundRect">
            <a:avLst>
              <a:gd name="adj" fmla="val 8824"/>
            </a:avLst>
          </a:prstGeom>
          <a:solidFill>
            <a:srgbClr val="17264A"/>
          </a:solidFill>
          <a:ln w="6350">
            <a:solidFill>
              <a:srgbClr val="7ECBA5">
                <a:alpha val="30000"/>
              </a:srgbClr>
            </a:solidFill>
            <a:prstDash val="solid"/>
          </a:ln>
        </p:spPr>
        <p:txBody>
          <a:bodyPr/>
          <a:lstStyle/>
          <a:p>
            <a:endParaRPr lang="en-US"/>
          </a:p>
        </p:txBody>
      </p:sp>
      <p:sp>
        <p:nvSpPr>
          <p:cNvPr id="21" name="Text 17"/>
          <p:cNvSpPr/>
          <p:nvPr/>
        </p:nvSpPr>
        <p:spPr>
          <a:xfrm>
            <a:off x="8198815" y="6007608"/>
            <a:ext cx="1074420"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MobileNetV2</a:t>
            </a:r>
            <a:endParaRPr lang="en-US" sz="1100" dirty="0"/>
          </a:p>
        </p:txBody>
      </p:sp>
      <p:sp>
        <p:nvSpPr>
          <p:cNvPr id="22" name="Shape 18"/>
          <p:cNvSpPr/>
          <p:nvPr/>
        </p:nvSpPr>
        <p:spPr>
          <a:xfrm>
            <a:off x="9382963" y="6007608"/>
            <a:ext cx="530352" cy="310896"/>
          </a:xfrm>
          <a:prstGeom prst="roundRect">
            <a:avLst>
              <a:gd name="adj" fmla="val 8824"/>
            </a:avLst>
          </a:prstGeom>
          <a:solidFill>
            <a:srgbClr val="17264A"/>
          </a:solidFill>
          <a:ln w="6350">
            <a:solidFill>
              <a:srgbClr val="7ECBA5">
                <a:alpha val="30000"/>
              </a:srgbClr>
            </a:solidFill>
            <a:prstDash val="solid"/>
          </a:ln>
        </p:spPr>
        <p:txBody>
          <a:bodyPr/>
          <a:lstStyle/>
          <a:p>
            <a:endParaRPr lang="en-US"/>
          </a:p>
        </p:txBody>
      </p:sp>
      <p:sp>
        <p:nvSpPr>
          <p:cNvPr id="23" name="Text 19"/>
          <p:cNvSpPr/>
          <p:nvPr/>
        </p:nvSpPr>
        <p:spPr>
          <a:xfrm>
            <a:off x="9382963" y="6007608"/>
            <a:ext cx="530352"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BERT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8899BB"/>
                </a:solidFill>
                <a:latin typeface="Segoe UI" pitchFamily="34" charset="0"/>
                <a:ea typeface="Segoe UI" pitchFamily="34" charset="-122"/>
                <a:cs typeface="Segoe UI" pitchFamily="34" charset="-120"/>
              </a:rPr>
              <a:t>ROADMAP · 5 SECTIONS</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FFFFFF"/>
                </a:solidFill>
                <a:latin typeface="Georgia" pitchFamily="34" charset="0"/>
                <a:ea typeface="Georgia" pitchFamily="34" charset="-122"/>
                <a:cs typeface="Georgia" pitchFamily="34" charset="-120"/>
              </a:rPr>
              <a:t>Table of Contents</a:t>
            </a:r>
            <a:endParaRPr lang="en-US" sz="2500" dirty="0"/>
          </a:p>
        </p:txBody>
      </p:sp>
      <p:sp>
        <p:nvSpPr>
          <p:cNvPr id="6" name="Shape 2"/>
          <p:cNvSpPr/>
          <p:nvPr/>
        </p:nvSpPr>
        <p:spPr>
          <a:xfrm>
            <a:off x="609600" y="2331720"/>
            <a:ext cx="0" cy="3108960"/>
          </a:xfrm>
          <a:prstGeom prst="line">
            <a:avLst/>
          </a:prstGeom>
          <a:noFill/>
          <a:ln w="19050">
            <a:solidFill>
              <a:srgbClr val="FFFFFF">
                <a:alpha val="15000"/>
              </a:srgbClr>
            </a:solidFill>
            <a:prstDash val="solid"/>
          </a:ln>
        </p:spPr>
        <p:txBody>
          <a:bodyPr/>
          <a:lstStyle/>
          <a:p>
            <a:endParaRPr lang="en-US"/>
          </a:p>
        </p:txBody>
      </p:sp>
      <p:sp>
        <p:nvSpPr>
          <p:cNvPr id="7" name="Text 3"/>
          <p:cNvSpPr/>
          <p:nvPr/>
        </p:nvSpPr>
        <p:spPr>
          <a:xfrm>
            <a:off x="810768" y="2423160"/>
            <a:ext cx="1920179" cy="1005840"/>
          </a:xfrm>
          <a:prstGeom prst="rect">
            <a:avLst/>
          </a:prstGeom>
          <a:noFill/>
          <a:ln/>
        </p:spPr>
        <p:txBody>
          <a:bodyPr wrap="square" rtlCol="0" anchor="t"/>
          <a:lstStyle/>
          <a:p>
            <a:pPr marL="0" indent="0">
              <a:buNone/>
            </a:pPr>
            <a:r>
              <a:rPr lang="en-US" sz="4600" b="1" dirty="0">
                <a:solidFill>
                  <a:srgbClr val="1464B4"/>
                </a:solidFill>
                <a:latin typeface="Georgia" pitchFamily="34" charset="0"/>
                <a:ea typeface="Georgia" pitchFamily="34" charset="-122"/>
                <a:cs typeface="Georgia" pitchFamily="34" charset="-120"/>
              </a:rPr>
              <a:t>01</a:t>
            </a:r>
            <a:endParaRPr lang="en-US" sz="4600" dirty="0"/>
          </a:p>
        </p:txBody>
      </p:sp>
      <p:sp>
        <p:nvSpPr>
          <p:cNvPr id="8" name="Text 4"/>
          <p:cNvSpPr/>
          <p:nvPr/>
        </p:nvSpPr>
        <p:spPr>
          <a:xfrm>
            <a:off x="810768" y="3566160"/>
            <a:ext cx="1883603" cy="914400"/>
          </a:xfrm>
          <a:prstGeom prst="rect">
            <a:avLst/>
          </a:prstGeom>
          <a:noFill/>
          <a:ln/>
        </p:spPr>
        <p:txBody>
          <a:bodyPr wrap="square" rtlCol="0" anchor="t"/>
          <a:lstStyle/>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Problem &amp;</a:t>
            </a:r>
            <a:endParaRPr lang="en-US" sz="1400" dirty="0"/>
          </a:p>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Motivation</a:t>
            </a:r>
            <a:endParaRPr lang="en-US" sz="1400" dirty="0"/>
          </a:p>
        </p:txBody>
      </p:sp>
      <p:sp>
        <p:nvSpPr>
          <p:cNvPr id="9" name="Text 5"/>
          <p:cNvSpPr/>
          <p:nvPr/>
        </p:nvSpPr>
        <p:spPr>
          <a:xfrm>
            <a:off x="810768" y="4526280"/>
            <a:ext cx="1883603" cy="822960"/>
          </a:xfrm>
          <a:prstGeom prst="rect">
            <a:avLst/>
          </a:prstGeom>
          <a:noFill/>
          <a:ln/>
        </p:spPr>
        <p:txBody>
          <a:bodyPr wrap="square" rtlCol="0" anchor="t"/>
          <a:lstStyle/>
          <a:p>
            <a:pPr marL="0" indent="0">
              <a:lnSpc>
                <a:spcPct val="115000"/>
              </a:lnSpc>
              <a:buNone/>
            </a:pPr>
            <a:r>
              <a:rPr lang="en-US" sz="1100" dirty="0">
                <a:solidFill>
                  <a:srgbClr val="8899BB"/>
                </a:solidFill>
                <a:latin typeface="Segoe UI" pitchFamily="34" charset="0"/>
                <a:ea typeface="Segoe UI" pitchFamily="34" charset="-122"/>
                <a:cs typeface="Segoe UI" pitchFamily="34" charset="-120"/>
              </a:rPr>
              <a:t>Sparsity · Cold-start · Bottlenecks</a:t>
            </a:r>
            <a:endParaRPr lang="en-US" sz="1100" dirty="0"/>
          </a:p>
        </p:txBody>
      </p:sp>
      <p:sp>
        <p:nvSpPr>
          <p:cNvPr id="10" name="Shape 6"/>
          <p:cNvSpPr/>
          <p:nvPr/>
        </p:nvSpPr>
        <p:spPr>
          <a:xfrm>
            <a:off x="2804099" y="2331720"/>
            <a:ext cx="0" cy="3108960"/>
          </a:xfrm>
          <a:prstGeom prst="line">
            <a:avLst/>
          </a:prstGeom>
          <a:noFill/>
          <a:ln w="19050">
            <a:solidFill>
              <a:srgbClr val="FFFFFF">
                <a:alpha val="15000"/>
              </a:srgbClr>
            </a:solidFill>
            <a:prstDash val="solid"/>
          </a:ln>
        </p:spPr>
        <p:txBody>
          <a:bodyPr/>
          <a:lstStyle/>
          <a:p>
            <a:endParaRPr lang="en-US"/>
          </a:p>
        </p:txBody>
      </p:sp>
      <p:sp>
        <p:nvSpPr>
          <p:cNvPr id="11" name="Text 7"/>
          <p:cNvSpPr/>
          <p:nvPr/>
        </p:nvSpPr>
        <p:spPr>
          <a:xfrm>
            <a:off x="3005267" y="2423160"/>
            <a:ext cx="1920179" cy="1005840"/>
          </a:xfrm>
          <a:prstGeom prst="rect">
            <a:avLst/>
          </a:prstGeom>
          <a:noFill/>
          <a:ln/>
        </p:spPr>
        <p:txBody>
          <a:bodyPr wrap="square" rtlCol="0" anchor="t"/>
          <a:lstStyle/>
          <a:p>
            <a:pPr marL="0" indent="0">
              <a:buNone/>
            </a:pPr>
            <a:r>
              <a:rPr lang="en-US" sz="4600" b="1" dirty="0">
                <a:solidFill>
                  <a:srgbClr val="1464B4"/>
                </a:solidFill>
                <a:latin typeface="Georgia" pitchFamily="34" charset="0"/>
                <a:ea typeface="Georgia" pitchFamily="34" charset="-122"/>
                <a:cs typeface="Georgia" pitchFamily="34" charset="-120"/>
              </a:rPr>
              <a:t>02</a:t>
            </a:r>
            <a:endParaRPr lang="en-US" sz="4600" dirty="0"/>
          </a:p>
        </p:txBody>
      </p:sp>
      <p:sp>
        <p:nvSpPr>
          <p:cNvPr id="12" name="Text 8"/>
          <p:cNvSpPr/>
          <p:nvPr/>
        </p:nvSpPr>
        <p:spPr>
          <a:xfrm>
            <a:off x="3005267" y="3566160"/>
            <a:ext cx="1883603" cy="914400"/>
          </a:xfrm>
          <a:prstGeom prst="rect">
            <a:avLst/>
          </a:prstGeom>
          <a:noFill/>
          <a:ln/>
        </p:spPr>
        <p:txBody>
          <a:bodyPr wrap="square" rtlCol="0" anchor="t"/>
          <a:lstStyle/>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Research</a:t>
            </a:r>
            <a:endParaRPr lang="en-US" sz="1400" dirty="0"/>
          </a:p>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Questions</a:t>
            </a:r>
            <a:endParaRPr lang="en-US" sz="1400" dirty="0"/>
          </a:p>
        </p:txBody>
      </p:sp>
      <p:sp>
        <p:nvSpPr>
          <p:cNvPr id="13" name="Text 9"/>
          <p:cNvSpPr/>
          <p:nvPr/>
        </p:nvSpPr>
        <p:spPr>
          <a:xfrm>
            <a:off x="3005267" y="4526280"/>
            <a:ext cx="1883603" cy="822960"/>
          </a:xfrm>
          <a:prstGeom prst="rect">
            <a:avLst/>
          </a:prstGeom>
          <a:noFill/>
          <a:ln/>
        </p:spPr>
        <p:txBody>
          <a:bodyPr wrap="square" rtlCol="0" anchor="t"/>
          <a:lstStyle/>
          <a:p>
            <a:pPr marL="0" indent="0">
              <a:lnSpc>
                <a:spcPct val="115000"/>
              </a:lnSpc>
              <a:buNone/>
            </a:pPr>
            <a:r>
              <a:rPr lang="en-US" sz="1100" dirty="0">
                <a:solidFill>
                  <a:srgbClr val="8899BB"/>
                </a:solidFill>
                <a:latin typeface="Segoe UI" pitchFamily="34" charset="0"/>
                <a:ea typeface="Segoe UI" pitchFamily="34" charset="-122"/>
                <a:cs typeface="Segoe UI" pitchFamily="34" charset="-120"/>
              </a:rPr>
              <a:t>Four RQs · Objectives · Scope</a:t>
            </a:r>
            <a:endParaRPr lang="en-US" sz="1100" dirty="0"/>
          </a:p>
        </p:txBody>
      </p:sp>
      <p:sp>
        <p:nvSpPr>
          <p:cNvPr id="14" name="Shape 10"/>
          <p:cNvSpPr/>
          <p:nvPr/>
        </p:nvSpPr>
        <p:spPr>
          <a:xfrm>
            <a:off x="4998598" y="2331720"/>
            <a:ext cx="0" cy="3108960"/>
          </a:xfrm>
          <a:prstGeom prst="line">
            <a:avLst/>
          </a:prstGeom>
          <a:noFill/>
          <a:ln w="19050">
            <a:solidFill>
              <a:srgbClr val="FFFFFF">
                <a:alpha val="15000"/>
              </a:srgbClr>
            </a:solidFill>
            <a:prstDash val="solid"/>
          </a:ln>
        </p:spPr>
        <p:txBody>
          <a:bodyPr/>
          <a:lstStyle/>
          <a:p>
            <a:endParaRPr lang="en-US"/>
          </a:p>
        </p:txBody>
      </p:sp>
      <p:sp>
        <p:nvSpPr>
          <p:cNvPr id="15" name="Text 11"/>
          <p:cNvSpPr/>
          <p:nvPr/>
        </p:nvSpPr>
        <p:spPr>
          <a:xfrm>
            <a:off x="5199766" y="2423160"/>
            <a:ext cx="1920179" cy="1005840"/>
          </a:xfrm>
          <a:prstGeom prst="rect">
            <a:avLst/>
          </a:prstGeom>
          <a:noFill/>
          <a:ln/>
        </p:spPr>
        <p:txBody>
          <a:bodyPr wrap="square" rtlCol="0" anchor="t"/>
          <a:lstStyle/>
          <a:p>
            <a:pPr marL="0" indent="0">
              <a:buNone/>
            </a:pPr>
            <a:r>
              <a:rPr lang="en-US" sz="4600" b="1" dirty="0">
                <a:solidFill>
                  <a:srgbClr val="1464B4"/>
                </a:solidFill>
                <a:latin typeface="Georgia" pitchFamily="34" charset="0"/>
                <a:ea typeface="Georgia" pitchFamily="34" charset="-122"/>
                <a:cs typeface="Georgia" pitchFamily="34" charset="-120"/>
              </a:rPr>
              <a:t>03</a:t>
            </a:r>
            <a:endParaRPr lang="en-US" sz="4600" dirty="0"/>
          </a:p>
        </p:txBody>
      </p:sp>
      <p:sp>
        <p:nvSpPr>
          <p:cNvPr id="16" name="Text 12"/>
          <p:cNvSpPr/>
          <p:nvPr/>
        </p:nvSpPr>
        <p:spPr>
          <a:xfrm>
            <a:off x="5199766" y="3566160"/>
            <a:ext cx="1883603" cy="914400"/>
          </a:xfrm>
          <a:prstGeom prst="rect">
            <a:avLst/>
          </a:prstGeom>
          <a:noFill/>
          <a:ln/>
        </p:spPr>
        <p:txBody>
          <a:bodyPr wrap="square" rtlCol="0" anchor="t"/>
          <a:lstStyle/>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Methodology</a:t>
            </a:r>
            <a:endParaRPr lang="en-US" sz="1400" dirty="0"/>
          </a:p>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&amp; Pipeline</a:t>
            </a:r>
            <a:endParaRPr lang="en-US" sz="1400" dirty="0"/>
          </a:p>
        </p:txBody>
      </p:sp>
      <p:sp>
        <p:nvSpPr>
          <p:cNvPr id="17" name="Text 13"/>
          <p:cNvSpPr/>
          <p:nvPr/>
        </p:nvSpPr>
        <p:spPr>
          <a:xfrm>
            <a:off x="5199766" y="4526280"/>
            <a:ext cx="1883603" cy="822960"/>
          </a:xfrm>
          <a:prstGeom prst="rect">
            <a:avLst/>
          </a:prstGeom>
          <a:noFill/>
          <a:ln/>
        </p:spPr>
        <p:txBody>
          <a:bodyPr wrap="square" rtlCol="0" anchor="t"/>
          <a:lstStyle/>
          <a:p>
            <a:pPr marL="0" indent="0">
              <a:lnSpc>
                <a:spcPct val="115000"/>
              </a:lnSpc>
              <a:buNone/>
            </a:pPr>
            <a:r>
              <a:rPr lang="en-US" sz="1100" dirty="0">
                <a:solidFill>
                  <a:srgbClr val="8899BB"/>
                </a:solidFill>
                <a:latin typeface="Segoe UI" pitchFamily="34" charset="0"/>
                <a:ea typeface="Segoe UI" pitchFamily="34" charset="-122"/>
                <a:cs typeface="Segoe UI" pitchFamily="34" charset="-120"/>
              </a:rPr>
              <a:t>Architecture · CombiGCN · BM3 · FREEDOM</a:t>
            </a:r>
            <a:endParaRPr lang="en-US" sz="1100" dirty="0"/>
          </a:p>
        </p:txBody>
      </p:sp>
      <p:sp>
        <p:nvSpPr>
          <p:cNvPr id="18" name="Shape 14"/>
          <p:cNvSpPr/>
          <p:nvPr/>
        </p:nvSpPr>
        <p:spPr>
          <a:xfrm>
            <a:off x="7193097" y="2331720"/>
            <a:ext cx="0" cy="3108960"/>
          </a:xfrm>
          <a:prstGeom prst="line">
            <a:avLst/>
          </a:prstGeom>
          <a:noFill/>
          <a:ln w="19050">
            <a:solidFill>
              <a:srgbClr val="FFFFFF">
                <a:alpha val="15000"/>
              </a:srgbClr>
            </a:solidFill>
            <a:prstDash val="solid"/>
          </a:ln>
        </p:spPr>
        <p:txBody>
          <a:bodyPr/>
          <a:lstStyle/>
          <a:p>
            <a:endParaRPr lang="en-US"/>
          </a:p>
        </p:txBody>
      </p:sp>
      <p:sp>
        <p:nvSpPr>
          <p:cNvPr id="19" name="Text 15"/>
          <p:cNvSpPr/>
          <p:nvPr/>
        </p:nvSpPr>
        <p:spPr>
          <a:xfrm>
            <a:off x="7394265" y="2423160"/>
            <a:ext cx="1920179" cy="1005840"/>
          </a:xfrm>
          <a:prstGeom prst="rect">
            <a:avLst/>
          </a:prstGeom>
          <a:noFill/>
          <a:ln/>
        </p:spPr>
        <p:txBody>
          <a:bodyPr wrap="square" rtlCol="0" anchor="t"/>
          <a:lstStyle/>
          <a:p>
            <a:pPr marL="0" indent="0">
              <a:buNone/>
            </a:pPr>
            <a:r>
              <a:rPr lang="en-US" sz="4600" b="1" dirty="0">
                <a:solidFill>
                  <a:srgbClr val="1464B4"/>
                </a:solidFill>
                <a:latin typeface="Georgia" pitchFamily="34" charset="0"/>
                <a:ea typeface="Georgia" pitchFamily="34" charset="-122"/>
                <a:cs typeface="Georgia" pitchFamily="34" charset="-120"/>
              </a:rPr>
              <a:t>04</a:t>
            </a:r>
            <a:endParaRPr lang="en-US" sz="4600" dirty="0"/>
          </a:p>
        </p:txBody>
      </p:sp>
      <p:sp>
        <p:nvSpPr>
          <p:cNvPr id="20" name="Text 16"/>
          <p:cNvSpPr/>
          <p:nvPr/>
        </p:nvSpPr>
        <p:spPr>
          <a:xfrm>
            <a:off x="7394265" y="3566160"/>
            <a:ext cx="1883603" cy="914400"/>
          </a:xfrm>
          <a:prstGeom prst="rect">
            <a:avLst/>
          </a:prstGeom>
          <a:noFill/>
          <a:ln/>
        </p:spPr>
        <p:txBody>
          <a:bodyPr wrap="square" rtlCol="0" anchor="t"/>
          <a:lstStyle/>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Model Config</a:t>
            </a:r>
            <a:endParaRPr lang="en-US" sz="1400" dirty="0"/>
          </a:p>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&amp; Data</a:t>
            </a:r>
            <a:endParaRPr lang="en-US" sz="1400" dirty="0"/>
          </a:p>
        </p:txBody>
      </p:sp>
      <p:sp>
        <p:nvSpPr>
          <p:cNvPr id="21" name="Text 17"/>
          <p:cNvSpPr/>
          <p:nvPr/>
        </p:nvSpPr>
        <p:spPr>
          <a:xfrm>
            <a:off x="7394265" y="4526280"/>
            <a:ext cx="1883603" cy="822960"/>
          </a:xfrm>
          <a:prstGeom prst="rect">
            <a:avLst/>
          </a:prstGeom>
          <a:noFill/>
          <a:ln/>
        </p:spPr>
        <p:txBody>
          <a:bodyPr wrap="square" rtlCol="0" anchor="t"/>
          <a:lstStyle/>
          <a:p>
            <a:pPr marL="0" indent="0">
              <a:lnSpc>
                <a:spcPct val="115000"/>
              </a:lnSpc>
              <a:buNone/>
            </a:pPr>
            <a:r>
              <a:rPr lang="en-US" sz="1100" dirty="0">
                <a:solidFill>
                  <a:srgbClr val="8899BB"/>
                </a:solidFill>
                <a:latin typeface="Segoe UI" pitchFamily="34" charset="0"/>
                <a:ea typeface="Segoe UI" pitchFamily="34" charset="-122"/>
                <a:cs typeface="Segoe UI" pitchFamily="34" charset="-120"/>
              </a:rPr>
              <a:t>VCR Dataset · 24 Configs · Features</a:t>
            </a:r>
            <a:endParaRPr lang="en-US" sz="1100" dirty="0"/>
          </a:p>
        </p:txBody>
      </p:sp>
      <p:sp>
        <p:nvSpPr>
          <p:cNvPr id="22" name="Shape 18"/>
          <p:cNvSpPr/>
          <p:nvPr/>
        </p:nvSpPr>
        <p:spPr>
          <a:xfrm>
            <a:off x="9387596" y="2331720"/>
            <a:ext cx="0" cy="3108960"/>
          </a:xfrm>
          <a:prstGeom prst="line">
            <a:avLst/>
          </a:prstGeom>
          <a:noFill/>
          <a:ln w="19050">
            <a:solidFill>
              <a:srgbClr val="FFFFFF">
                <a:alpha val="15000"/>
              </a:srgbClr>
            </a:solidFill>
            <a:prstDash val="solid"/>
          </a:ln>
        </p:spPr>
        <p:txBody>
          <a:bodyPr/>
          <a:lstStyle/>
          <a:p>
            <a:endParaRPr lang="en-US"/>
          </a:p>
        </p:txBody>
      </p:sp>
      <p:sp>
        <p:nvSpPr>
          <p:cNvPr id="23" name="Text 19"/>
          <p:cNvSpPr/>
          <p:nvPr/>
        </p:nvSpPr>
        <p:spPr>
          <a:xfrm>
            <a:off x="9588764" y="2423160"/>
            <a:ext cx="1920179" cy="1005840"/>
          </a:xfrm>
          <a:prstGeom prst="rect">
            <a:avLst/>
          </a:prstGeom>
          <a:noFill/>
          <a:ln/>
        </p:spPr>
        <p:txBody>
          <a:bodyPr wrap="square" rtlCol="0" anchor="t"/>
          <a:lstStyle/>
          <a:p>
            <a:pPr marL="0" indent="0">
              <a:buNone/>
            </a:pPr>
            <a:r>
              <a:rPr lang="en-US" sz="4600" b="1" dirty="0">
                <a:solidFill>
                  <a:srgbClr val="1464B4"/>
                </a:solidFill>
                <a:latin typeface="Georgia" pitchFamily="34" charset="0"/>
                <a:ea typeface="Georgia" pitchFamily="34" charset="-122"/>
                <a:cs typeface="Georgia" pitchFamily="34" charset="-120"/>
              </a:rPr>
              <a:t>05</a:t>
            </a:r>
            <a:endParaRPr lang="en-US" sz="4600" dirty="0"/>
          </a:p>
        </p:txBody>
      </p:sp>
      <p:sp>
        <p:nvSpPr>
          <p:cNvPr id="24" name="Text 20"/>
          <p:cNvSpPr/>
          <p:nvPr/>
        </p:nvSpPr>
        <p:spPr>
          <a:xfrm>
            <a:off x="9588764" y="3566160"/>
            <a:ext cx="1883603" cy="914400"/>
          </a:xfrm>
          <a:prstGeom prst="rect">
            <a:avLst/>
          </a:prstGeom>
          <a:noFill/>
          <a:ln/>
        </p:spPr>
        <p:txBody>
          <a:bodyPr wrap="square" rtlCol="0" anchor="t"/>
          <a:lstStyle/>
          <a:p>
            <a:pPr marL="0" indent="0">
              <a:lnSpc>
                <a:spcPct val="110000"/>
              </a:lnSpc>
              <a:buNone/>
            </a:pPr>
            <a:r>
              <a:rPr lang="en-US" sz="1400" b="1" dirty="0">
                <a:solidFill>
                  <a:srgbClr val="FFFFFF"/>
                </a:solidFill>
                <a:latin typeface="Segoe UI" pitchFamily="34" charset="0"/>
                <a:ea typeface="Segoe UI" pitchFamily="34" charset="-122"/>
                <a:cs typeface="Segoe UI" pitchFamily="34" charset="-120"/>
              </a:rPr>
              <a:t>Experiments</a:t>
            </a:r>
            <a:endParaRPr lang="en-US" sz="1400" dirty="0"/>
          </a:p>
        </p:txBody>
      </p:sp>
      <p:sp>
        <p:nvSpPr>
          <p:cNvPr id="25" name="Text 21"/>
          <p:cNvSpPr/>
          <p:nvPr/>
        </p:nvSpPr>
        <p:spPr>
          <a:xfrm>
            <a:off x="9588764" y="4526280"/>
            <a:ext cx="1883603" cy="822960"/>
          </a:xfrm>
          <a:prstGeom prst="rect">
            <a:avLst/>
          </a:prstGeom>
          <a:noFill/>
          <a:ln/>
        </p:spPr>
        <p:txBody>
          <a:bodyPr wrap="square" rtlCol="0" anchor="t"/>
          <a:lstStyle/>
          <a:p>
            <a:pPr marL="0" indent="0">
              <a:lnSpc>
                <a:spcPct val="115000"/>
              </a:lnSpc>
              <a:buNone/>
            </a:pPr>
            <a:r>
              <a:rPr lang="en-US" sz="1100" dirty="0">
                <a:solidFill>
                  <a:srgbClr val="8899BB"/>
                </a:solidFill>
                <a:latin typeface="Segoe UI" pitchFamily="34" charset="0"/>
                <a:ea typeface="Segoe UI" pitchFamily="34" charset="-122"/>
                <a:cs typeface="Segoe UI" pitchFamily="34" charset="-120"/>
              </a:rPr>
              <a:t>RQ1 · RQ2 · RQ3 · Training · Conclusion</a:t>
            </a:r>
            <a:endParaRPr lang="en-US" sz="1100" dirty="0"/>
          </a:p>
        </p:txBody>
      </p:sp>
      <p:sp>
        <p:nvSpPr>
          <p:cNvPr id="26" name="Shape 22"/>
          <p:cNvSpPr/>
          <p:nvPr/>
        </p:nvSpPr>
        <p:spPr>
          <a:xfrm>
            <a:off x="11582095" y="2331720"/>
            <a:ext cx="0" cy="3108960"/>
          </a:xfrm>
          <a:prstGeom prst="line">
            <a:avLst/>
          </a:prstGeom>
          <a:noFill/>
          <a:ln w="19050">
            <a:solidFill>
              <a:srgbClr val="FFFFFF">
                <a:alpha val="15000"/>
              </a:srgbClr>
            </a:solidFill>
            <a:prstDash val="solid"/>
          </a:ln>
        </p:spPr>
        <p:txBody>
          <a:bodyPr/>
          <a:lstStyle/>
          <a:p>
            <a:endParaRPr lang="en-US"/>
          </a:p>
        </p:txBody>
      </p:sp>
      <p:sp>
        <p:nvSpPr>
          <p:cNvPr id="27" name="Shape 23"/>
          <p:cNvSpPr/>
          <p:nvPr/>
        </p:nvSpPr>
        <p:spPr>
          <a:xfrm>
            <a:off x="609600" y="6223000"/>
            <a:ext cx="10972495" cy="0"/>
          </a:xfrm>
          <a:prstGeom prst="line">
            <a:avLst/>
          </a:prstGeom>
          <a:noFill/>
          <a:ln w="12700">
            <a:solidFill>
              <a:srgbClr val="39456B"/>
            </a:solidFill>
            <a:prstDash val="solid"/>
          </a:ln>
        </p:spPr>
        <p:txBody>
          <a:bodyPr/>
          <a:lstStyle/>
          <a:p>
            <a:endParaRPr lang="en-US"/>
          </a:p>
        </p:txBody>
      </p:sp>
      <p:sp>
        <p:nvSpPr>
          <p:cNvPr id="28" name="Text 24"/>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FFFFFF">
                    <a:alpha val="30000"/>
                  </a:srgbClr>
                </a:solidFill>
                <a:latin typeface="Segoe UI" pitchFamily="34" charset="0"/>
                <a:ea typeface="Segoe UI" pitchFamily="34" charset="-122"/>
                <a:cs typeface="Segoe UI" pitchFamily="34" charset="-120"/>
              </a:rPr>
              <a:t>Hoang Dinh Quy Vu · research topic 2</a:t>
            </a:r>
            <a:endParaRPr lang="en-US" sz="1200" dirty="0"/>
          </a:p>
        </p:txBody>
      </p:sp>
      <p:sp>
        <p:nvSpPr>
          <p:cNvPr id="29" name="Text 25"/>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FFFFFF">
                    <a:alpha val="50000"/>
                  </a:srgbClr>
                </a:solidFill>
                <a:latin typeface="Segoe UI" pitchFamily="34" charset="0"/>
                <a:ea typeface="Segoe UI" pitchFamily="34" charset="-122"/>
                <a:cs typeface="Segoe UI" pitchFamily="34" charset="-120"/>
              </a:rPr>
              <a:t>02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BACKGROUND · RECOMMENDER PARADIGMS</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CF, Content-Based &amp; Hybrid —</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three paradigms underlying this work</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03 / 20</a:t>
            </a:r>
            <a:endParaRPr lang="en-US" sz="1200" dirty="0"/>
          </a:p>
        </p:txBody>
      </p:sp>
      <p:sp>
        <p:nvSpPr>
          <p:cNvPr id="9" name="Shape 5"/>
          <p:cNvSpPr/>
          <p:nvPr/>
        </p:nvSpPr>
        <p:spPr>
          <a:xfrm>
            <a:off x="609600" y="1905000"/>
            <a:ext cx="5321148" cy="1335024"/>
          </a:xfrm>
          <a:prstGeom prst="roundRect">
            <a:avLst>
              <a:gd name="adj" fmla="val 3425"/>
            </a:avLst>
          </a:prstGeom>
          <a:solidFill>
            <a:srgbClr val="EEF3FA"/>
          </a:solidFill>
          <a:ln/>
        </p:spPr>
        <p:txBody>
          <a:bodyPr/>
          <a:lstStyle/>
          <a:p>
            <a:endParaRPr lang="en-US"/>
          </a:p>
        </p:txBody>
      </p:sp>
      <p:sp>
        <p:nvSpPr>
          <p:cNvPr id="10" name="Shape 6"/>
          <p:cNvSpPr/>
          <p:nvPr/>
        </p:nvSpPr>
        <p:spPr>
          <a:xfrm>
            <a:off x="609600" y="1923288"/>
            <a:ext cx="50292" cy="1298448"/>
          </a:xfrm>
          <a:prstGeom prst="rect">
            <a:avLst/>
          </a:prstGeom>
          <a:solidFill>
            <a:srgbClr val="1464B4"/>
          </a:solidFill>
          <a:ln/>
        </p:spPr>
        <p:txBody>
          <a:bodyPr/>
          <a:lstStyle/>
          <a:p>
            <a:endParaRPr lang="en-US"/>
          </a:p>
        </p:txBody>
      </p:sp>
      <p:sp>
        <p:nvSpPr>
          <p:cNvPr id="11" name="Shape 7"/>
          <p:cNvSpPr/>
          <p:nvPr/>
        </p:nvSpPr>
        <p:spPr>
          <a:xfrm>
            <a:off x="792480" y="2069592"/>
            <a:ext cx="473659" cy="292608"/>
          </a:xfrm>
          <a:prstGeom prst="roundRect">
            <a:avLst>
              <a:gd name="adj" fmla="val 9375"/>
            </a:avLst>
          </a:prstGeom>
          <a:solidFill>
            <a:srgbClr val="DEEAF9"/>
          </a:solidFill>
          <a:ln/>
        </p:spPr>
        <p:txBody>
          <a:bodyPr/>
          <a:lstStyle/>
          <a:p>
            <a:endParaRPr lang="en-US"/>
          </a:p>
        </p:txBody>
      </p:sp>
      <p:sp>
        <p:nvSpPr>
          <p:cNvPr id="12" name="Text 8"/>
          <p:cNvSpPr/>
          <p:nvPr/>
        </p:nvSpPr>
        <p:spPr>
          <a:xfrm>
            <a:off x="792480" y="2069592"/>
            <a:ext cx="473659" cy="292608"/>
          </a:xfrm>
          <a:prstGeom prst="rect">
            <a:avLst/>
          </a:prstGeom>
          <a:noFill/>
          <a:ln/>
        </p:spPr>
        <p:txBody>
          <a:bodyPr wrap="none" rtlCol="0" anchor="ctr"/>
          <a:lstStyle/>
          <a:p>
            <a:pPr marL="0" indent="0" algn="ctr">
              <a:buNone/>
            </a:pPr>
            <a:r>
              <a:rPr lang="en-US" sz="1200" b="1" dirty="0">
                <a:solidFill>
                  <a:srgbClr val="1464B4"/>
                </a:solidFill>
                <a:latin typeface="Segoe UI" pitchFamily="34" charset="0"/>
                <a:ea typeface="Segoe UI" pitchFamily="34" charset="-122"/>
                <a:cs typeface="Segoe UI" pitchFamily="34" charset="-120"/>
              </a:rPr>
              <a:t>CF</a:t>
            </a:r>
            <a:endParaRPr lang="en-US" sz="1200" dirty="0"/>
          </a:p>
        </p:txBody>
      </p:sp>
      <p:sp>
        <p:nvSpPr>
          <p:cNvPr id="13" name="Text 9"/>
          <p:cNvSpPr/>
          <p:nvPr/>
        </p:nvSpPr>
        <p:spPr>
          <a:xfrm>
            <a:off x="792480" y="2471928"/>
            <a:ext cx="4955388" cy="320040"/>
          </a:xfrm>
          <a:prstGeom prst="rect">
            <a:avLst/>
          </a:prstGeom>
          <a:noFill/>
          <a:ln/>
        </p:spPr>
        <p:txBody>
          <a:bodyPr wrap="square" rtlCol="0" anchor="t"/>
          <a:lstStyle/>
          <a:p>
            <a:pPr marL="0" indent="0" algn="l">
              <a:buNone/>
            </a:pPr>
            <a:r>
              <a:rPr lang="en-US" sz="1400" b="1" dirty="0">
                <a:solidFill>
                  <a:srgbClr val="1464B4"/>
                </a:solidFill>
                <a:latin typeface="Segoe UI" pitchFamily="34" charset="0"/>
                <a:ea typeface="Segoe UI" pitchFamily="34" charset="-122"/>
                <a:cs typeface="Segoe UI" pitchFamily="34" charset="-120"/>
              </a:rPr>
              <a:t>Collaborative Filtering</a:t>
            </a:r>
            <a:endParaRPr lang="en-US" sz="1400" dirty="0"/>
          </a:p>
        </p:txBody>
      </p:sp>
      <p:sp>
        <p:nvSpPr>
          <p:cNvPr id="14" name="Text 10"/>
          <p:cNvSpPr/>
          <p:nvPr/>
        </p:nvSpPr>
        <p:spPr>
          <a:xfrm>
            <a:off x="792480" y="2801112"/>
            <a:ext cx="4955388" cy="457200"/>
          </a:xfrm>
          <a:prstGeom prst="rect">
            <a:avLst/>
          </a:prstGeom>
          <a:noFill/>
          <a:ln/>
        </p:spPr>
        <p:txBody>
          <a:bodyPr wrap="square" rtlCol="0" anchor="t"/>
          <a:lstStyle/>
          <a:p>
            <a:pPr marL="0" indent="0" algn="l">
              <a:lnSpc>
                <a:spcPct val="108000"/>
              </a:lnSpc>
              <a:buNone/>
            </a:pPr>
            <a:r>
              <a:rPr lang="en-US" sz="1150" dirty="0">
                <a:solidFill>
                  <a:srgbClr val="1A1E2E"/>
                </a:solidFill>
                <a:latin typeface="Segoe UI" pitchFamily="34" charset="0"/>
                <a:ea typeface="Segoe UI" pitchFamily="34" charset="-122"/>
                <a:cs typeface="Segoe UI" pitchFamily="34" charset="-120"/>
              </a:rPr>
              <a:t>Recommends from </a:t>
            </a:r>
            <a:r>
              <a:rPr lang="en-US" sz="1150" b="1" dirty="0">
                <a:solidFill>
                  <a:srgbClr val="1A1E2E"/>
                </a:solidFill>
                <a:latin typeface="Segoe UI" pitchFamily="34" charset="0"/>
                <a:ea typeface="Segoe UI" pitchFamily="34" charset="-122"/>
                <a:cs typeface="Segoe UI" pitchFamily="34" charset="-120"/>
              </a:rPr>
              <a:t>interaction behaviour</a:t>
            </a:r>
            <a:r>
              <a:rPr lang="en-US" sz="1150" dirty="0">
                <a:solidFill>
                  <a:srgbClr val="1A1E2E"/>
                </a:solidFill>
                <a:latin typeface="Segoe UI" pitchFamily="34" charset="0"/>
                <a:ea typeface="Segoe UI" pitchFamily="34" charset="-122"/>
                <a:cs typeface="Segoe UI" pitchFamily="34" charset="-120"/>
              </a:rPr>
              <a:t> — co-bought items suggest each other. Weakness: </a:t>
            </a:r>
            <a:r>
              <a:rPr lang="en-US" sz="1150" b="1" dirty="0">
                <a:solidFill>
                  <a:srgbClr val="1A1E2E"/>
                </a:solidFill>
                <a:latin typeface="Segoe UI" pitchFamily="34" charset="0"/>
                <a:ea typeface="Segoe UI" pitchFamily="34" charset="-122"/>
                <a:cs typeface="Segoe UI" pitchFamily="34" charset="-120"/>
              </a:rPr>
              <a:t>cold-start</a:t>
            </a:r>
            <a:r>
              <a:rPr lang="en-US" sz="1150" dirty="0">
                <a:solidFill>
                  <a:srgbClr val="1A1E2E"/>
                </a:solidFill>
                <a:latin typeface="Segoe UI" pitchFamily="34" charset="0"/>
                <a:ea typeface="Segoe UI" pitchFamily="34" charset="-122"/>
                <a:cs typeface="Segoe UI" pitchFamily="34" charset="-120"/>
              </a:rPr>
              <a:t> — a new item with no interactions is isolated.</a:t>
            </a:r>
            <a:endParaRPr lang="en-US" sz="1150" dirty="0"/>
          </a:p>
        </p:txBody>
      </p:sp>
      <p:sp>
        <p:nvSpPr>
          <p:cNvPr id="15" name="Shape 11"/>
          <p:cNvSpPr/>
          <p:nvPr/>
        </p:nvSpPr>
        <p:spPr>
          <a:xfrm>
            <a:off x="609600" y="3368040"/>
            <a:ext cx="5321148" cy="1335024"/>
          </a:xfrm>
          <a:prstGeom prst="roundRect">
            <a:avLst>
              <a:gd name="adj" fmla="val 3425"/>
            </a:avLst>
          </a:prstGeom>
          <a:solidFill>
            <a:srgbClr val="EEF3FA"/>
          </a:solidFill>
          <a:ln/>
        </p:spPr>
        <p:txBody>
          <a:bodyPr/>
          <a:lstStyle/>
          <a:p>
            <a:endParaRPr lang="en-US"/>
          </a:p>
        </p:txBody>
      </p:sp>
      <p:sp>
        <p:nvSpPr>
          <p:cNvPr id="16" name="Shape 12"/>
          <p:cNvSpPr/>
          <p:nvPr/>
        </p:nvSpPr>
        <p:spPr>
          <a:xfrm>
            <a:off x="609600" y="3386328"/>
            <a:ext cx="50292" cy="1298448"/>
          </a:xfrm>
          <a:prstGeom prst="rect">
            <a:avLst/>
          </a:prstGeom>
          <a:solidFill>
            <a:srgbClr val="1A7A50"/>
          </a:solidFill>
          <a:ln/>
        </p:spPr>
        <p:txBody>
          <a:bodyPr/>
          <a:lstStyle/>
          <a:p>
            <a:endParaRPr lang="en-US"/>
          </a:p>
        </p:txBody>
      </p:sp>
      <p:sp>
        <p:nvSpPr>
          <p:cNvPr id="17" name="Shape 13"/>
          <p:cNvSpPr/>
          <p:nvPr/>
        </p:nvSpPr>
        <p:spPr>
          <a:xfrm>
            <a:off x="792480" y="3532632"/>
            <a:ext cx="473659" cy="292608"/>
          </a:xfrm>
          <a:prstGeom prst="roundRect">
            <a:avLst>
              <a:gd name="adj" fmla="val 9375"/>
            </a:avLst>
          </a:prstGeom>
          <a:solidFill>
            <a:srgbClr val="D8F0E8"/>
          </a:solidFill>
          <a:ln/>
        </p:spPr>
        <p:txBody>
          <a:bodyPr/>
          <a:lstStyle/>
          <a:p>
            <a:endParaRPr lang="en-US"/>
          </a:p>
        </p:txBody>
      </p:sp>
      <p:sp>
        <p:nvSpPr>
          <p:cNvPr id="18" name="Text 14"/>
          <p:cNvSpPr/>
          <p:nvPr/>
        </p:nvSpPr>
        <p:spPr>
          <a:xfrm>
            <a:off x="792480" y="3532632"/>
            <a:ext cx="473659" cy="292608"/>
          </a:xfrm>
          <a:prstGeom prst="rect">
            <a:avLst/>
          </a:prstGeom>
          <a:noFill/>
          <a:ln/>
        </p:spPr>
        <p:txBody>
          <a:bodyPr wrap="none" rtlCol="0" anchor="ctr"/>
          <a:lstStyle/>
          <a:p>
            <a:pPr marL="0" indent="0" algn="ctr">
              <a:buNone/>
            </a:pPr>
            <a:r>
              <a:rPr lang="en-US" sz="1200" b="1" dirty="0">
                <a:solidFill>
                  <a:srgbClr val="1A7A50"/>
                </a:solidFill>
                <a:latin typeface="Segoe UI" pitchFamily="34" charset="0"/>
                <a:ea typeface="Segoe UI" pitchFamily="34" charset="-122"/>
                <a:cs typeface="Segoe UI" pitchFamily="34" charset="-120"/>
              </a:rPr>
              <a:t>CB</a:t>
            </a:r>
            <a:endParaRPr lang="en-US" sz="1200" dirty="0"/>
          </a:p>
        </p:txBody>
      </p:sp>
      <p:sp>
        <p:nvSpPr>
          <p:cNvPr id="19" name="Text 15"/>
          <p:cNvSpPr/>
          <p:nvPr/>
        </p:nvSpPr>
        <p:spPr>
          <a:xfrm>
            <a:off x="792480" y="3934968"/>
            <a:ext cx="4955388" cy="320040"/>
          </a:xfrm>
          <a:prstGeom prst="rect">
            <a:avLst/>
          </a:prstGeom>
          <a:noFill/>
          <a:ln/>
        </p:spPr>
        <p:txBody>
          <a:bodyPr wrap="square" rtlCol="0" anchor="t"/>
          <a:lstStyle/>
          <a:p>
            <a:pPr marL="0" indent="0" algn="l">
              <a:buNone/>
            </a:pPr>
            <a:r>
              <a:rPr lang="en-US" sz="1400" b="1" dirty="0">
                <a:solidFill>
                  <a:srgbClr val="1A7A50"/>
                </a:solidFill>
                <a:latin typeface="Segoe UI" pitchFamily="34" charset="0"/>
                <a:ea typeface="Segoe UI" pitchFamily="34" charset="-122"/>
                <a:cs typeface="Segoe UI" pitchFamily="34" charset="-120"/>
              </a:rPr>
              <a:t>Content-Based</a:t>
            </a:r>
            <a:endParaRPr lang="en-US" sz="1400" dirty="0"/>
          </a:p>
        </p:txBody>
      </p:sp>
      <p:sp>
        <p:nvSpPr>
          <p:cNvPr id="20" name="Text 16"/>
          <p:cNvSpPr/>
          <p:nvPr/>
        </p:nvSpPr>
        <p:spPr>
          <a:xfrm>
            <a:off x="792480" y="4264152"/>
            <a:ext cx="4955388" cy="457200"/>
          </a:xfrm>
          <a:prstGeom prst="rect">
            <a:avLst/>
          </a:prstGeom>
          <a:noFill/>
          <a:ln/>
        </p:spPr>
        <p:txBody>
          <a:bodyPr wrap="square" rtlCol="0" anchor="t"/>
          <a:lstStyle/>
          <a:p>
            <a:pPr marL="0" indent="0" algn="l">
              <a:lnSpc>
                <a:spcPct val="108000"/>
              </a:lnSpc>
              <a:buNone/>
            </a:pPr>
            <a:r>
              <a:rPr lang="en-US" sz="1150" dirty="0">
                <a:solidFill>
                  <a:srgbClr val="1A1E2E"/>
                </a:solidFill>
                <a:latin typeface="Segoe UI" pitchFamily="34" charset="0"/>
                <a:ea typeface="Segoe UI" pitchFamily="34" charset="-122"/>
                <a:cs typeface="Segoe UI" pitchFamily="34" charset="-120"/>
              </a:rPr>
              <a:t>Measures </a:t>
            </a:r>
            <a:r>
              <a:rPr lang="en-US" sz="1150" b="1" dirty="0">
                <a:solidFill>
                  <a:srgbClr val="1A1E2E"/>
                </a:solidFill>
                <a:latin typeface="Segoe UI" pitchFamily="34" charset="0"/>
                <a:ea typeface="Segoe UI" pitchFamily="34" charset="-122"/>
                <a:cs typeface="Segoe UI" pitchFamily="34" charset="-120"/>
              </a:rPr>
              <a:t>item–item similarity</a:t>
            </a:r>
            <a:r>
              <a:rPr lang="en-US" sz="1150" dirty="0">
                <a:solidFill>
                  <a:srgbClr val="1A1E2E"/>
                </a:solidFill>
                <a:latin typeface="Segoe UI" pitchFamily="34" charset="0"/>
                <a:ea typeface="Segoe UI" pitchFamily="34" charset="-122"/>
                <a:cs typeface="Segoe UI" pitchFamily="34" charset="-120"/>
              </a:rPr>
              <a:t> from content (colour, material, silhouette). </a:t>
            </a:r>
            <a:r>
              <a:rPr lang="en-US" sz="1150" b="1" dirty="0">
                <a:solidFill>
                  <a:srgbClr val="1A1E2E"/>
                </a:solidFill>
                <a:latin typeface="Segoe UI" pitchFamily="34" charset="0"/>
                <a:ea typeface="Segoe UI" pitchFamily="34" charset="-122"/>
                <a:cs typeface="Segoe UI" pitchFamily="34" charset="-120"/>
              </a:rPr>
              <a:t>Solves cold-start</a:t>
            </a:r>
            <a:r>
              <a:rPr lang="en-US" sz="1150" dirty="0">
                <a:solidFill>
                  <a:srgbClr val="1A1E2E"/>
                </a:solidFill>
                <a:latin typeface="Segoe UI" pitchFamily="34" charset="0"/>
                <a:ea typeface="Segoe UI" pitchFamily="34" charset="-122"/>
                <a:cs typeface="Segoe UI" pitchFamily="34" charset="-120"/>
              </a:rPr>
              <a:t> — new items still link through content.</a:t>
            </a:r>
            <a:endParaRPr lang="en-US" sz="1150" dirty="0"/>
          </a:p>
        </p:txBody>
      </p:sp>
      <p:sp>
        <p:nvSpPr>
          <p:cNvPr id="21" name="Shape 17"/>
          <p:cNvSpPr/>
          <p:nvPr/>
        </p:nvSpPr>
        <p:spPr>
          <a:xfrm>
            <a:off x="609600" y="4831080"/>
            <a:ext cx="5321148" cy="1335024"/>
          </a:xfrm>
          <a:prstGeom prst="roundRect">
            <a:avLst>
              <a:gd name="adj" fmla="val 3425"/>
            </a:avLst>
          </a:prstGeom>
          <a:solidFill>
            <a:srgbClr val="EEF3FA"/>
          </a:solidFill>
          <a:ln/>
        </p:spPr>
        <p:txBody>
          <a:bodyPr/>
          <a:lstStyle/>
          <a:p>
            <a:endParaRPr lang="en-US"/>
          </a:p>
        </p:txBody>
      </p:sp>
      <p:sp>
        <p:nvSpPr>
          <p:cNvPr id="22" name="Shape 18"/>
          <p:cNvSpPr/>
          <p:nvPr/>
        </p:nvSpPr>
        <p:spPr>
          <a:xfrm>
            <a:off x="609600" y="4849368"/>
            <a:ext cx="50292" cy="1298448"/>
          </a:xfrm>
          <a:prstGeom prst="rect">
            <a:avLst/>
          </a:prstGeom>
          <a:solidFill>
            <a:srgbClr val="0D1B3E"/>
          </a:solidFill>
          <a:ln/>
        </p:spPr>
        <p:txBody>
          <a:bodyPr/>
          <a:lstStyle/>
          <a:p>
            <a:endParaRPr lang="en-US"/>
          </a:p>
        </p:txBody>
      </p:sp>
      <p:sp>
        <p:nvSpPr>
          <p:cNvPr id="23" name="Shape 19"/>
          <p:cNvSpPr/>
          <p:nvPr/>
        </p:nvSpPr>
        <p:spPr>
          <a:xfrm>
            <a:off x="792480" y="4995672"/>
            <a:ext cx="835762" cy="292608"/>
          </a:xfrm>
          <a:prstGeom prst="roundRect">
            <a:avLst>
              <a:gd name="adj" fmla="val 9375"/>
            </a:avLst>
          </a:prstGeom>
          <a:solidFill>
            <a:srgbClr val="E8E9EF"/>
          </a:solidFill>
          <a:ln/>
        </p:spPr>
        <p:txBody>
          <a:bodyPr/>
          <a:lstStyle/>
          <a:p>
            <a:endParaRPr lang="en-US"/>
          </a:p>
        </p:txBody>
      </p:sp>
      <p:sp>
        <p:nvSpPr>
          <p:cNvPr id="24" name="Text 20"/>
          <p:cNvSpPr/>
          <p:nvPr/>
        </p:nvSpPr>
        <p:spPr>
          <a:xfrm>
            <a:off x="792480" y="4995672"/>
            <a:ext cx="835762" cy="292608"/>
          </a:xfrm>
          <a:prstGeom prst="rect">
            <a:avLst/>
          </a:prstGeom>
          <a:noFill/>
          <a:ln/>
        </p:spPr>
        <p:txBody>
          <a:bodyPr wrap="none" rtlCol="0" anchor="ctr"/>
          <a:lstStyle/>
          <a:p>
            <a:pPr marL="0" indent="0" algn="ctr">
              <a:buNone/>
            </a:pPr>
            <a:r>
              <a:rPr lang="en-US" sz="1200" b="1" dirty="0">
                <a:solidFill>
                  <a:srgbClr val="0D1B3E"/>
                </a:solidFill>
                <a:latin typeface="Segoe UI" pitchFamily="34" charset="0"/>
                <a:ea typeface="Segoe UI" pitchFamily="34" charset="-122"/>
                <a:cs typeface="Segoe UI" pitchFamily="34" charset="-120"/>
              </a:rPr>
              <a:t>HYBRID</a:t>
            </a:r>
            <a:endParaRPr lang="en-US" sz="1200" dirty="0"/>
          </a:p>
        </p:txBody>
      </p:sp>
      <p:sp>
        <p:nvSpPr>
          <p:cNvPr id="25" name="Text 21"/>
          <p:cNvSpPr/>
          <p:nvPr/>
        </p:nvSpPr>
        <p:spPr>
          <a:xfrm>
            <a:off x="792480" y="5398008"/>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Hybrid (in GCN)</a:t>
            </a:r>
            <a:endParaRPr lang="en-US" sz="1400" dirty="0"/>
          </a:p>
        </p:txBody>
      </p:sp>
      <p:sp>
        <p:nvSpPr>
          <p:cNvPr id="26" name="Text 22"/>
          <p:cNvSpPr/>
          <p:nvPr/>
        </p:nvSpPr>
        <p:spPr>
          <a:xfrm>
            <a:off x="792480" y="5727192"/>
            <a:ext cx="4955388" cy="457200"/>
          </a:xfrm>
          <a:prstGeom prst="rect">
            <a:avLst/>
          </a:prstGeom>
          <a:noFill/>
          <a:ln/>
        </p:spPr>
        <p:txBody>
          <a:bodyPr wrap="square" rtlCol="0" anchor="t"/>
          <a:lstStyle/>
          <a:p>
            <a:pPr marL="0" indent="0" algn="l">
              <a:lnSpc>
                <a:spcPct val="108000"/>
              </a:lnSpc>
              <a:buNone/>
            </a:pPr>
            <a:r>
              <a:rPr lang="en-US" sz="1150" dirty="0">
                <a:solidFill>
                  <a:srgbClr val="1A1E2E"/>
                </a:solidFill>
                <a:latin typeface="Segoe UI" pitchFamily="34" charset="0"/>
                <a:ea typeface="Segoe UI" pitchFamily="34" charset="-122"/>
                <a:cs typeface="Segoe UI" pitchFamily="34" charset="-120"/>
              </a:rPr>
              <a:t>Combines both: </a:t>
            </a:r>
            <a:r>
              <a:rPr lang="en-US" sz="1150" dirty="0">
                <a:solidFill>
                  <a:srgbClr val="1A7A50"/>
                </a:solidFill>
                <a:latin typeface="Consolas" pitchFamily="34" charset="0"/>
                <a:ea typeface="Consolas" pitchFamily="34" charset="-122"/>
                <a:cs typeface="Consolas" pitchFamily="34" charset="-120"/>
              </a:rPr>
              <a:t>item_next = item_interaction + item_similar</a:t>
            </a:r>
            <a:r>
              <a:rPr lang="en-US" sz="1150" dirty="0">
                <a:solidFill>
                  <a:srgbClr val="1A1E2E"/>
                </a:solidFill>
                <a:latin typeface="Segoe UI" pitchFamily="34" charset="0"/>
                <a:ea typeface="Segoe UI" pitchFamily="34" charset="-122"/>
                <a:cs typeface="Segoe UI" pitchFamily="34" charset="-120"/>
              </a:rPr>
              <a:t> — CB covers CF’s cold-start gap in one unified GCN.</a:t>
            </a:r>
            <a:endParaRPr lang="en-US" sz="1150" dirty="0"/>
          </a:p>
        </p:txBody>
      </p:sp>
      <p:sp>
        <p:nvSpPr>
          <p:cNvPr id="27" name="Shape 23"/>
          <p:cNvSpPr/>
          <p:nvPr/>
        </p:nvSpPr>
        <p:spPr>
          <a:xfrm>
            <a:off x="6260948" y="1905000"/>
            <a:ext cx="5321148" cy="4261104"/>
          </a:xfrm>
          <a:prstGeom prst="roundRect">
            <a:avLst>
              <a:gd name="adj" fmla="val 1073"/>
            </a:avLst>
          </a:prstGeom>
          <a:solidFill>
            <a:srgbClr val="F5F7FB"/>
          </a:solidFill>
          <a:ln/>
        </p:spPr>
        <p:txBody>
          <a:bodyPr/>
          <a:lstStyle/>
          <a:p>
            <a:endParaRPr lang="en-US"/>
          </a:p>
        </p:txBody>
      </p:sp>
      <p:pic>
        <p:nvPicPr>
          <p:cNvPr id="28" name="Image 1" descr="E:\DoCode\CD2\01_Report_CD2_FashionRecommendation\4_docs\02_Present\present_v2\uploads\Cf_CB_Hybrid.png"/>
          <p:cNvPicPr>
            <a:picLocks noChangeAspect="1"/>
          </p:cNvPicPr>
          <p:nvPr/>
        </p:nvPicPr>
        <p:blipFill>
          <a:blip r:embed="rId4"/>
          <a:srcRect/>
          <a:stretch/>
        </p:blipFill>
        <p:spPr>
          <a:xfrm>
            <a:off x="6388964" y="2033016"/>
            <a:ext cx="5065116" cy="40050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01 · PROBLEM &amp; MOTIVATION</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Sparse interactions expose two coupled</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bottlenecks in ID-bound collaborative filtering</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04 / 20</a:t>
            </a:r>
            <a:endParaRPr lang="en-US" sz="1200" dirty="0"/>
          </a:p>
        </p:txBody>
      </p:sp>
      <p:sp>
        <p:nvSpPr>
          <p:cNvPr id="9" name="Text 5"/>
          <p:cNvSpPr/>
          <p:nvPr/>
        </p:nvSpPr>
        <p:spPr>
          <a:xfrm>
            <a:off x="609600" y="1905000"/>
            <a:ext cx="5321148"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Fashion recommendation is hard</a:t>
            </a:r>
            <a:endParaRPr lang="en-US" sz="1500" dirty="0"/>
          </a:p>
        </p:txBody>
      </p:sp>
      <p:sp>
        <p:nvSpPr>
          <p:cNvPr id="10" name="Shape 6"/>
          <p:cNvSpPr/>
          <p:nvPr/>
        </p:nvSpPr>
        <p:spPr>
          <a:xfrm>
            <a:off x="609600" y="2353056"/>
            <a:ext cx="64008" cy="64008"/>
          </a:xfrm>
          <a:prstGeom prst="ellipse">
            <a:avLst/>
          </a:prstGeom>
          <a:solidFill>
            <a:srgbClr val="1464B4"/>
          </a:solidFill>
          <a:ln/>
        </p:spPr>
        <p:txBody>
          <a:bodyPr/>
          <a:lstStyle/>
          <a:p>
            <a:endParaRPr lang="en-US"/>
          </a:p>
        </p:txBody>
      </p:sp>
      <p:sp>
        <p:nvSpPr>
          <p:cNvPr id="11" name="Text 7"/>
          <p:cNvSpPr/>
          <p:nvPr/>
        </p:nvSpPr>
        <p:spPr>
          <a:xfrm>
            <a:off x="755904" y="2270760"/>
            <a:ext cx="5174844" cy="548640"/>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Users interact with very few items, leaving the user–item graph </a:t>
            </a:r>
            <a:r>
              <a:rPr lang="en-US" sz="1300" b="1" dirty="0">
                <a:solidFill>
                  <a:srgbClr val="1A1E2E"/>
                </a:solidFill>
                <a:latin typeface="Segoe UI" pitchFamily="34" charset="0"/>
                <a:ea typeface="Segoe UI" pitchFamily="34" charset="-122"/>
                <a:cs typeface="Segoe UI" pitchFamily="34" charset="-120"/>
              </a:rPr>
              <a:t>extremely sparse</a:t>
            </a:r>
            <a:endParaRPr lang="en-US" sz="1300" dirty="0"/>
          </a:p>
        </p:txBody>
      </p:sp>
      <p:sp>
        <p:nvSpPr>
          <p:cNvPr id="12" name="Shape 8"/>
          <p:cNvSpPr/>
          <p:nvPr/>
        </p:nvSpPr>
        <p:spPr>
          <a:xfrm>
            <a:off x="609600" y="2919984"/>
            <a:ext cx="64008" cy="64008"/>
          </a:xfrm>
          <a:prstGeom prst="ellipse">
            <a:avLst/>
          </a:prstGeom>
          <a:solidFill>
            <a:srgbClr val="1464B4"/>
          </a:solidFill>
          <a:ln/>
        </p:spPr>
        <p:txBody>
          <a:bodyPr/>
          <a:lstStyle/>
          <a:p>
            <a:endParaRPr lang="en-US"/>
          </a:p>
        </p:txBody>
      </p:sp>
      <p:sp>
        <p:nvSpPr>
          <p:cNvPr id="13" name="Text 9"/>
          <p:cNvSpPr/>
          <p:nvPr/>
        </p:nvSpPr>
        <p:spPr>
          <a:xfrm>
            <a:off x="755904" y="2837688"/>
            <a:ext cx="5174844" cy="457200"/>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Short per-user history = near-zero signal for cold &amp; tail items</a:t>
            </a:r>
            <a:endParaRPr lang="en-US" sz="1300" dirty="0"/>
          </a:p>
        </p:txBody>
      </p:sp>
      <p:sp>
        <p:nvSpPr>
          <p:cNvPr id="14" name="Text 10"/>
          <p:cNvSpPr/>
          <p:nvPr/>
        </p:nvSpPr>
        <p:spPr>
          <a:xfrm>
            <a:off x="609600" y="3432048"/>
            <a:ext cx="5321148"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Two coupled bottlenecks</a:t>
            </a:r>
            <a:endParaRPr lang="en-US" sz="1500" dirty="0"/>
          </a:p>
        </p:txBody>
      </p:sp>
      <p:sp>
        <p:nvSpPr>
          <p:cNvPr id="15" name="Shape 11"/>
          <p:cNvSpPr/>
          <p:nvPr/>
        </p:nvSpPr>
        <p:spPr>
          <a:xfrm>
            <a:off x="609600" y="3880104"/>
            <a:ext cx="64008" cy="64008"/>
          </a:xfrm>
          <a:prstGeom prst="ellipse">
            <a:avLst/>
          </a:prstGeom>
          <a:solidFill>
            <a:srgbClr val="C1272D"/>
          </a:solidFill>
          <a:ln/>
        </p:spPr>
        <p:txBody>
          <a:bodyPr/>
          <a:lstStyle/>
          <a:p>
            <a:endParaRPr lang="en-US"/>
          </a:p>
        </p:txBody>
      </p:sp>
      <p:sp>
        <p:nvSpPr>
          <p:cNvPr id="16" name="Text 12"/>
          <p:cNvSpPr/>
          <p:nvPr/>
        </p:nvSpPr>
        <p:spPr>
          <a:xfrm>
            <a:off x="755904" y="3797808"/>
            <a:ext cx="5174844" cy="548640"/>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ID-bound CF</a:t>
            </a:r>
            <a:r>
              <a:rPr lang="en-US" sz="1300" dirty="0">
                <a:solidFill>
                  <a:srgbClr val="1A1E2E"/>
                </a:solidFill>
                <a:latin typeface="Segoe UI" pitchFamily="34" charset="0"/>
                <a:ea typeface="Segoe UI" pitchFamily="34" charset="-122"/>
                <a:cs typeface="Segoe UI" pitchFamily="34" charset="-120"/>
              </a:rPr>
              <a:t> — cold / tail items have no interaction signal to learn from</a:t>
            </a:r>
            <a:endParaRPr lang="en-US" sz="1300" dirty="0"/>
          </a:p>
        </p:txBody>
      </p:sp>
      <p:sp>
        <p:nvSpPr>
          <p:cNvPr id="17" name="Shape 13"/>
          <p:cNvSpPr/>
          <p:nvPr/>
        </p:nvSpPr>
        <p:spPr>
          <a:xfrm>
            <a:off x="609600" y="4447032"/>
            <a:ext cx="64008" cy="64008"/>
          </a:xfrm>
          <a:prstGeom prst="ellipse">
            <a:avLst/>
          </a:prstGeom>
          <a:solidFill>
            <a:srgbClr val="C1272D"/>
          </a:solidFill>
          <a:ln/>
        </p:spPr>
        <p:txBody>
          <a:bodyPr/>
          <a:lstStyle/>
          <a:p>
            <a:endParaRPr lang="en-US"/>
          </a:p>
        </p:txBody>
      </p:sp>
      <p:sp>
        <p:nvSpPr>
          <p:cNvPr id="18" name="Text 14"/>
          <p:cNvSpPr/>
          <p:nvPr/>
        </p:nvSpPr>
        <p:spPr>
          <a:xfrm>
            <a:off x="755904" y="4364736"/>
            <a:ext cx="5174844" cy="548640"/>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Style is visual &amp; textual</a:t>
            </a:r>
            <a:r>
              <a:rPr lang="en-US" sz="1300" dirty="0">
                <a:solidFill>
                  <a:srgbClr val="1A1E2E"/>
                </a:solidFill>
                <a:latin typeface="Segoe UI" pitchFamily="34" charset="0"/>
                <a:ea typeface="Segoe UI" pitchFamily="34" charset="-122"/>
                <a:cs typeface="Segoe UI" pitchFamily="34" charset="-120"/>
              </a:rPr>
              <a:t> — pure interaction IDs ignore aesthetics &amp; descriptions entirely</a:t>
            </a:r>
            <a:endParaRPr lang="en-US" sz="1300" dirty="0"/>
          </a:p>
        </p:txBody>
      </p:sp>
      <p:sp>
        <p:nvSpPr>
          <p:cNvPr id="19" name="Shape 15"/>
          <p:cNvSpPr/>
          <p:nvPr/>
        </p:nvSpPr>
        <p:spPr>
          <a:xfrm>
            <a:off x="6260948" y="1905000"/>
            <a:ext cx="5321148" cy="1417320"/>
          </a:xfrm>
          <a:prstGeom prst="roundRect">
            <a:avLst>
              <a:gd name="adj" fmla="val 3226"/>
            </a:avLst>
          </a:prstGeom>
          <a:solidFill>
            <a:srgbClr val="EEF3FA"/>
          </a:solidFill>
          <a:ln/>
        </p:spPr>
        <p:txBody>
          <a:bodyPr/>
          <a:lstStyle/>
          <a:p>
            <a:endParaRPr lang="en-US"/>
          </a:p>
        </p:txBody>
      </p:sp>
      <p:sp>
        <p:nvSpPr>
          <p:cNvPr id="20" name="Shape 16"/>
          <p:cNvSpPr/>
          <p:nvPr/>
        </p:nvSpPr>
        <p:spPr>
          <a:xfrm>
            <a:off x="6260948" y="1923288"/>
            <a:ext cx="50292" cy="1380744"/>
          </a:xfrm>
          <a:prstGeom prst="rect">
            <a:avLst/>
          </a:prstGeom>
          <a:solidFill>
            <a:srgbClr val="1464B4"/>
          </a:solidFill>
          <a:ln/>
        </p:spPr>
        <p:txBody>
          <a:bodyPr/>
          <a:lstStyle/>
          <a:p>
            <a:endParaRPr lang="en-US"/>
          </a:p>
        </p:txBody>
      </p:sp>
      <p:sp>
        <p:nvSpPr>
          <p:cNvPr id="21" name="Text 17"/>
          <p:cNvSpPr/>
          <p:nvPr/>
        </p:nvSpPr>
        <p:spPr>
          <a:xfrm>
            <a:off x="6462116" y="2051304"/>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OUR ANGLE</a:t>
            </a:r>
            <a:endParaRPr lang="en-US" sz="1200" dirty="0"/>
          </a:p>
        </p:txBody>
      </p:sp>
      <p:sp>
        <p:nvSpPr>
          <p:cNvPr id="22" name="Text 18"/>
          <p:cNvSpPr/>
          <p:nvPr/>
        </p:nvSpPr>
        <p:spPr>
          <a:xfrm>
            <a:off x="6462116" y="2407920"/>
            <a:ext cx="4918812" cy="457200"/>
          </a:xfrm>
          <a:prstGeom prst="rect">
            <a:avLst/>
          </a:prstGeom>
          <a:noFill/>
          <a:ln/>
        </p:spPr>
        <p:txBody>
          <a:bodyPr wrap="square" rtlCol="0" anchor="t"/>
          <a:lstStyle/>
          <a:p>
            <a:pPr marL="0" indent="0" algn="l">
              <a:lnSpc>
                <a:spcPct val="115000"/>
              </a:lnSpc>
              <a:buNone/>
            </a:pPr>
            <a:r>
              <a:rPr lang="en-US" sz="1250" dirty="0">
                <a:solidFill>
                  <a:srgbClr val="1A1E2E"/>
                </a:solidFill>
                <a:latin typeface="Segoe UI" pitchFamily="34" charset="0"/>
                <a:ea typeface="Segoe UI" pitchFamily="34" charset="-122"/>
                <a:cs typeface="Segoe UI" pitchFamily="34" charset="-120"/>
              </a:rPr>
              <a:t>Inject multimodal item content (visual + textual features) into graph collaborative filtering to propagate preference signals along </a:t>
            </a:r>
            <a:r>
              <a:rPr lang="en-US" sz="1250" b="1" dirty="0">
                <a:solidFill>
                  <a:srgbClr val="1A1E2E"/>
                </a:solidFill>
                <a:latin typeface="Segoe UI" pitchFamily="34" charset="0"/>
                <a:ea typeface="Segoe UI" pitchFamily="34" charset="-122"/>
                <a:cs typeface="Segoe UI" pitchFamily="34" charset="-120"/>
              </a:rPr>
              <a:t>visual and semantic similarity edges</a:t>
            </a:r>
            <a:endParaRPr lang="en-US" sz="1250" dirty="0"/>
          </a:p>
        </p:txBody>
      </p:sp>
      <p:sp>
        <p:nvSpPr>
          <p:cNvPr id="23" name="Shape 19"/>
          <p:cNvSpPr/>
          <p:nvPr/>
        </p:nvSpPr>
        <p:spPr>
          <a:xfrm>
            <a:off x="6260948" y="3505200"/>
            <a:ext cx="5321148" cy="1417320"/>
          </a:xfrm>
          <a:prstGeom prst="roundRect">
            <a:avLst>
              <a:gd name="adj" fmla="val 3226"/>
            </a:avLst>
          </a:prstGeom>
          <a:solidFill>
            <a:srgbClr val="FDF3F3"/>
          </a:solidFill>
          <a:ln/>
        </p:spPr>
        <p:txBody>
          <a:bodyPr/>
          <a:lstStyle/>
          <a:p>
            <a:endParaRPr lang="en-US"/>
          </a:p>
        </p:txBody>
      </p:sp>
      <p:sp>
        <p:nvSpPr>
          <p:cNvPr id="24" name="Shape 20"/>
          <p:cNvSpPr/>
          <p:nvPr/>
        </p:nvSpPr>
        <p:spPr>
          <a:xfrm>
            <a:off x="6260948" y="3523488"/>
            <a:ext cx="50292" cy="1380744"/>
          </a:xfrm>
          <a:prstGeom prst="rect">
            <a:avLst/>
          </a:prstGeom>
          <a:solidFill>
            <a:srgbClr val="C1272D"/>
          </a:solidFill>
          <a:ln/>
        </p:spPr>
        <p:txBody>
          <a:bodyPr/>
          <a:lstStyle/>
          <a:p>
            <a:endParaRPr lang="en-US"/>
          </a:p>
        </p:txBody>
      </p:sp>
      <p:sp>
        <p:nvSpPr>
          <p:cNvPr id="25" name="Text 21"/>
          <p:cNvSpPr/>
          <p:nvPr/>
        </p:nvSpPr>
        <p:spPr>
          <a:xfrm>
            <a:off x="6462116" y="3651504"/>
            <a:ext cx="4918812"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KEY CHALLENGE</a:t>
            </a:r>
            <a:endParaRPr lang="en-US" sz="1200" dirty="0"/>
          </a:p>
        </p:txBody>
      </p:sp>
      <p:sp>
        <p:nvSpPr>
          <p:cNvPr id="26" name="Text 22"/>
          <p:cNvSpPr/>
          <p:nvPr/>
        </p:nvSpPr>
        <p:spPr>
          <a:xfrm>
            <a:off x="6462116" y="4008120"/>
            <a:ext cx="4918812" cy="457200"/>
          </a:xfrm>
          <a:prstGeom prst="rect">
            <a:avLst/>
          </a:prstGeom>
          <a:noFill/>
          <a:ln/>
        </p:spPr>
        <p:txBody>
          <a:bodyPr wrap="square" rtlCol="0" anchor="t"/>
          <a:lstStyle/>
          <a:p>
            <a:pPr marL="0" indent="0" algn="l">
              <a:lnSpc>
                <a:spcPct val="115000"/>
              </a:lnSpc>
              <a:buNone/>
            </a:pPr>
            <a:r>
              <a:rPr lang="en-US" sz="1250" dirty="0">
                <a:solidFill>
                  <a:srgbClr val="1A1E2E"/>
                </a:solidFill>
                <a:latin typeface="Segoe UI" pitchFamily="34" charset="0"/>
                <a:ea typeface="Segoe UI" pitchFamily="34" charset="-122"/>
                <a:cs typeface="Segoe UI" pitchFamily="34" charset="-120"/>
              </a:rPr>
              <a:t>Bridging the gap between rich item content and sparse interaction graphs without overfitting a 9,455-interaction log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02 · RESEARCH QUESTIONS &amp; OBJECTIVES</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Four RQs probe encoder, fusion strategy,</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architecture depth, and cross-modal effects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05 / 20</a:t>
            </a:r>
            <a:endParaRPr lang="en-US" sz="1200" dirty="0"/>
          </a:p>
        </p:txBody>
      </p:sp>
      <p:sp>
        <p:nvSpPr>
          <p:cNvPr id="9" name="Text 5"/>
          <p:cNvSpPr/>
          <p:nvPr/>
        </p:nvSpPr>
        <p:spPr>
          <a:xfrm>
            <a:off x="609600"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Objectives</a:t>
            </a:r>
            <a:endParaRPr lang="en-US" sz="1500" dirty="0"/>
          </a:p>
        </p:txBody>
      </p:sp>
      <p:sp>
        <p:nvSpPr>
          <p:cNvPr id="10" name="Shape 6"/>
          <p:cNvSpPr/>
          <p:nvPr/>
        </p:nvSpPr>
        <p:spPr>
          <a:xfrm>
            <a:off x="609600" y="2289048"/>
            <a:ext cx="310896" cy="310896"/>
          </a:xfrm>
          <a:prstGeom prst="ellipse">
            <a:avLst/>
          </a:prstGeom>
          <a:solidFill>
            <a:srgbClr val="1464B4"/>
          </a:solidFill>
          <a:ln/>
        </p:spPr>
        <p:txBody>
          <a:bodyPr/>
          <a:lstStyle/>
          <a:p>
            <a:endParaRPr lang="en-US"/>
          </a:p>
        </p:txBody>
      </p:sp>
      <p:sp>
        <p:nvSpPr>
          <p:cNvPr id="11" name="Text 7"/>
          <p:cNvSpPr/>
          <p:nvPr/>
        </p:nvSpPr>
        <p:spPr>
          <a:xfrm>
            <a:off x="534162" y="2306476"/>
            <a:ext cx="457200"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O1</a:t>
            </a:r>
            <a:endParaRPr lang="en-US" sz="1200" dirty="0"/>
          </a:p>
        </p:txBody>
      </p:sp>
      <p:sp>
        <p:nvSpPr>
          <p:cNvPr id="12" name="Text 8"/>
          <p:cNvSpPr/>
          <p:nvPr/>
        </p:nvSpPr>
        <p:spPr>
          <a:xfrm>
            <a:off x="1066800" y="2270760"/>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Preprocess VCR dataset (5-core, per-user 80/20 temporal split)</a:t>
            </a:r>
            <a:endParaRPr lang="en-US" sz="1250" dirty="0"/>
          </a:p>
        </p:txBody>
      </p:sp>
      <p:sp>
        <p:nvSpPr>
          <p:cNvPr id="13" name="Shape 9"/>
          <p:cNvSpPr/>
          <p:nvPr/>
        </p:nvSpPr>
        <p:spPr>
          <a:xfrm>
            <a:off x="609600" y="2855976"/>
            <a:ext cx="310896" cy="310896"/>
          </a:xfrm>
          <a:prstGeom prst="ellipse">
            <a:avLst/>
          </a:prstGeom>
          <a:solidFill>
            <a:srgbClr val="1464B4"/>
          </a:solidFill>
          <a:ln/>
        </p:spPr>
        <p:txBody>
          <a:bodyPr/>
          <a:lstStyle/>
          <a:p>
            <a:endParaRPr lang="en-US"/>
          </a:p>
        </p:txBody>
      </p:sp>
      <p:sp>
        <p:nvSpPr>
          <p:cNvPr id="14" name="Text 10"/>
          <p:cNvSpPr/>
          <p:nvPr/>
        </p:nvSpPr>
        <p:spPr>
          <a:xfrm>
            <a:off x="506730" y="2855976"/>
            <a:ext cx="512064"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O2</a:t>
            </a:r>
            <a:endParaRPr lang="en-US" sz="1200" dirty="0"/>
          </a:p>
        </p:txBody>
      </p:sp>
      <p:sp>
        <p:nvSpPr>
          <p:cNvPr id="15" name="Text 11"/>
          <p:cNvSpPr/>
          <p:nvPr/>
        </p:nvSpPr>
        <p:spPr>
          <a:xfrm>
            <a:off x="1066800" y="2837688"/>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Extract visual </a:t>
            </a:r>
            <a:r>
              <a:rPr lang="en-US" sz="1250" dirty="0">
                <a:solidFill>
                  <a:srgbClr val="1A7A50"/>
                </a:solidFill>
                <a:latin typeface="Consolas" pitchFamily="34" charset="0"/>
                <a:ea typeface="Consolas" pitchFamily="34" charset="-122"/>
                <a:cs typeface="Consolas" pitchFamily="34" charset="-120"/>
              </a:rPr>
              <a:t>CLIP</a:t>
            </a:r>
            <a:r>
              <a:rPr lang="en-US" sz="1250" dirty="0">
                <a:solidFill>
                  <a:srgbClr val="1A1E2E"/>
                </a:solidFill>
                <a:latin typeface="Segoe UI" pitchFamily="34" charset="0"/>
                <a:ea typeface="Segoe UI" pitchFamily="34" charset="-122"/>
                <a:cs typeface="Segoe UI" pitchFamily="34" charset="-120"/>
              </a:rPr>
              <a:t> </a:t>
            </a:r>
            <a:r>
              <a:rPr lang="en-US" sz="1250" dirty="0">
                <a:solidFill>
                  <a:srgbClr val="1A7A50"/>
                </a:solidFill>
                <a:latin typeface="Consolas" pitchFamily="34" charset="0"/>
                <a:ea typeface="Consolas" pitchFamily="34" charset="-122"/>
                <a:cs typeface="Consolas" pitchFamily="34" charset="-120"/>
              </a:rPr>
              <a:t>MBNv2</a:t>
            </a:r>
            <a:r>
              <a:rPr lang="en-US" sz="1250" dirty="0">
                <a:solidFill>
                  <a:srgbClr val="1A1E2E"/>
                </a:solidFill>
                <a:latin typeface="Segoe UI" pitchFamily="34" charset="0"/>
                <a:ea typeface="Segoe UI" pitchFamily="34" charset="-122"/>
                <a:cs typeface="Segoe UI" pitchFamily="34" charset="-120"/>
              </a:rPr>
              <a:t> &amp; textual </a:t>
            </a:r>
            <a:r>
              <a:rPr lang="en-US" sz="1250" dirty="0">
                <a:solidFill>
                  <a:srgbClr val="1A7A50"/>
                </a:solidFill>
                <a:latin typeface="Consolas" pitchFamily="34" charset="0"/>
                <a:ea typeface="Consolas" pitchFamily="34" charset="-122"/>
                <a:cs typeface="Consolas" pitchFamily="34" charset="-120"/>
              </a:rPr>
              <a:t>BERT</a:t>
            </a:r>
            <a:r>
              <a:rPr lang="en-US" sz="1250" dirty="0">
                <a:solidFill>
                  <a:srgbClr val="1A1E2E"/>
                </a:solidFill>
                <a:latin typeface="Segoe UI" pitchFamily="34" charset="0"/>
                <a:ea typeface="Segoe UI" pitchFamily="34" charset="-122"/>
                <a:cs typeface="Segoe UI" pitchFamily="34" charset="-120"/>
              </a:rPr>
              <a:t> features</a:t>
            </a:r>
            <a:endParaRPr lang="en-US" sz="1250" dirty="0"/>
          </a:p>
        </p:txBody>
      </p:sp>
      <p:sp>
        <p:nvSpPr>
          <p:cNvPr id="16" name="Shape 12"/>
          <p:cNvSpPr/>
          <p:nvPr/>
        </p:nvSpPr>
        <p:spPr>
          <a:xfrm>
            <a:off x="609600" y="3422904"/>
            <a:ext cx="310896" cy="310896"/>
          </a:xfrm>
          <a:prstGeom prst="ellipse">
            <a:avLst/>
          </a:prstGeom>
          <a:solidFill>
            <a:srgbClr val="1464B4"/>
          </a:solidFill>
          <a:ln/>
        </p:spPr>
        <p:txBody>
          <a:bodyPr/>
          <a:lstStyle/>
          <a:p>
            <a:endParaRPr lang="en-US"/>
          </a:p>
        </p:txBody>
      </p:sp>
      <p:sp>
        <p:nvSpPr>
          <p:cNvPr id="17" name="Text 13"/>
          <p:cNvSpPr/>
          <p:nvPr/>
        </p:nvSpPr>
        <p:spPr>
          <a:xfrm>
            <a:off x="506730" y="3431032"/>
            <a:ext cx="512064"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O3</a:t>
            </a:r>
            <a:endParaRPr lang="en-US" sz="1200" dirty="0"/>
          </a:p>
        </p:txBody>
      </p:sp>
      <p:sp>
        <p:nvSpPr>
          <p:cNvPr id="18" name="Text 14"/>
          <p:cNvSpPr/>
          <p:nvPr/>
        </p:nvSpPr>
        <p:spPr>
          <a:xfrm>
            <a:off x="1066800" y="3404616"/>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Adapt 3 multimodal GNNs on a shared LightGCN backbone</a:t>
            </a:r>
            <a:endParaRPr lang="en-US" sz="1250" dirty="0"/>
          </a:p>
        </p:txBody>
      </p:sp>
      <p:sp>
        <p:nvSpPr>
          <p:cNvPr id="19" name="Shape 15"/>
          <p:cNvSpPr/>
          <p:nvPr/>
        </p:nvSpPr>
        <p:spPr>
          <a:xfrm>
            <a:off x="609600" y="3989832"/>
            <a:ext cx="310896" cy="310896"/>
          </a:xfrm>
          <a:prstGeom prst="ellipse">
            <a:avLst/>
          </a:prstGeom>
          <a:solidFill>
            <a:srgbClr val="1464B4"/>
          </a:solidFill>
          <a:ln/>
        </p:spPr>
        <p:txBody>
          <a:bodyPr/>
          <a:lstStyle/>
          <a:p>
            <a:endParaRPr lang="en-US"/>
          </a:p>
        </p:txBody>
      </p:sp>
      <p:sp>
        <p:nvSpPr>
          <p:cNvPr id="20" name="Text 16"/>
          <p:cNvSpPr/>
          <p:nvPr/>
        </p:nvSpPr>
        <p:spPr>
          <a:xfrm>
            <a:off x="534162" y="3989832"/>
            <a:ext cx="512064"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O4</a:t>
            </a:r>
            <a:endParaRPr lang="en-US" sz="1200" dirty="0"/>
          </a:p>
        </p:txBody>
      </p:sp>
      <p:sp>
        <p:nvSpPr>
          <p:cNvPr id="21" name="Text 17"/>
          <p:cNvSpPr/>
          <p:nvPr/>
        </p:nvSpPr>
        <p:spPr>
          <a:xfrm>
            <a:off x="1066800" y="3971544"/>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Benchmark 24 configs across encoders &amp; fusion strategies</a:t>
            </a:r>
            <a:endParaRPr lang="en-US" sz="1250" dirty="0"/>
          </a:p>
        </p:txBody>
      </p:sp>
      <p:sp>
        <p:nvSpPr>
          <p:cNvPr id="22" name="Shape 18"/>
          <p:cNvSpPr/>
          <p:nvPr/>
        </p:nvSpPr>
        <p:spPr>
          <a:xfrm>
            <a:off x="609600" y="4556760"/>
            <a:ext cx="310896" cy="310896"/>
          </a:xfrm>
          <a:prstGeom prst="ellipse">
            <a:avLst/>
          </a:prstGeom>
          <a:solidFill>
            <a:srgbClr val="1464B4"/>
          </a:solidFill>
          <a:ln/>
        </p:spPr>
        <p:txBody>
          <a:bodyPr/>
          <a:lstStyle/>
          <a:p>
            <a:endParaRPr lang="en-US"/>
          </a:p>
        </p:txBody>
      </p:sp>
      <p:sp>
        <p:nvSpPr>
          <p:cNvPr id="23" name="Text 19"/>
          <p:cNvSpPr/>
          <p:nvPr/>
        </p:nvSpPr>
        <p:spPr>
          <a:xfrm>
            <a:off x="506730" y="4556760"/>
            <a:ext cx="512064"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O5</a:t>
            </a:r>
            <a:endParaRPr lang="en-US" sz="1200" dirty="0"/>
          </a:p>
        </p:txBody>
      </p:sp>
      <p:sp>
        <p:nvSpPr>
          <p:cNvPr id="24" name="Text 20"/>
          <p:cNvSpPr/>
          <p:nvPr/>
        </p:nvSpPr>
        <p:spPr>
          <a:xfrm>
            <a:off x="1066800" y="4538472"/>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Analyse ranking quality across K ∈ {1, 5, 10, 20}</a:t>
            </a:r>
            <a:endParaRPr lang="en-US" sz="1250" dirty="0"/>
          </a:p>
        </p:txBody>
      </p:sp>
      <p:sp>
        <p:nvSpPr>
          <p:cNvPr id="25" name="Text 21"/>
          <p:cNvSpPr/>
          <p:nvPr/>
        </p:nvSpPr>
        <p:spPr>
          <a:xfrm>
            <a:off x="6260948"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Four Research Questions</a:t>
            </a:r>
            <a:endParaRPr lang="en-US" sz="1500" dirty="0"/>
          </a:p>
        </p:txBody>
      </p:sp>
      <p:sp>
        <p:nvSpPr>
          <p:cNvPr id="26" name="Shape 22"/>
          <p:cNvSpPr/>
          <p:nvPr/>
        </p:nvSpPr>
        <p:spPr>
          <a:xfrm>
            <a:off x="6260948" y="2289048"/>
            <a:ext cx="5321148" cy="786384"/>
          </a:xfrm>
          <a:prstGeom prst="roundRect">
            <a:avLst>
              <a:gd name="adj" fmla="val 5814"/>
            </a:avLst>
          </a:prstGeom>
          <a:solidFill>
            <a:srgbClr val="EEF3FA"/>
          </a:solidFill>
          <a:ln/>
        </p:spPr>
        <p:txBody>
          <a:bodyPr/>
          <a:lstStyle/>
          <a:p>
            <a:endParaRPr lang="en-US"/>
          </a:p>
        </p:txBody>
      </p:sp>
      <p:sp>
        <p:nvSpPr>
          <p:cNvPr id="27" name="Shape 23"/>
          <p:cNvSpPr/>
          <p:nvPr/>
        </p:nvSpPr>
        <p:spPr>
          <a:xfrm>
            <a:off x="6260948" y="2307336"/>
            <a:ext cx="50292" cy="749808"/>
          </a:xfrm>
          <a:prstGeom prst="rect">
            <a:avLst/>
          </a:prstGeom>
          <a:solidFill>
            <a:srgbClr val="1464B4"/>
          </a:solidFill>
          <a:ln/>
        </p:spPr>
        <p:txBody>
          <a:bodyPr/>
          <a:lstStyle/>
          <a:p>
            <a:endParaRPr lang="en-US"/>
          </a:p>
        </p:txBody>
      </p:sp>
      <p:sp>
        <p:nvSpPr>
          <p:cNvPr id="28" name="Text 24"/>
          <p:cNvSpPr/>
          <p:nvPr/>
        </p:nvSpPr>
        <p:spPr>
          <a:xfrm>
            <a:off x="6462116" y="2380488"/>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RQ1</a:t>
            </a:r>
            <a:endParaRPr lang="en-US" sz="1200" dirty="0"/>
          </a:p>
        </p:txBody>
      </p:sp>
      <p:sp>
        <p:nvSpPr>
          <p:cNvPr id="29" name="Text 25"/>
          <p:cNvSpPr/>
          <p:nvPr/>
        </p:nvSpPr>
        <p:spPr>
          <a:xfrm>
            <a:off x="6462116" y="2636520"/>
            <a:ext cx="4918812" cy="457200"/>
          </a:xfrm>
          <a:prstGeom prst="rect">
            <a:avLst/>
          </a:prstGeom>
          <a:noFill/>
          <a:ln/>
        </p:spPr>
        <p:txBody>
          <a:bodyPr wrap="square" rtlCol="0" anchor="t"/>
          <a:lstStyle/>
          <a:p>
            <a:pPr marL="0" indent="0" algn="l">
              <a:lnSpc>
                <a:spcPct val="108000"/>
              </a:lnSpc>
              <a:buNone/>
            </a:pPr>
            <a:r>
              <a:rPr lang="en-US" sz="1200" dirty="0">
                <a:solidFill>
                  <a:srgbClr val="1A1E2E"/>
                </a:solidFill>
                <a:latin typeface="Segoe UI" pitchFamily="34" charset="0"/>
                <a:ea typeface="Segoe UI" pitchFamily="34" charset="-122"/>
                <a:cs typeface="Segoe UI" pitchFamily="34" charset="-120"/>
              </a:rPr>
              <a:t>Which visual encoder — CLIP or MobileNetV2 — suits fashion recommendation better?</a:t>
            </a:r>
            <a:endParaRPr lang="en-US" sz="1200" dirty="0"/>
          </a:p>
        </p:txBody>
      </p:sp>
      <p:sp>
        <p:nvSpPr>
          <p:cNvPr id="30" name="Shape 26"/>
          <p:cNvSpPr/>
          <p:nvPr/>
        </p:nvSpPr>
        <p:spPr>
          <a:xfrm>
            <a:off x="6260948" y="3166872"/>
            <a:ext cx="5321148" cy="786384"/>
          </a:xfrm>
          <a:prstGeom prst="roundRect">
            <a:avLst>
              <a:gd name="adj" fmla="val 5814"/>
            </a:avLst>
          </a:prstGeom>
          <a:solidFill>
            <a:srgbClr val="EEF3FA"/>
          </a:solidFill>
          <a:ln/>
        </p:spPr>
        <p:txBody>
          <a:bodyPr/>
          <a:lstStyle/>
          <a:p>
            <a:endParaRPr lang="en-US"/>
          </a:p>
        </p:txBody>
      </p:sp>
      <p:sp>
        <p:nvSpPr>
          <p:cNvPr id="31" name="Shape 27"/>
          <p:cNvSpPr/>
          <p:nvPr/>
        </p:nvSpPr>
        <p:spPr>
          <a:xfrm>
            <a:off x="6260948" y="3185160"/>
            <a:ext cx="50292" cy="749808"/>
          </a:xfrm>
          <a:prstGeom prst="rect">
            <a:avLst/>
          </a:prstGeom>
          <a:solidFill>
            <a:srgbClr val="1464B4"/>
          </a:solidFill>
          <a:ln/>
        </p:spPr>
        <p:txBody>
          <a:bodyPr/>
          <a:lstStyle/>
          <a:p>
            <a:endParaRPr lang="en-US"/>
          </a:p>
        </p:txBody>
      </p:sp>
      <p:sp>
        <p:nvSpPr>
          <p:cNvPr id="32" name="Text 28"/>
          <p:cNvSpPr/>
          <p:nvPr/>
        </p:nvSpPr>
        <p:spPr>
          <a:xfrm>
            <a:off x="6462116" y="3258312"/>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RQ2</a:t>
            </a:r>
            <a:endParaRPr lang="en-US" sz="1200" dirty="0"/>
          </a:p>
        </p:txBody>
      </p:sp>
      <p:sp>
        <p:nvSpPr>
          <p:cNvPr id="33" name="Text 29"/>
          <p:cNvSpPr/>
          <p:nvPr/>
        </p:nvSpPr>
        <p:spPr>
          <a:xfrm>
            <a:off x="6462116" y="3514344"/>
            <a:ext cx="4918812" cy="457200"/>
          </a:xfrm>
          <a:prstGeom prst="rect">
            <a:avLst/>
          </a:prstGeom>
          <a:noFill/>
          <a:ln/>
        </p:spPr>
        <p:txBody>
          <a:bodyPr wrap="square" rtlCol="0" anchor="t"/>
          <a:lstStyle/>
          <a:p>
            <a:pPr marL="0" indent="0" algn="l">
              <a:lnSpc>
                <a:spcPct val="108000"/>
              </a:lnSpc>
              <a:buNone/>
            </a:pPr>
            <a:r>
              <a:rPr lang="en-US" sz="1200" dirty="0">
                <a:solidFill>
                  <a:srgbClr val="1A1E2E"/>
                </a:solidFill>
                <a:latin typeface="Segoe UI" pitchFamily="34" charset="0"/>
                <a:ea typeface="Segoe UI" pitchFamily="34" charset="-122"/>
                <a:cs typeface="Segoe UI" pitchFamily="34" charset="-120"/>
              </a:rPr>
              <a:t>Which multimodal fusion strategy (late, attention, weighted) maximises ranking quality on sparse logs?</a:t>
            </a:r>
            <a:endParaRPr lang="en-US" sz="1200" dirty="0"/>
          </a:p>
        </p:txBody>
      </p:sp>
      <p:sp>
        <p:nvSpPr>
          <p:cNvPr id="34" name="Shape 30"/>
          <p:cNvSpPr/>
          <p:nvPr/>
        </p:nvSpPr>
        <p:spPr>
          <a:xfrm>
            <a:off x="6260948" y="4044696"/>
            <a:ext cx="5321148" cy="786384"/>
          </a:xfrm>
          <a:prstGeom prst="roundRect">
            <a:avLst>
              <a:gd name="adj" fmla="val 5814"/>
            </a:avLst>
          </a:prstGeom>
          <a:solidFill>
            <a:srgbClr val="EEF3FA"/>
          </a:solidFill>
          <a:ln/>
        </p:spPr>
        <p:txBody>
          <a:bodyPr/>
          <a:lstStyle/>
          <a:p>
            <a:endParaRPr lang="en-US"/>
          </a:p>
        </p:txBody>
      </p:sp>
      <p:sp>
        <p:nvSpPr>
          <p:cNvPr id="35" name="Shape 31"/>
          <p:cNvSpPr/>
          <p:nvPr/>
        </p:nvSpPr>
        <p:spPr>
          <a:xfrm>
            <a:off x="6260948" y="4062984"/>
            <a:ext cx="50292" cy="749808"/>
          </a:xfrm>
          <a:prstGeom prst="rect">
            <a:avLst/>
          </a:prstGeom>
          <a:solidFill>
            <a:srgbClr val="1464B4"/>
          </a:solidFill>
          <a:ln/>
        </p:spPr>
        <p:txBody>
          <a:bodyPr/>
          <a:lstStyle/>
          <a:p>
            <a:endParaRPr lang="en-US"/>
          </a:p>
        </p:txBody>
      </p:sp>
      <p:sp>
        <p:nvSpPr>
          <p:cNvPr id="36" name="Text 32"/>
          <p:cNvSpPr/>
          <p:nvPr/>
        </p:nvSpPr>
        <p:spPr>
          <a:xfrm>
            <a:off x="6462116" y="4136136"/>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RQ3</a:t>
            </a:r>
            <a:endParaRPr lang="en-US" sz="1200" dirty="0"/>
          </a:p>
        </p:txBody>
      </p:sp>
      <p:sp>
        <p:nvSpPr>
          <p:cNvPr id="37" name="Text 33"/>
          <p:cNvSpPr/>
          <p:nvPr/>
        </p:nvSpPr>
        <p:spPr>
          <a:xfrm>
            <a:off x="6462116" y="4392168"/>
            <a:ext cx="4918812" cy="457200"/>
          </a:xfrm>
          <a:prstGeom prst="rect">
            <a:avLst/>
          </a:prstGeom>
          <a:noFill/>
          <a:ln/>
        </p:spPr>
        <p:txBody>
          <a:bodyPr wrap="square" rtlCol="0" anchor="t"/>
          <a:lstStyle/>
          <a:p>
            <a:pPr marL="0" indent="0" algn="l">
              <a:lnSpc>
                <a:spcPct val="108000"/>
              </a:lnSpc>
              <a:buNone/>
            </a:pPr>
            <a:r>
              <a:rPr lang="en-US" sz="1200" dirty="0">
                <a:solidFill>
                  <a:srgbClr val="1A1E2E"/>
                </a:solidFill>
                <a:latin typeface="Segoe UI" pitchFamily="34" charset="0"/>
                <a:ea typeface="Segoe UI" pitchFamily="34" charset="-122"/>
                <a:cs typeface="Segoe UI" pitchFamily="34" charset="-120"/>
              </a:rPr>
              <a:t>Which GNN architecture (CombiGCN, BM3, FREEDOM) performs best on the VCR dataset?</a:t>
            </a:r>
            <a:endParaRPr lang="en-US" sz="1200" dirty="0"/>
          </a:p>
        </p:txBody>
      </p:sp>
      <p:sp>
        <p:nvSpPr>
          <p:cNvPr id="38" name="Shape 34"/>
          <p:cNvSpPr/>
          <p:nvPr/>
        </p:nvSpPr>
        <p:spPr>
          <a:xfrm>
            <a:off x="6260948" y="4922520"/>
            <a:ext cx="5321148" cy="786384"/>
          </a:xfrm>
          <a:prstGeom prst="roundRect">
            <a:avLst>
              <a:gd name="adj" fmla="val 5814"/>
            </a:avLst>
          </a:prstGeom>
          <a:solidFill>
            <a:srgbClr val="EEF3FA"/>
          </a:solidFill>
          <a:ln/>
        </p:spPr>
        <p:txBody>
          <a:bodyPr/>
          <a:lstStyle/>
          <a:p>
            <a:endParaRPr lang="en-US"/>
          </a:p>
        </p:txBody>
      </p:sp>
      <p:sp>
        <p:nvSpPr>
          <p:cNvPr id="39" name="Shape 35"/>
          <p:cNvSpPr/>
          <p:nvPr/>
        </p:nvSpPr>
        <p:spPr>
          <a:xfrm>
            <a:off x="6260948" y="4940808"/>
            <a:ext cx="50292" cy="749808"/>
          </a:xfrm>
          <a:prstGeom prst="rect">
            <a:avLst/>
          </a:prstGeom>
          <a:solidFill>
            <a:srgbClr val="1464B4"/>
          </a:solidFill>
          <a:ln/>
        </p:spPr>
        <p:txBody>
          <a:bodyPr/>
          <a:lstStyle/>
          <a:p>
            <a:endParaRPr lang="en-US"/>
          </a:p>
        </p:txBody>
      </p:sp>
      <p:sp>
        <p:nvSpPr>
          <p:cNvPr id="40" name="Text 36"/>
          <p:cNvSpPr/>
          <p:nvPr/>
        </p:nvSpPr>
        <p:spPr>
          <a:xfrm>
            <a:off x="6462116" y="5013960"/>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RQ4</a:t>
            </a:r>
            <a:endParaRPr lang="en-US" sz="1200" dirty="0"/>
          </a:p>
        </p:txBody>
      </p:sp>
      <p:sp>
        <p:nvSpPr>
          <p:cNvPr id="41" name="Text 37"/>
          <p:cNvSpPr/>
          <p:nvPr/>
        </p:nvSpPr>
        <p:spPr>
          <a:xfrm>
            <a:off x="6462116" y="5269992"/>
            <a:ext cx="4918812" cy="457200"/>
          </a:xfrm>
          <a:prstGeom prst="rect">
            <a:avLst/>
          </a:prstGeom>
          <a:noFill/>
          <a:ln/>
        </p:spPr>
        <p:txBody>
          <a:bodyPr wrap="square" rtlCol="0" anchor="t"/>
          <a:lstStyle/>
          <a:p>
            <a:pPr marL="0" indent="0" algn="l">
              <a:lnSpc>
                <a:spcPct val="108000"/>
              </a:lnSpc>
              <a:buNone/>
            </a:pPr>
            <a:r>
              <a:rPr lang="en-US" sz="1200" dirty="0">
                <a:solidFill>
                  <a:srgbClr val="1A1E2E"/>
                </a:solidFill>
                <a:latin typeface="Segoe UI" pitchFamily="34" charset="0"/>
                <a:ea typeface="Segoe UI" pitchFamily="34" charset="-122"/>
                <a:cs typeface="Segoe UI" pitchFamily="34" charset="-120"/>
              </a:rPr>
              <a:t>Do single-modality features outperform cross-modal fusion?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03 · DATASET · VIBRENT CLOTHES RENTAL (VCR)</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99.22% sparsity makes VCR an ideal</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cold-start stress test for recommender systems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06 / 20</a:t>
            </a:r>
            <a:endParaRPr lang="en-US" sz="1200" dirty="0"/>
          </a:p>
        </p:txBody>
      </p:sp>
      <p:sp>
        <p:nvSpPr>
          <p:cNvPr id="9" name="Shape 5"/>
          <p:cNvSpPr/>
          <p:nvPr/>
        </p:nvSpPr>
        <p:spPr>
          <a:xfrm>
            <a:off x="609600" y="1905000"/>
            <a:ext cx="4608448" cy="4127500"/>
          </a:xfrm>
          <a:prstGeom prst="roundRect">
            <a:avLst>
              <a:gd name="adj" fmla="val 1108"/>
            </a:avLst>
          </a:prstGeom>
          <a:solidFill>
            <a:srgbClr val="F5F7FB"/>
          </a:solidFill>
          <a:ln/>
        </p:spPr>
        <p:txBody>
          <a:bodyPr/>
          <a:lstStyle/>
          <a:p>
            <a:endParaRPr lang="en-US"/>
          </a:p>
        </p:txBody>
      </p:sp>
      <p:pic>
        <p:nvPicPr>
          <p:cNvPr id="10" name="Image 1" descr="E:\DoCode\CD2\01_Report_CD2_FashionRecommendation\4_docs\02_Present\present_v2\uploads\data_pipeline.3.1.png"/>
          <p:cNvPicPr>
            <a:picLocks noChangeAspect="1"/>
          </p:cNvPicPr>
          <p:nvPr/>
        </p:nvPicPr>
        <p:blipFill>
          <a:blip r:embed="rId4"/>
          <a:srcRect/>
          <a:stretch/>
        </p:blipFill>
        <p:spPr>
          <a:xfrm>
            <a:off x="737616" y="2033016"/>
            <a:ext cx="4352416" cy="3871468"/>
          </a:xfrm>
          <a:prstGeom prst="rect">
            <a:avLst/>
          </a:prstGeom>
        </p:spPr>
      </p:pic>
      <p:sp>
        <p:nvSpPr>
          <p:cNvPr id="11" name="Shape 6"/>
          <p:cNvSpPr/>
          <p:nvPr/>
        </p:nvSpPr>
        <p:spPr>
          <a:xfrm>
            <a:off x="5548248" y="1905000"/>
            <a:ext cx="2962060" cy="749808"/>
          </a:xfrm>
          <a:prstGeom prst="roundRect">
            <a:avLst>
              <a:gd name="adj" fmla="val 6098"/>
            </a:avLst>
          </a:prstGeom>
          <a:solidFill>
            <a:srgbClr val="EEF3FA"/>
          </a:solidFill>
          <a:ln/>
        </p:spPr>
        <p:txBody>
          <a:bodyPr/>
          <a:lstStyle/>
          <a:p>
            <a:endParaRPr lang="en-US"/>
          </a:p>
        </p:txBody>
      </p:sp>
      <p:sp>
        <p:nvSpPr>
          <p:cNvPr id="12" name="Shape 7"/>
          <p:cNvSpPr/>
          <p:nvPr/>
        </p:nvSpPr>
        <p:spPr>
          <a:xfrm>
            <a:off x="5548248" y="1923288"/>
            <a:ext cx="50292" cy="713232"/>
          </a:xfrm>
          <a:prstGeom prst="rect">
            <a:avLst/>
          </a:prstGeom>
          <a:solidFill>
            <a:srgbClr val="1464B4"/>
          </a:solidFill>
          <a:ln/>
        </p:spPr>
        <p:txBody>
          <a:bodyPr/>
          <a:lstStyle/>
          <a:p>
            <a:endParaRPr lang="en-US"/>
          </a:p>
        </p:txBody>
      </p:sp>
      <p:sp>
        <p:nvSpPr>
          <p:cNvPr id="13" name="Text 8"/>
          <p:cNvSpPr/>
          <p:nvPr/>
        </p:nvSpPr>
        <p:spPr>
          <a:xfrm>
            <a:off x="5731128" y="1978152"/>
            <a:ext cx="2687740" cy="457200"/>
          </a:xfrm>
          <a:prstGeom prst="rect">
            <a:avLst/>
          </a:prstGeom>
          <a:noFill/>
          <a:ln/>
        </p:spPr>
        <p:txBody>
          <a:bodyPr wrap="square" rtlCol="0" anchor="ctr"/>
          <a:lstStyle/>
          <a:p>
            <a:pPr marL="0" indent="0">
              <a:buNone/>
            </a:pPr>
            <a:r>
              <a:rPr lang="en-US" sz="3000" b="1" dirty="0">
                <a:solidFill>
                  <a:srgbClr val="0D1B3E"/>
                </a:solidFill>
                <a:latin typeface="Georgia" pitchFamily="34" charset="0"/>
                <a:ea typeface="Georgia" pitchFamily="34" charset="-122"/>
                <a:cs typeface="Georgia" pitchFamily="34" charset="-120"/>
              </a:rPr>
              <a:t>553</a:t>
            </a:r>
            <a:endParaRPr lang="en-US" sz="3000" dirty="0"/>
          </a:p>
        </p:txBody>
      </p:sp>
      <p:sp>
        <p:nvSpPr>
          <p:cNvPr id="14" name="Text 9"/>
          <p:cNvSpPr/>
          <p:nvPr/>
        </p:nvSpPr>
        <p:spPr>
          <a:xfrm>
            <a:off x="5731128" y="2398776"/>
            <a:ext cx="2687740" cy="219456"/>
          </a:xfrm>
          <a:prstGeom prst="rect">
            <a:avLst/>
          </a:prstGeom>
          <a:noFill/>
          <a:ln/>
        </p:spPr>
        <p:txBody>
          <a:bodyPr wrap="square" rtlCol="0" anchor="ctr"/>
          <a:lstStyle/>
          <a:p>
            <a:pPr marL="0" indent="0">
              <a:buNone/>
            </a:pPr>
            <a:r>
              <a:rPr lang="en-US" sz="1100" dirty="0">
                <a:solidFill>
                  <a:srgbClr val="8899BB"/>
                </a:solidFill>
                <a:latin typeface="Segoe UI" pitchFamily="34" charset="0"/>
                <a:ea typeface="Segoe UI" pitchFamily="34" charset="-122"/>
                <a:cs typeface="Segoe UI" pitchFamily="34" charset="-120"/>
              </a:rPr>
              <a:t>Users</a:t>
            </a:r>
            <a:endParaRPr lang="en-US" sz="1100" dirty="0"/>
          </a:p>
        </p:txBody>
      </p:sp>
      <p:sp>
        <p:nvSpPr>
          <p:cNvPr id="15" name="Shape 10"/>
          <p:cNvSpPr/>
          <p:nvPr/>
        </p:nvSpPr>
        <p:spPr>
          <a:xfrm>
            <a:off x="8620036" y="1905000"/>
            <a:ext cx="2962060" cy="749808"/>
          </a:xfrm>
          <a:prstGeom prst="roundRect">
            <a:avLst>
              <a:gd name="adj" fmla="val 6098"/>
            </a:avLst>
          </a:prstGeom>
          <a:solidFill>
            <a:srgbClr val="EEF3FA"/>
          </a:solidFill>
          <a:ln/>
        </p:spPr>
        <p:txBody>
          <a:bodyPr/>
          <a:lstStyle/>
          <a:p>
            <a:endParaRPr lang="en-US"/>
          </a:p>
        </p:txBody>
      </p:sp>
      <p:sp>
        <p:nvSpPr>
          <p:cNvPr id="16" name="Shape 11"/>
          <p:cNvSpPr/>
          <p:nvPr/>
        </p:nvSpPr>
        <p:spPr>
          <a:xfrm>
            <a:off x="8620036" y="1923288"/>
            <a:ext cx="50292" cy="713232"/>
          </a:xfrm>
          <a:prstGeom prst="rect">
            <a:avLst/>
          </a:prstGeom>
          <a:solidFill>
            <a:srgbClr val="1464B4"/>
          </a:solidFill>
          <a:ln/>
        </p:spPr>
        <p:txBody>
          <a:bodyPr/>
          <a:lstStyle/>
          <a:p>
            <a:endParaRPr lang="en-US"/>
          </a:p>
        </p:txBody>
      </p:sp>
      <p:sp>
        <p:nvSpPr>
          <p:cNvPr id="17" name="Text 12"/>
          <p:cNvSpPr/>
          <p:nvPr/>
        </p:nvSpPr>
        <p:spPr>
          <a:xfrm>
            <a:off x="8802916" y="1978152"/>
            <a:ext cx="2687740" cy="457200"/>
          </a:xfrm>
          <a:prstGeom prst="rect">
            <a:avLst/>
          </a:prstGeom>
          <a:noFill/>
          <a:ln/>
        </p:spPr>
        <p:txBody>
          <a:bodyPr wrap="square" rtlCol="0" anchor="ctr"/>
          <a:lstStyle/>
          <a:p>
            <a:pPr marL="0" indent="0">
              <a:buNone/>
            </a:pPr>
            <a:r>
              <a:rPr lang="en-US" sz="3000" b="1" dirty="0">
                <a:solidFill>
                  <a:srgbClr val="0D1B3E"/>
                </a:solidFill>
                <a:latin typeface="Georgia" pitchFamily="34" charset="0"/>
                <a:ea typeface="Georgia" pitchFamily="34" charset="-122"/>
                <a:cs typeface="Georgia" pitchFamily="34" charset="-120"/>
              </a:rPr>
              <a:t>2,194</a:t>
            </a:r>
            <a:endParaRPr lang="en-US" sz="3000" dirty="0"/>
          </a:p>
        </p:txBody>
      </p:sp>
      <p:sp>
        <p:nvSpPr>
          <p:cNvPr id="18" name="Text 13"/>
          <p:cNvSpPr/>
          <p:nvPr/>
        </p:nvSpPr>
        <p:spPr>
          <a:xfrm>
            <a:off x="8802916" y="2398776"/>
            <a:ext cx="2687740" cy="219456"/>
          </a:xfrm>
          <a:prstGeom prst="rect">
            <a:avLst/>
          </a:prstGeom>
          <a:noFill/>
          <a:ln/>
        </p:spPr>
        <p:txBody>
          <a:bodyPr wrap="square" rtlCol="0" anchor="ctr"/>
          <a:lstStyle/>
          <a:p>
            <a:pPr marL="0" indent="0">
              <a:buNone/>
            </a:pPr>
            <a:r>
              <a:rPr lang="en-US" sz="1100" dirty="0">
                <a:solidFill>
                  <a:srgbClr val="8899BB"/>
                </a:solidFill>
                <a:latin typeface="Segoe UI" pitchFamily="34" charset="0"/>
                <a:ea typeface="Segoe UI" pitchFamily="34" charset="-122"/>
                <a:cs typeface="Segoe UI" pitchFamily="34" charset="-120"/>
              </a:rPr>
              <a:t>Items</a:t>
            </a:r>
            <a:endParaRPr lang="en-US" sz="1100" dirty="0"/>
          </a:p>
        </p:txBody>
      </p:sp>
      <p:sp>
        <p:nvSpPr>
          <p:cNvPr id="19" name="Shape 14"/>
          <p:cNvSpPr/>
          <p:nvPr/>
        </p:nvSpPr>
        <p:spPr>
          <a:xfrm>
            <a:off x="5548248" y="2764536"/>
            <a:ext cx="2962060" cy="749808"/>
          </a:xfrm>
          <a:prstGeom prst="roundRect">
            <a:avLst>
              <a:gd name="adj" fmla="val 6098"/>
            </a:avLst>
          </a:prstGeom>
          <a:solidFill>
            <a:srgbClr val="EEF3FA"/>
          </a:solidFill>
          <a:ln/>
        </p:spPr>
        <p:txBody>
          <a:bodyPr/>
          <a:lstStyle/>
          <a:p>
            <a:endParaRPr lang="en-US"/>
          </a:p>
        </p:txBody>
      </p:sp>
      <p:sp>
        <p:nvSpPr>
          <p:cNvPr id="20" name="Shape 15"/>
          <p:cNvSpPr/>
          <p:nvPr/>
        </p:nvSpPr>
        <p:spPr>
          <a:xfrm>
            <a:off x="5548248" y="2782824"/>
            <a:ext cx="50292" cy="713232"/>
          </a:xfrm>
          <a:prstGeom prst="rect">
            <a:avLst/>
          </a:prstGeom>
          <a:solidFill>
            <a:srgbClr val="1464B4"/>
          </a:solidFill>
          <a:ln/>
        </p:spPr>
        <p:txBody>
          <a:bodyPr/>
          <a:lstStyle/>
          <a:p>
            <a:endParaRPr lang="en-US"/>
          </a:p>
        </p:txBody>
      </p:sp>
      <p:sp>
        <p:nvSpPr>
          <p:cNvPr id="21" name="Text 16"/>
          <p:cNvSpPr/>
          <p:nvPr/>
        </p:nvSpPr>
        <p:spPr>
          <a:xfrm>
            <a:off x="5731128" y="2837688"/>
            <a:ext cx="2687740" cy="457200"/>
          </a:xfrm>
          <a:prstGeom prst="rect">
            <a:avLst/>
          </a:prstGeom>
          <a:noFill/>
          <a:ln/>
        </p:spPr>
        <p:txBody>
          <a:bodyPr wrap="square" rtlCol="0" anchor="ctr"/>
          <a:lstStyle/>
          <a:p>
            <a:pPr marL="0" indent="0">
              <a:buNone/>
            </a:pPr>
            <a:r>
              <a:rPr lang="en-US" sz="3000" b="1" dirty="0">
                <a:solidFill>
                  <a:srgbClr val="0D1B3E"/>
                </a:solidFill>
                <a:latin typeface="Georgia" pitchFamily="34" charset="0"/>
                <a:ea typeface="Georgia" pitchFamily="34" charset="-122"/>
                <a:cs typeface="Georgia" pitchFamily="34" charset="-120"/>
              </a:rPr>
              <a:t>9,455</a:t>
            </a:r>
            <a:endParaRPr lang="en-US" sz="3000" dirty="0"/>
          </a:p>
        </p:txBody>
      </p:sp>
      <p:sp>
        <p:nvSpPr>
          <p:cNvPr id="22" name="Text 17"/>
          <p:cNvSpPr/>
          <p:nvPr/>
        </p:nvSpPr>
        <p:spPr>
          <a:xfrm>
            <a:off x="5731128" y="3258312"/>
            <a:ext cx="2687740" cy="219456"/>
          </a:xfrm>
          <a:prstGeom prst="rect">
            <a:avLst/>
          </a:prstGeom>
          <a:noFill/>
          <a:ln/>
        </p:spPr>
        <p:txBody>
          <a:bodyPr wrap="square" rtlCol="0" anchor="ctr"/>
          <a:lstStyle/>
          <a:p>
            <a:pPr marL="0" indent="0">
              <a:buNone/>
            </a:pPr>
            <a:r>
              <a:rPr lang="en-US" sz="1100" dirty="0">
                <a:solidFill>
                  <a:srgbClr val="8899BB"/>
                </a:solidFill>
                <a:latin typeface="Segoe UI" pitchFamily="34" charset="0"/>
                <a:ea typeface="Segoe UI" pitchFamily="34" charset="-122"/>
                <a:cs typeface="Segoe UI" pitchFamily="34" charset="-120"/>
              </a:rPr>
              <a:t>Interactions</a:t>
            </a:r>
            <a:endParaRPr lang="en-US" sz="1100" dirty="0"/>
          </a:p>
        </p:txBody>
      </p:sp>
      <p:sp>
        <p:nvSpPr>
          <p:cNvPr id="23" name="Shape 18"/>
          <p:cNvSpPr/>
          <p:nvPr/>
        </p:nvSpPr>
        <p:spPr>
          <a:xfrm>
            <a:off x="8620036" y="2764536"/>
            <a:ext cx="2962060" cy="749808"/>
          </a:xfrm>
          <a:prstGeom prst="roundRect">
            <a:avLst>
              <a:gd name="adj" fmla="val 6098"/>
            </a:avLst>
          </a:prstGeom>
          <a:solidFill>
            <a:srgbClr val="FDF3F3"/>
          </a:solidFill>
          <a:ln/>
        </p:spPr>
        <p:txBody>
          <a:bodyPr/>
          <a:lstStyle/>
          <a:p>
            <a:endParaRPr lang="en-US"/>
          </a:p>
        </p:txBody>
      </p:sp>
      <p:sp>
        <p:nvSpPr>
          <p:cNvPr id="24" name="Shape 19"/>
          <p:cNvSpPr/>
          <p:nvPr/>
        </p:nvSpPr>
        <p:spPr>
          <a:xfrm>
            <a:off x="8620036" y="2782824"/>
            <a:ext cx="50292" cy="713232"/>
          </a:xfrm>
          <a:prstGeom prst="rect">
            <a:avLst/>
          </a:prstGeom>
          <a:solidFill>
            <a:srgbClr val="C1272D"/>
          </a:solidFill>
          <a:ln/>
        </p:spPr>
        <p:txBody>
          <a:bodyPr/>
          <a:lstStyle/>
          <a:p>
            <a:endParaRPr lang="en-US"/>
          </a:p>
        </p:txBody>
      </p:sp>
      <p:sp>
        <p:nvSpPr>
          <p:cNvPr id="25" name="Text 20"/>
          <p:cNvSpPr/>
          <p:nvPr/>
        </p:nvSpPr>
        <p:spPr>
          <a:xfrm>
            <a:off x="8802916" y="2837688"/>
            <a:ext cx="2687740" cy="457200"/>
          </a:xfrm>
          <a:prstGeom prst="rect">
            <a:avLst/>
          </a:prstGeom>
          <a:noFill/>
          <a:ln/>
        </p:spPr>
        <p:txBody>
          <a:bodyPr wrap="square" rtlCol="0" anchor="ctr"/>
          <a:lstStyle/>
          <a:p>
            <a:pPr marL="0" indent="0">
              <a:buNone/>
            </a:pPr>
            <a:r>
              <a:rPr lang="en-US" sz="3000" b="1" dirty="0">
                <a:solidFill>
                  <a:srgbClr val="C1272D"/>
                </a:solidFill>
                <a:latin typeface="Georgia" pitchFamily="34" charset="0"/>
                <a:ea typeface="Georgia" pitchFamily="34" charset="-122"/>
                <a:cs typeface="Georgia" pitchFamily="34" charset="-120"/>
              </a:rPr>
              <a:t>99.22%</a:t>
            </a:r>
            <a:endParaRPr lang="en-US" sz="3000" dirty="0"/>
          </a:p>
        </p:txBody>
      </p:sp>
      <p:sp>
        <p:nvSpPr>
          <p:cNvPr id="26" name="Text 21"/>
          <p:cNvSpPr/>
          <p:nvPr/>
        </p:nvSpPr>
        <p:spPr>
          <a:xfrm>
            <a:off x="8802916" y="3258312"/>
            <a:ext cx="2687740" cy="219456"/>
          </a:xfrm>
          <a:prstGeom prst="rect">
            <a:avLst/>
          </a:prstGeom>
          <a:noFill/>
          <a:ln/>
        </p:spPr>
        <p:txBody>
          <a:bodyPr wrap="square" rtlCol="0" anchor="ctr"/>
          <a:lstStyle/>
          <a:p>
            <a:pPr marL="0" indent="0">
              <a:buNone/>
            </a:pPr>
            <a:r>
              <a:rPr lang="en-US" sz="1100" dirty="0">
                <a:solidFill>
                  <a:srgbClr val="8899BB"/>
                </a:solidFill>
                <a:latin typeface="Segoe UI" pitchFamily="34" charset="0"/>
                <a:ea typeface="Segoe UI" pitchFamily="34" charset="-122"/>
                <a:cs typeface="Segoe UI" pitchFamily="34" charset="-120"/>
              </a:rPr>
              <a:t>Sparsity</a:t>
            </a:r>
            <a:endParaRPr lang="en-US" sz="1100" dirty="0"/>
          </a:p>
        </p:txBody>
      </p:sp>
      <p:sp>
        <p:nvSpPr>
          <p:cNvPr id="27" name="Shape 22"/>
          <p:cNvSpPr/>
          <p:nvPr/>
        </p:nvSpPr>
        <p:spPr>
          <a:xfrm>
            <a:off x="5548248" y="3624072"/>
            <a:ext cx="6033847" cy="749808"/>
          </a:xfrm>
          <a:prstGeom prst="roundRect">
            <a:avLst>
              <a:gd name="adj" fmla="val 6098"/>
            </a:avLst>
          </a:prstGeom>
          <a:solidFill>
            <a:srgbClr val="EEF3FA"/>
          </a:solidFill>
          <a:ln/>
        </p:spPr>
        <p:txBody>
          <a:bodyPr/>
          <a:lstStyle/>
          <a:p>
            <a:endParaRPr lang="en-US"/>
          </a:p>
        </p:txBody>
      </p:sp>
      <p:sp>
        <p:nvSpPr>
          <p:cNvPr id="28" name="Shape 23"/>
          <p:cNvSpPr/>
          <p:nvPr/>
        </p:nvSpPr>
        <p:spPr>
          <a:xfrm>
            <a:off x="5548248" y="3642360"/>
            <a:ext cx="50292" cy="713232"/>
          </a:xfrm>
          <a:prstGeom prst="rect">
            <a:avLst/>
          </a:prstGeom>
          <a:solidFill>
            <a:srgbClr val="1464B4"/>
          </a:solidFill>
          <a:ln/>
        </p:spPr>
        <p:txBody>
          <a:bodyPr/>
          <a:lstStyle/>
          <a:p>
            <a:endParaRPr lang="en-US"/>
          </a:p>
        </p:txBody>
      </p:sp>
      <p:sp>
        <p:nvSpPr>
          <p:cNvPr id="29" name="Text 24"/>
          <p:cNvSpPr/>
          <p:nvPr/>
        </p:nvSpPr>
        <p:spPr>
          <a:xfrm>
            <a:off x="5731128" y="3733800"/>
            <a:ext cx="5668087" cy="320040"/>
          </a:xfrm>
          <a:prstGeom prst="rect">
            <a:avLst/>
          </a:prstGeom>
          <a:noFill/>
          <a:ln/>
        </p:spPr>
        <p:txBody>
          <a:bodyPr wrap="square" rtlCol="0" anchor="t"/>
          <a:lstStyle/>
          <a:p>
            <a:pPr marL="0" indent="0" algn="l">
              <a:buNone/>
            </a:pPr>
            <a:r>
              <a:rPr lang="en-US" sz="1300" b="1" dirty="0">
                <a:solidFill>
                  <a:srgbClr val="0D1B3E"/>
                </a:solidFill>
                <a:latin typeface="Segoe UI" pitchFamily="34" charset="0"/>
                <a:ea typeface="Segoe UI" pitchFamily="34" charset="-122"/>
                <a:cs typeface="Segoe UI" pitchFamily="34" charset="-120"/>
              </a:rPr>
              <a:t>Split Strategy</a:t>
            </a:r>
            <a:endParaRPr lang="en-US" sz="1300" dirty="0"/>
          </a:p>
        </p:txBody>
      </p:sp>
      <p:sp>
        <p:nvSpPr>
          <p:cNvPr id="30" name="Text 25"/>
          <p:cNvSpPr/>
          <p:nvPr/>
        </p:nvSpPr>
        <p:spPr>
          <a:xfrm>
            <a:off x="5731128" y="4008120"/>
            <a:ext cx="5668087" cy="457200"/>
          </a:xfrm>
          <a:prstGeom prst="rect">
            <a:avLst/>
          </a:prstGeom>
          <a:noFill/>
          <a:ln/>
        </p:spPr>
        <p:txBody>
          <a:bodyPr wrap="square" rtlCol="0" anchor="t"/>
          <a:lstStyle/>
          <a:p>
            <a:pPr marL="0" indent="0" algn="l">
              <a:lnSpc>
                <a:spcPct val="105000"/>
              </a:lnSpc>
              <a:buNone/>
            </a:pPr>
            <a:r>
              <a:rPr lang="en-US" sz="1150" dirty="0">
                <a:solidFill>
                  <a:srgbClr val="1A1E2E"/>
                </a:solidFill>
                <a:latin typeface="Segoe UI" pitchFamily="34" charset="0"/>
                <a:ea typeface="Segoe UI" pitchFamily="34" charset="-122"/>
                <a:cs typeface="Segoe UI" pitchFamily="34" charset="-120"/>
              </a:rPr>
              <a:t>Per-user </a:t>
            </a:r>
            <a:r>
              <a:rPr lang="en-US" sz="1150" b="1" dirty="0">
                <a:solidFill>
                  <a:srgbClr val="1A1E2E"/>
                </a:solidFill>
                <a:latin typeface="Segoe UI" pitchFamily="34" charset="0"/>
                <a:ea typeface="Segoe UI" pitchFamily="34" charset="-122"/>
                <a:cs typeface="Segoe UI" pitchFamily="34" charset="-120"/>
              </a:rPr>
              <a:t>temporal 80/20</a:t>
            </a:r>
            <a:r>
              <a:rPr lang="en-US" sz="1150" dirty="0">
                <a:solidFill>
                  <a:srgbClr val="1A1E2E"/>
                </a:solidFill>
                <a:latin typeface="Segoe UI" pitchFamily="34" charset="0"/>
                <a:ea typeface="Segoe UI" pitchFamily="34" charset="-122"/>
                <a:cs typeface="Segoe UI" pitchFamily="34" charset="-120"/>
              </a:rPr>
              <a:t> split — training on earlier interactions, testing on more recent ones</a:t>
            </a:r>
            <a:endParaRPr lang="en-US" sz="1150" dirty="0"/>
          </a:p>
        </p:txBody>
      </p:sp>
      <p:sp>
        <p:nvSpPr>
          <p:cNvPr id="31" name="Shape 26"/>
          <p:cNvSpPr/>
          <p:nvPr/>
        </p:nvSpPr>
        <p:spPr>
          <a:xfrm>
            <a:off x="5548248" y="4483608"/>
            <a:ext cx="6033847" cy="859536"/>
          </a:xfrm>
          <a:prstGeom prst="roundRect">
            <a:avLst>
              <a:gd name="adj" fmla="val 5319"/>
            </a:avLst>
          </a:prstGeom>
          <a:solidFill>
            <a:srgbClr val="FDF8E8"/>
          </a:solidFill>
          <a:ln/>
        </p:spPr>
        <p:txBody>
          <a:bodyPr/>
          <a:lstStyle/>
          <a:p>
            <a:endParaRPr lang="en-US"/>
          </a:p>
        </p:txBody>
      </p:sp>
      <p:sp>
        <p:nvSpPr>
          <p:cNvPr id="32" name="Shape 27"/>
          <p:cNvSpPr/>
          <p:nvPr/>
        </p:nvSpPr>
        <p:spPr>
          <a:xfrm>
            <a:off x="5548248" y="4501896"/>
            <a:ext cx="50292" cy="822960"/>
          </a:xfrm>
          <a:prstGeom prst="rect">
            <a:avLst/>
          </a:prstGeom>
          <a:solidFill>
            <a:srgbClr val="C89A00"/>
          </a:solidFill>
          <a:ln/>
        </p:spPr>
        <p:txBody>
          <a:bodyPr/>
          <a:lstStyle/>
          <a:p>
            <a:endParaRPr lang="en-US"/>
          </a:p>
        </p:txBody>
      </p:sp>
      <p:sp>
        <p:nvSpPr>
          <p:cNvPr id="33" name="Text 28"/>
          <p:cNvSpPr/>
          <p:nvPr/>
        </p:nvSpPr>
        <p:spPr>
          <a:xfrm>
            <a:off x="5731128" y="4575048"/>
            <a:ext cx="5668087" cy="274320"/>
          </a:xfrm>
          <a:prstGeom prst="rect">
            <a:avLst/>
          </a:prstGeom>
          <a:noFill/>
          <a:ln/>
        </p:spPr>
        <p:txBody>
          <a:bodyPr wrap="square" rtlCol="0" anchor="ctr"/>
          <a:lstStyle/>
          <a:p>
            <a:pPr marL="0" indent="0" algn="l">
              <a:buNone/>
            </a:pPr>
            <a:r>
              <a:rPr lang="en-US" sz="1200" b="1" kern="0" spc="200" dirty="0">
                <a:solidFill>
                  <a:srgbClr val="9A7600"/>
                </a:solidFill>
                <a:latin typeface="Segoe UI" pitchFamily="34" charset="0"/>
                <a:ea typeface="Segoe UI" pitchFamily="34" charset="-122"/>
                <a:cs typeface="Segoe UI" pitchFamily="34" charset="-120"/>
              </a:rPr>
              <a:t>WHY K = 5 IS PRIMARY</a:t>
            </a:r>
            <a:endParaRPr lang="en-US" sz="1200" dirty="0"/>
          </a:p>
        </p:txBody>
      </p:sp>
      <p:sp>
        <p:nvSpPr>
          <p:cNvPr id="34" name="Text 29"/>
          <p:cNvSpPr/>
          <p:nvPr/>
        </p:nvSpPr>
        <p:spPr>
          <a:xfrm>
            <a:off x="5731128" y="4831080"/>
            <a:ext cx="5668087" cy="457200"/>
          </a:xfrm>
          <a:prstGeom prst="rect">
            <a:avLst/>
          </a:prstGeom>
          <a:noFill/>
          <a:ln/>
        </p:spPr>
        <p:txBody>
          <a:bodyPr wrap="square" rtlCol="0" anchor="t"/>
          <a:lstStyle/>
          <a:p>
            <a:pPr marL="0" indent="0" algn="l">
              <a:lnSpc>
                <a:spcPct val="105000"/>
              </a:lnSpc>
              <a:buNone/>
            </a:pPr>
            <a:r>
              <a:rPr lang="en-US" sz="1150" dirty="0">
                <a:solidFill>
                  <a:srgbClr val="1A1E2E"/>
                </a:solidFill>
                <a:latin typeface="Segoe UI" pitchFamily="34" charset="0"/>
                <a:ea typeface="Segoe UI" pitchFamily="34" charset="-122"/>
                <a:cs typeface="Segoe UI" pitchFamily="34" charset="-120"/>
              </a:rPr>
              <a:t>With only </a:t>
            </a:r>
            <a:r>
              <a:rPr lang="en-US" sz="1150" b="1" dirty="0">
                <a:solidFill>
                  <a:srgbClr val="1A1E2E"/>
                </a:solidFill>
                <a:latin typeface="Segoe UI" pitchFamily="34" charset="0"/>
                <a:ea typeface="Segoe UI" pitchFamily="34" charset="-122"/>
                <a:cs typeface="Segoe UI" pitchFamily="34" charset="-120"/>
              </a:rPr>
              <a:t>3.81 ground-truth items / user</a:t>
            </a:r>
            <a:r>
              <a:rPr lang="en-US" sz="1150" dirty="0">
                <a:solidFill>
                  <a:srgbClr val="1A1E2E"/>
                </a:solidFill>
                <a:latin typeface="Segoe UI" pitchFamily="34" charset="0"/>
                <a:ea typeface="Segoe UI" pitchFamily="34" charset="-122"/>
                <a:cs typeface="Segoe UI" pitchFamily="34" charset="-120"/>
              </a:rPr>
              <a:t> on average, top-K beyond 5 saturates Recall — K ∈ {1,5,10,20} all reported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04 · METHODOLOGY · PROPOSED DATA PIPELINE</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Five stages distill raw rental logs</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into model-ready multimodal graphs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07 / 20</a:t>
            </a:r>
            <a:endParaRPr lang="en-US" sz="1200" dirty="0"/>
          </a:p>
        </p:txBody>
      </p:sp>
      <p:sp>
        <p:nvSpPr>
          <p:cNvPr id="9" name="Shape 5"/>
          <p:cNvSpPr/>
          <p:nvPr/>
        </p:nvSpPr>
        <p:spPr>
          <a:xfrm>
            <a:off x="609600" y="1905000"/>
            <a:ext cx="310896" cy="310896"/>
          </a:xfrm>
          <a:prstGeom prst="ellipse">
            <a:avLst/>
          </a:prstGeom>
          <a:solidFill>
            <a:srgbClr val="1464B4"/>
          </a:solidFill>
          <a:ln/>
        </p:spPr>
        <p:txBody>
          <a:bodyPr/>
          <a:lstStyle/>
          <a:p>
            <a:endParaRPr lang="en-US"/>
          </a:p>
        </p:txBody>
      </p:sp>
      <p:sp>
        <p:nvSpPr>
          <p:cNvPr id="10" name="Text 6"/>
          <p:cNvSpPr/>
          <p:nvPr/>
        </p:nvSpPr>
        <p:spPr>
          <a:xfrm>
            <a:off x="609600" y="1905000"/>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1" name="Text 7"/>
          <p:cNvSpPr/>
          <p:nvPr/>
        </p:nvSpPr>
        <p:spPr>
          <a:xfrm>
            <a:off x="1066800" y="1868424"/>
            <a:ext cx="486394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Initial Filtering</a:t>
            </a:r>
            <a:endParaRPr lang="en-US" sz="1400" dirty="0"/>
          </a:p>
        </p:txBody>
      </p:sp>
      <p:sp>
        <p:nvSpPr>
          <p:cNvPr id="12" name="Text 8"/>
          <p:cNvSpPr/>
          <p:nvPr/>
        </p:nvSpPr>
        <p:spPr>
          <a:xfrm>
            <a:off x="1066800" y="2161032"/>
            <a:ext cx="4863948" cy="457200"/>
          </a:xfrm>
          <a:prstGeom prst="rect">
            <a:avLst/>
          </a:prstGeom>
          <a:noFill/>
          <a:ln/>
        </p:spPr>
        <p:txBody>
          <a:bodyPr wrap="square" rtlCol="0" anchor="t"/>
          <a:lstStyle/>
          <a:p>
            <a:pPr marL="0" indent="0" algn="l">
              <a:lnSpc>
                <a:spcPct val="110000"/>
              </a:lnSpc>
              <a:buNone/>
            </a:pPr>
            <a:r>
              <a:rPr lang="en-US" sz="1200" dirty="0">
                <a:solidFill>
                  <a:srgbClr val="1A1E2E"/>
                </a:solidFill>
                <a:latin typeface="Segoe UI" pitchFamily="34" charset="0"/>
                <a:ea typeface="Segoe UI" pitchFamily="34" charset="-122"/>
                <a:cs typeface="Segoe UI" pitchFamily="34" charset="-120"/>
              </a:rPr>
              <a:t>Apply </a:t>
            </a:r>
            <a:r>
              <a:rPr lang="en-US" sz="1200" dirty="0">
                <a:solidFill>
                  <a:srgbClr val="1A7A50"/>
                </a:solidFill>
                <a:latin typeface="Consolas" pitchFamily="34" charset="0"/>
                <a:ea typeface="Consolas" pitchFamily="34" charset="-122"/>
                <a:cs typeface="Consolas" pitchFamily="34" charset="-120"/>
              </a:rPr>
              <a:t>5-core</a:t>
            </a:r>
            <a:r>
              <a:rPr lang="en-US" sz="1200" dirty="0">
                <a:solidFill>
                  <a:srgbClr val="1A1E2E"/>
                </a:solidFill>
                <a:latin typeface="Segoe UI" pitchFamily="34" charset="0"/>
                <a:ea typeface="Segoe UI" pitchFamily="34" charset="-122"/>
                <a:cs typeface="Segoe UI" pitchFamily="34" charset="-120"/>
              </a:rPr>
              <a:t> filtering iteratively — remove users &amp; items with fewer than 5 interactions</a:t>
            </a:r>
            <a:endParaRPr lang="en-US" sz="1200" dirty="0"/>
          </a:p>
        </p:txBody>
      </p:sp>
      <p:sp>
        <p:nvSpPr>
          <p:cNvPr id="13" name="Shape 9"/>
          <p:cNvSpPr/>
          <p:nvPr/>
        </p:nvSpPr>
        <p:spPr>
          <a:xfrm>
            <a:off x="609600" y="2819400"/>
            <a:ext cx="310896" cy="310896"/>
          </a:xfrm>
          <a:prstGeom prst="ellipse">
            <a:avLst/>
          </a:prstGeom>
          <a:solidFill>
            <a:srgbClr val="1464B4"/>
          </a:solidFill>
          <a:ln/>
        </p:spPr>
        <p:txBody>
          <a:bodyPr/>
          <a:lstStyle/>
          <a:p>
            <a:endParaRPr lang="en-US"/>
          </a:p>
        </p:txBody>
      </p:sp>
      <p:sp>
        <p:nvSpPr>
          <p:cNvPr id="14" name="Text 10"/>
          <p:cNvSpPr/>
          <p:nvPr/>
        </p:nvSpPr>
        <p:spPr>
          <a:xfrm>
            <a:off x="609600" y="2819400"/>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5" name="Text 11"/>
          <p:cNvSpPr/>
          <p:nvPr/>
        </p:nvSpPr>
        <p:spPr>
          <a:xfrm>
            <a:off x="1066800" y="2782824"/>
            <a:ext cx="486394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ID Remapping</a:t>
            </a:r>
            <a:endParaRPr lang="en-US" sz="1400" dirty="0"/>
          </a:p>
        </p:txBody>
      </p:sp>
      <p:sp>
        <p:nvSpPr>
          <p:cNvPr id="16" name="Text 12"/>
          <p:cNvSpPr/>
          <p:nvPr/>
        </p:nvSpPr>
        <p:spPr>
          <a:xfrm>
            <a:off x="1066800" y="3075432"/>
            <a:ext cx="4863948" cy="457200"/>
          </a:xfrm>
          <a:prstGeom prst="rect">
            <a:avLst/>
          </a:prstGeom>
          <a:noFill/>
          <a:ln/>
        </p:spPr>
        <p:txBody>
          <a:bodyPr wrap="square" rtlCol="0" anchor="t"/>
          <a:lstStyle/>
          <a:p>
            <a:pPr marL="0" indent="0" algn="l">
              <a:lnSpc>
                <a:spcPct val="110000"/>
              </a:lnSpc>
              <a:buNone/>
            </a:pPr>
            <a:r>
              <a:rPr lang="en-US" sz="1200" dirty="0">
                <a:solidFill>
                  <a:srgbClr val="1A1E2E"/>
                </a:solidFill>
                <a:latin typeface="Segoe UI" pitchFamily="34" charset="0"/>
                <a:ea typeface="Segoe UI" pitchFamily="34" charset="-122"/>
                <a:cs typeface="Segoe UI" pitchFamily="34" charset="-120"/>
              </a:rPr>
              <a:t>Map sparse raw IDs → dense sequential indices; build clean adjacency matrix</a:t>
            </a:r>
            <a:endParaRPr lang="en-US" sz="1200" dirty="0"/>
          </a:p>
        </p:txBody>
      </p:sp>
      <p:sp>
        <p:nvSpPr>
          <p:cNvPr id="17" name="Shape 13"/>
          <p:cNvSpPr/>
          <p:nvPr/>
        </p:nvSpPr>
        <p:spPr>
          <a:xfrm>
            <a:off x="609600" y="3733800"/>
            <a:ext cx="310896" cy="310896"/>
          </a:xfrm>
          <a:prstGeom prst="ellipse">
            <a:avLst/>
          </a:prstGeom>
          <a:solidFill>
            <a:srgbClr val="1464B4"/>
          </a:solidFill>
          <a:ln/>
        </p:spPr>
        <p:txBody>
          <a:bodyPr/>
          <a:lstStyle/>
          <a:p>
            <a:endParaRPr lang="en-US"/>
          </a:p>
        </p:txBody>
      </p:sp>
      <p:sp>
        <p:nvSpPr>
          <p:cNvPr id="18" name="Text 14"/>
          <p:cNvSpPr/>
          <p:nvPr/>
        </p:nvSpPr>
        <p:spPr>
          <a:xfrm>
            <a:off x="609600" y="3733800"/>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19" name="Text 15"/>
          <p:cNvSpPr/>
          <p:nvPr/>
        </p:nvSpPr>
        <p:spPr>
          <a:xfrm>
            <a:off x="1066800" y="3697224"/>
            <a:ext cx="486394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Temporal Split</a:t>
            </a:r>
            <a:endParaRPr lang="en-US" sz="1400" dirty="0"/>
          </a:p>
        </p:txBody>
      </p:sp>
      <p:sp>
        <p:nvSpPr>
          <p:cNvPr id="20" name="Text 16"/>
          <p:cNvSpPr/>
          <p:nvPr/>
        </p:nvSpPr>
        <p:spPr>
          <a:xfrm>
            <a:off x="1066800" y="3989832"/>
            <a:ext cx="4863948" cy="457200"/>
          </a:xfrm>
          <a:prstGeom prst="rect">
            <a:avLst/>
          </a:prstGeom>
          <a:noFill/>
          <a:ln/>
        </p:spPr>
        <p:txBody>
          <a:bodyPr wrap="square" rtlCol="0" anchor="t"/>
          <a:lstStyle/>
          <a:p>
            <a:pPr marL="0" indent="0" algn="l">
              <a:lnSpc>
                <a:spcPct val="110000"/>
              </a:lnSpc>
              <a:buNone/>
            </a:pPr>
            <a:r>
              <a:rPr lang="en-US" sz="1200" dirty="0">
                <a:solidFill>
                  <a:srgbClr val="1A1E2E"/>
                </a:solidFill>
                <a:latin typeface="Segoe UI" pitchFamily="34" charset="0"/>
                <a:ea typeface="Segoe UI" pitchFamily="34" charset="-122"/>
                <a:cs typeface="Segoe UI" pitchFamily="34" charset="-120"/>
              </a:rPr>
              <a:t>Per-user chronological partition: </a:t>
            </a:r>
            <a:r>
              <a:rPr lang="en-US" sz="1200" b="1" dirty="0">
                <a:solidFill>
                  <a:srgbClr val="1A1E2E"/>
                </a:solidFill>
                <a:latin typeface="Segoe UI" pitchFamily="34" charset="0"/>
                <a:ea typeface="Segoe UI" pitchFamily="34" charset="-122"/>
                <a:cs typeface="Segoe UI" pitchFamily="34" charset="-120"/>
              </a:rPr>
              <a:t>80% train · 20% test</a:t>
            </a:r>
            <a:endParaRPr lang="en-US" sz="1200" dirty="0"/>
          </a:p>
        </p:txBody>
      </p:sp>
      <p:sp>
        <p:nvSpPr>
          <p:cNvPr id="21" name="Shape 17"/>
          <p:cNvSpPr/>
          <p:nvPr/>
        </p:nvSpPr>
        <p:spPr>
          <a:xfrm>
            <a:off x="6260948" y="1905000"/>
            <a:ext cx="310896" cy="310896"/>
          </a:xfrm>
          <a:prstGeom prst="ellipse">
            <a:avLst/>
          </a:prstGeom>
          <a:solidFill>
            <a:srgbClr val="1464B4"/>
          </a:solidFill>
          <a:ln/>
        </p:spPr>
        <p:txBody>
          <a:bodyPr/>
          <a:lstStyle/>
          <a:p>
            <a:endParaRPr lang="en-US"/>
          </a:p>
        </p:txBody>
      </p:sp>
      <p:sp>
        <p:nvSpPr>
          <p:cNvPr id="22" name="Text 18"/>
          <p:cNvSpPr/>
          <p:nvPr/>
        </p:nvSpPr>
        <p:spPr>
          <a:xfrm>
            <a:off x="6260948" y="1905000"/>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23" name="Text 19"/>
          <p:cNvSpPr/>
          <p:nvPr/>
        </p:nvSpPr>
        <p:spPr>
          <a:xfrm>
            <a:off x="6718148" y="1868424"/>
            <a:ext cx="486394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Feature Extraction</a:t>
            </a:r>
            <a:endParaRPr lang="en-US" sz="1400" dirty="0"/>
          </a:p>
        </p:txBody>
      </p:sp>
      <p:sp>
        <p:nvSpPr>
          <p:cNvPr id="24" name="Text 20"/>
          <p:cNvSpPr/>
          <p:nvPr/>
        </p:nvSpPr>
        <p:spPr>
          <a:xfrm>
            <a:off x="6718148" y="2161032"/>
            <a:ext cx="4863948" cy="457200"/>
          </a:xfrm>
          <a:prstGeom prst="rect">
            <a:avLst/>
          </a:prstGeom>
          <a:noFill/>
          <a:ln/>
        </p:spPr>
        <p:txBody>
          <a:bodyPr wrap="square" rtlCol="0" anchor="t"/>
          <a:lstStyle/>
          <a:p>
            <a:pPr marL="0" indent="0" algn="l">
              <a:lnSpc>
                <a:spcPct val="110000"/>
              </a:lnSpc>
              <a:buNone/>
            </a:pPr>
            <a:r>
              <a:rPr lang="en-US" sz="1200" dirty="0">
                <a:solidFill>
                  <a:srgbClr val="1A1E2E"/>
                </a:solidFill>
                <a:latin typeface="Segoe UI" pitchFamily="34" charset="0"/>
                <a:ea typeface="Segoe UI" pitchFamily="34" charset="-122"/>
                <a:cs typeface="Segoe UI" pitchFamily="34" charset="-120"/>
              </a:rPr>
              <a:t>Visual: </a:t>
            </a:r>
            <a:r>
              <a:rPr lang="en-US" sz="1200" dirty="0">
                <a:solidFill>
                  <a:srgbClr val="1A7A50"/>
                </a:solidFill>
                <a:latin typeface="Consolas" pitchFamily="34" charset="0"/>
                <a:ea typeface="Consolas" pitchFamily="34" charset="-122"/>
                <a:cs typeface="Consolas" pitchFamily="34" charset="-120"/>
              </a:rPr>
              <a:t>CLIP</a:t>
            </a:r>
            <a:r>
              <a:rPr lang="en-US" sz="1200" dirty="0">
                <a:solidFill>
                  <a:srgbClr val="1A1E2E"/>
                </a:solidFill>
                <a:latin typeface="Segoe UI" pitchFamily="34" charset="0"/>
                <a:ea typeface="Segoe UI" pitchFamily="34" charset="-122"/>
                <a:cs typeface="Segoe UI" pitchFamily="34" charset="-120"/>
              </a:rPr>
              <a:t> 512-d · </a:t>
            </a:r>
            <a:r>
              <a:rPr lang="en-US" sz="1200" dirty="0">
                <a:solidFill>
                  <a:srgbClr val="1A7A50"/>
                </a:solidFill>
                <a:latin typeface="Consolas" pitchFamily="34" charset="0"/>
                <a:ea typeface="Consolas" pitchFamily="34" charset="-122"/>
                <a:cs typeface="Consolas" pitchFamily="34" charset="-120"/>
              </a:rPr>
              <a:t>MobileNetV2</a:t>
            </a:r>
            <a:r>
              <a:rPr lang="en-US" sz="1200" dirty="0">
                <a:solidFill>
                  <a:srgbClr val="1A1E2E"/>
                </a:solidFill>
                <a:latin typeface="Segoe UI" pitchFamily="34" charset="0"/>
                <a:ea typeface="Segoe UI" pitchFamily="34" charset="-122"/>
                <a:cs typeface="Segoe UI" pitchFamily="34" charset="-120"/>
              </a:rPr>
              <a:t> 1280→768 PCA</a:t>
            </a:r>
            <a:endParaRPr lang="en-US" sz="1200" dirty="0"/>
          </a:p>
          <a:p>
            <a:pPr marL="0" indent="0" algn="l">
              <a:lnSpc>
                <a:spcPct val="110000"/>
              </a:lnSpc>
              <a:buNone/>
            </a:pPr>
            <a:r>
              <a:rPr lang="en-US" sz="1200" dirty="0">
                <a:solidFill>
                  <a:srgbClr val="1A1E2E"/>
                </a:solidFill>
                <a:latin typeface="Segoe UI" pitchFamily="34" charset="0"/>
                <a:ea typeface="Segoe UI" pitchFamily="34" charset="-122"/>
                <a:cs typeface="Segoe UI" pitchFamily="34" charset="-120"/>
              </a:rPr>
              <a:t>Textual: </a:t>
            </a:r>
            <a:endParaRPr lang="en-US" sz="1200" dirty="0"/>
          </a:p>
          <a:p>
            <a:pPr marL="0" indent="0" algn="l">
              <a:lnSpc>
                <a:spcPct val="110000"/>
              </a:lnSpc>
              <a:buNone/>
            </a:pPr>
            <a:r>
              <a:rPr lang="en-US" sz="1200" dirty="0">
                <a:solidFill>
                  <a:srgbClr val="1A7A50"/>
                </a:solidFill>
                <a:latin typeface="Consolas" pitchFamily="34" charset="0"/>
                <a:ea typeface="Consolas" pitchFamily="34" charset="-122"/>
                <a:cs typeface="Consolas" pitchFamily="34" charset="-120"/>
              </a:rPr>
              <a:t>BERT</a:t>
            </a:r>
            <a:r>
              <a:rPr lang="en-US" sz="1200" dirty="0">
                <a:solidFill>
                  <a:srgbClr val="1A1E2E"/>
                </a:solidFill>
                <a:latin typeface="Segoe UI" pitchFamily="34" charset="0"/>
                <a:ea typeface="Segoe UI" pitchFamily="34" charset="-122"/>
                <a:cs typeface="Segoe UI" pitchFamily="34" charset="-120"/>
              </a:rPr>
              <a:t> 768-d · </a:t>
            </a:r>
            <a:r>
              <a:rPr lang="en-US" sz="1200" dirty="0">
                <a:solidFill>
                  <a:srgbClr val="1A7A50"/>
                </a:solidFill>
                <a:latin typeface="Consolas" pitchFamily="34" charset="0"/>
                <a:ea typeface="Consolas" pitchFamily="34" charset="-122"/>
                <a:cs typeface="Consolas" pitchFamily="34" charset="-120"/>
              </a:rPr>
              <a:t>TF-IDF</a:t>
            </a:r>
            <a:r>
              <a:rPr lang="en-US" sz="1200" dirty="0">
                <a:solidFill>
                  <a:srgbClr val="1A1E2E"/>
                </a:solidFill>
                <a:latin typeface="Segoe UI" pitchFamily="34" charset="0"/>
                <a:ea typeface="Segoe UI" pitchFamily="34" charset="-122"/>
                <a:cs typeface="Segoe UI" pitchFamily="34" charset="-120"/>
              </a:rPr>
              <a:t> (CombiGCN graph)</a:t>
            </a:r>
            <a:endParaRPr lang="en-US" sz="1200" dirty="0"/>
          </a:p>
        </p:txBody>
      </p:sp>
      <p:sp>
        <p:nvSpPr>
          <p:cNvPr id="25" name="Shape 21"/>
          <p:cNvSpPr/>
          <p:nvPr/>
        </p:nvSpPr>
        <p:spPr>
          <a:xfrm>
            <a:off x="6260948" y="2865120"/>
            <a:ext cx="310896" cy="310896"/>
          </a:xfrm>
          <a:prstGeom prst="ellipse">
            <a:avLst/>
          </a:prstGeom>
          <a:solidFill>
            <a:srgbClr val="1464B4"/>
          </a:solidFill>
          <a:ln/>
        </p:spPr>
        <p:txBody>
          <a:bodyPr/>
          <a:lstStyle/>
          <a:p>
            <a:endParaRPr lang="en-US"/>
          </a:p>
        </p:txBody>
      </p:sp>
      <p:sp>
        <p:nvSpPr>
          <p:cNvPr id="26" name="Text 22"/>
          <p:cNvSpPr/>
          <p:nvPr/>
        </p:nvSpPr>
        <p:spPr>
          <a:xfrm>
            <a:off x="6260948" y="2865120"/>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5</a:t>
            </a:r>
            <a:endParaRPr lang="en-US" sz="1200" dirty="0"/>
          </a:p>
        </p:txBody>
      </p:sp>
      <p:sp>
        <p:nvSpPr>
          <p:cNvPr id="27" name="Text 23"/>
          <p:cNvSpPr/>
          <p:nvPr/>
        </p:nvSpPr>
        <p:spPr>
          <a:xfrm>
            <a:off x="6718148" y="2828544"/>
            <a:ext cx="486394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GNN Training &amp; Evaluation</a:t>
            </a:r>
            <a:endParaRPr lang="en-US" sz="1400" dirty="0"/>
          </a:p>
        </p:txBody>
      </p:sp>
      <p:sp>
        <p:nvSpPr>
          <p:cNvPr id="28" name="Text 24"/>
          <p:cNvSpPr/>
          <p:nvPr/>
        </p:nvSpPr>
        <p:spPr>
          <a:xfrm>
            <a:off x="6718148" y="3121152"/>
            <a:ext cx="4863948" cy="457200"/>
          </a:xfrm>
          <a:prstGeom prst="rect">
            <a:avLst/>
          </a:prstGeom>
          <a:noFill/>
          <a:ln/>
        </p:spPr>
        <p:txBody>
          <a:bodyPr wrap="square" rtlCol="0" anchor="t"/>
          <a:lstStyle/>
          <a:p>
            <a:pPr marL="0" indent="0" algn="l">
              <a:lnSpc>
                <a:spcPct val="110000"/>
              </a:lnSpc>
              <a:buNone/>
            </a:pPr>
            <a:r>
              <a:rPr lang="en-US" sz="1200" dirty="0">
                <a:solidFill>
                  <a:srgbClr val="1A1E2E"/>
                </a:solidFill>
                <a:latin typeface="Segoe UI" pitchFamily="34" charset="0"/>
                <a:ea typeface="Segoe UI" pitchFamily="34" charset="-122"/>
                <a:cs typeface="Segoe UI" pitchFamily="34" charset="-120"/>
              </a:rPr>
              <a:t>Train 24 configurations; evaluate on NDCG, HR, Precision, Recall @ K ∈ {1,5,10,20}</a:t>
            </a:r>
            <a:endParaRPr lang="en-US" sz="1200" dirty="0"/>
          </a:p>
        </p:txBody>
      </p:sp>
      <p:sp>
        <p:nvSpPr>
          <p:cNvPr id="29" name="Shape 25"/>
          <p:cNvSpPr/>
          <p:nvPr/>
        </p:nvSpPr>
        <p:spPr>
          <a:xfrm>
            <a:off x="6260948" y="3870960"/>
            <a:ext cx="5321148" cy="640080"/>
          </a:xfrm>
          <a:prstGeom prst="roundRect">
            <a:avLst>
              <a:gd name="adj" fmla="val 7143"/>
            </a:avLst>
          </a:prstGeom>
          <a:solidFill>
            <a:srgbClr val="EEF3FA"/>
          </a:solidFill>
          <a:ln/>
        </p:spPr>
        <p:txBody>
          <a:bodyPr/>
          <a:lstStyle/>
          <a:p>
            <a:endParaRPr lang="en-US"/>
          </a:p>
        </p:txBody>
      </p:sp>
      <p:sp>
        <p:nvSpPr>
          <p:cNvPr id="30" name="Shape 26"/>
          <p:cNvSpPr/>
          <p:nvPr/>
        </p:nvSpPr>
        <p:spPr>
          <a:xfrm>
            <a:off x="6260948" y="3889248"/>
            <a:ext cx="50292" cy="603504"/>
          </a:xfrm>
          <a:prstGeom prst="rect">
            <a:avLst/>
          </a:prstGeom>
          <a:solidFill>
            <a:srgbClr val="1464B4"/>
          </a:solidFill>
          <a:ln/>
        </p:spPr>
        <p:txBody>
          <a:bodyPr/>
          <a:lstStyle/>
          <a:p>
            <a:endParaRPr lang="en-US"/>
          </a:p>
        </p:txBody>
      </p:sp>
      <p:sp>
        <p:nvSpPr>
          <p:cNvPr id="31" name="Text 27"/>
          <p:cNvSpPr/>
          <p:nvPr/>
        </p:nvSpPr>
        <p:spPr>
          <a:xfrm>
            <a:off x="6443828" y="3971544"/>
            <a:ext cx="4955388" cy="457200"/>
          </a:xfrm>
          <a:prstGeom prst="rect">
            <a:avLst/>
          </a:prstGeom>
          <a:noFill/>
          <a:ln/>
        </p:spPr>
        <p:txBody>
          <a:bodyPr wrap="square" rtlCol="0" anchor="t"/>
          <a:lstStyle/>
          <a:p>
            <a:pPr marL="0" indent="0" algn="l">
              <a:lnSpc>
                <a:spcPct val="110000"/>
              </a:lnSpc>
              <a:buNone/>
            </a:pPr>
            <a:r>
              <a:rPr lang="en-US" sz="1150" dirty="0">
                <a:solidFill>
                  <a:srgbClr val="8899BB"/>
                </a:solidFill>
                <a:latin typeface="Segoe UI" pitchFamily="34" charset="0"/>
                <a:ea typeface="Segoe UI" pitchFamily="34" charset="-122"/>
                <a:cs typeface="Segoe UI" pitchFamily="34" charset="-120"/>
              </a:rPr>
              <a:t>Common settings: </a:t>
            </a:r>
            <a:r>
              <a:rPr lang="en-US" sz="1150" dirty="0">
                <a:solidFill>
                  <a:srgbClr val="1A7A50"/>
                </a:solidFill>
                <a:latin typeface="Consolas" pitchFamily="34" charset="0"/>
                <a:ea typeface="Consolas" pitchFamily="34" charset="-122"/>
                <a:cs typeface="Consolas" pitchFamily="34" charset="-120"/>
              </a:rPr>
              <a:t>d = 512</a:t>
            </a:r>
            <a:r>
              <a:rPr lang="en-US" sz="1150" dirty="0">
                <a:solidFill>
                  <a:srgbClr val="8899BB"/>
                </a:solidFill>
                <a:latin typeface="Segoe UI" pitchFamily="34" charset="0"/>
                <a:ea typeface="Segoe UI" pitchFamily="34" charset="-122"/>
                <a:cs typeface="Segoe UI" pitchFamily="34" charset="-120"/>
              </a:rPr>
              <a:t> · </a:t>
            </a:r>
            <a:r>
              <a:rPr lang="en-US" sz="1150" dirty="0">
                <a:solidFill>
                  <a:srgbClr val="1A7A50"/>
                </a:solidFill>
                <a:latin typeface="Consolas" pitchFamily="34" charset="0"/>
                <a:ea typeface="Consolas" pitchFamily="34" charset="-122"/>
                <a:cs typeface="Consolas" pitchFamily="34" charset="-120"/>
              </a:rPr>
              <a:t>4 GCN layers</a:t>
            </a:r>
            <a:r>
              <a:rPr lang="en-US" sz="1150" dirty="0">
                <a:solidFill>
                  <a:srgbClr val="8899BB"/>
                </a:solidFill>
                <a:latin typeface="Segoe UI" pitchFamily="34" charset="0"/>
                <a:ea typeface="Segoe UI" pitchFamily="34" charset="-122"/>
                <a:cs typeface="Segoe UI" pitchFamily="34" charset="-120"/>
              </a:rPr>
              <a:t> · </a:t>
            </a:r>
            <a:r>
              <a:rPr lang="en-US" sz="1150" dirty="0">
                <a:solidFill>
                  <a:srgbClr val="1A7A50"/>
                </a:solidFill>
                <a:latin typeface="Consolas" pitchFamily="34" charset="0"/>
                <a:ea typeface="Consolas" pitchFamily="34" charset="-122"/>
                <a:cs typeface="Consolas" pitchFamily="34" charset="-120"/>
              </a:rPr>
              <a:t>lr 1e-3</a:t>
            </a:r>
            <a:r>
              <a:rPr lang="en-US" sz="1150" dirty="0">
                <a:solidFill>
                  <a:srgbClr val="8899BB"/>
                </a:solidFill>
                <a:latin typeface="Segoe UI" pitchFamily="34" charset="0"/>
                <a:ea typeface="Segoe UI" pitchFamily="34" charset="-122"/>
                <a:cs typeface="Segoe UI" pitchFamily="34" charset="-120"/>
              </a:rPr>
              <a:t> · </a:t>
            </a:r>
            <a:r>
              <a:rPr lang="en-US" sz="1150" dirty="0">
                <a:solidFill>
                  <a:srgbClr val="1A7A50"/>
                </a:solidFill>
                <a:latin typeface="Consolas" pitchFamily="34" charset="0"/>
                <a:ea typeface="Consolas" pitchFamily="34" charset="-122"/>
                <a:cs typeface="Consolas" pitchFamily="34" charset="-120"/>
              </a:rPr>
              <a:t>early stop patience 40</a:t>
            </a:r>
            <a:r>
              <a:rPr lang="en-US" sz="1150" dirty="0">
                <a:solidFill>
                  <a:srgbClr val="8899BB"/>
                </a:solidFill>
                <a:latin typeface="Segoe UI" pitchFamily="34" charset="0"/>
                <a:ea typeface="Segoe UI" pitchFamily="34" charset="-122"/>
                <a:cs typeface="Segoe UI" pitchFamily="34" charset="-120"/>
              </a:rPr>
              <a:t> · monitor Recall@20</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04 · METHODOLOGY · CONFIGURATION SPACE</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24 configs: 3 models × 2 encoders × 4 fusions</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 a fully crossed benchmark</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08 / 20</a:t>
            </a:r>
            <a:endParaRPr lang="en-US" sz="1200" dirty="0"/>
          </a:p>
        </p:txBody>
      </p:sp>
      <p:sp>
        <p:nvSpPr>
          <p:cNvPr id="9" name="Text 5"/>
          <p:cNvSpPr/>
          <p:nvPr/>
        </p:nvSpPr>
        <p:spPr>
          <a:xfrm>
            <a:off x="609600"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Dimensions</a:t>
            </a:r>
            <a:endParaRPr lang="en-US" sz="1500" dirty="0"/>
          </a:p>
        </p:txBody>
      </p:sp>
      <p:sp>
        <p:nvSpPr>
          <p:cNvPr id="10" name="Shape 6"/>
          <p:cNvSpPr/>
          <p:nvPr/>
        </p:nvSpPr>
        <p:spPr>
          <a:xfrm>
            <a:off x="609600" y="2289048"/>
            <a:ext cx="5321148" cy="841248"/>
          </a:xfrm>
          <a:prstGeom prst="roundRect">
            <a:avLst>
              <a:gd name="adj" fmla="val 5435"/>
            </a:avLst>
          </a:prstGeom>
          <a:solidFill>
            <a:srgbClr val="EEF3FA"/>
          </a:solidFill>
          <a:ln/>
        </p:spPr>
        <p:txBody>
          <a:bodyPr/>
          <a:lstStyle/>
          <a:p>
            <a:endParaRPr lang="en-US"/>
          </a:p>
        </p:txBody>
      </p:sp>
      <p:sp>
        <p:nvSpPr>
          <p:cNvPr id="11" name="Shape 7"/>
          <p:cNvSpPr/>
          <p:nvPr/>
        </p:nvSpPr>
        <p:spPr>
          <a:xfrm>
            <a:off x="609600" y="2307336"/>
            <a:ext cx="50292" cy="804672"/>
          </a:xfrm>
          <a:prstGeom prst="rect">
            <a:avLst/>
          </a:prstGeom>
          <a:solidFill>
            <a:srgbClr val="1464B4"/>
          </a:solidFill>
          <a:ln/>
        </p:spPr>
        <p:txBody>
          <a:bodyPr/>
          <a:lstStyle/>
          <a:p>
            <a:endParaRPr lang="en-US"/>
          </a:p>
        </p:txBody>
      </p:sp>
      <p:sp>
        <p:nvSpPr>
          <p:cNvPr id="12" name="Text 8"/>
          <p:cNvSpPr/>
          <p:nvPr/>
        </p:nvSpPr>
        <p:spPr>
          <a:xfrm>
            <a:off x="792480" y="2380488"/>
            <a:ext cx="4955388"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MODELS (× 3)</a:t>
            </a:r>
            <a:endParaRPr lang="en-US" sz="1200" dirty="0"/>
          </a:p>
        </p:txBody>
      </p:sp>
      <p:sp>
        <p:nvSpPr>
          <p:cNvPr id="13" name="Shape 9"/>
          <p:cNvSpPr/>
          <p:nvPr/>
        </p:nvSpPr>
        <p:spPr>
          <a:xfrm>
            <a:off x="792480" y="2691384"/>
            <a:ext cx="1016813" cy="310896"/>
          </a:xfrm>
          <a:prstGeom prst="roundRect">
            <a:avLst>
              <a:gd name="adj" fmla="val 8824"/>
            </a:avLst>
          </a:prstGeom>
          <a:solidFill>
            <a:srgbClr val="DEEAF9"/>
          </a:solidFill>
          <a:ln/>
        </p:spPr>
        <p:txBody>
          <a:bodyPr/>
          <a:lstStyle/>
          <a:p>
            <a:endParaRPr lang="en-US"/>
          </a:p>
        </p:txBody>
      </p:sp>
      <p:sp>
        <p:nvSpPr>
          <p:cNvPr id="14" name="Text 10"/>
          <p:cNvSpPr/>
          <p:nvPr/>
        </p:nvSpPr>
        <p:spPr>
          <a:xfrm>
            <a:off x="792480" y="2691384"/>
            <a:ext cx="1016813" cy="310896"/>
          </a:xfrm>
          <a:prstGeom prst="rect">
            <a:avLst/>
          </a:prstGeom>
          <a:noFill/>
          <a:ln/>
        </p:spPr>
        <p:txBody>
          <a:bodyPr wrap="none" rtlCol="0" anchor="ctr"/>
          <a:lstStyle/>
          <a:p>
            <a:pPr marL="0" indent="0" algn="ctr">
              <a:buNone/>
            </a:pPr>
            <a:r>
              <a:rPr lang="en-US" sz="1200" b="1" dirty="0">
                <a:solidFill>
                  <a:srgbClr val="1464B4"/>
                </a:solidFill>
                <a:latin typeface="Segoe UI" pitchFamily="34" charset="0"/>
                <a:ea typeface="Segoe UI" pitchFamily="34" charset="-122"/>
                <a:cs typeface="Segoe UI" pitchFamily="34" charset="-120"/>
              </a:rPr>
              <a:t>CombiGCN</a:t>
            </a:r>
            <a:endParaRPr lang="en-US" sz="1200" dirty="0"/>
          </a:p>
        </p:txBody>
      </p:sp>
      <p:sp>
        <p:nvSpPr>
          <p:cNvPr id="15" name="Shape 11"/>
          <p:cNvSpPr/>
          <p:nvPr/>
        </p:nvSpPr>
        <p:spPr>
          <a:xfrm>
            <a:off x="1919021" y="2691384"/>
            <a:ext cx="564185" cy="310896"/>
          </a:xfrm>
          <a:prstGeom prst="roundRect">
            <a:avLst>
              <a:gd name="adj" fmla="val 8824"/>
            </a:avLst>
          </a:prstGeom>
          <a:solidFill>
            <a:srgbClr val="DEEAF9"/>
          </a:solidFill>
          <a:ln/>
        </p:spPr>
        <p:txBody>
          <a:bodyPr/>
          <a:lstStyle/>
          <a:p>
            <a:endParaRPr lang="en-US"/>
          </a:p>
        </p:txBody>
      </p:sp>
      <p:sp>
        <p:nvSpPr>
          <p:cNvPr id="16" name="Text 12"/>
          <p:cNvSpPr/>
          <p:nvPr/>
        </p:nvSpPr>
        <p:spPr>
          <a:xfrm>
            <a:off x="1919021" y="2691384"/>
            <a:ext cx="564185" cy="310896"/>
          </a:xfrm>
          <a:prstGeom prst="rect">
            <a:avLst/>
          </a:prstGeom>
          <a:noFill/>
          <a:ln/>
        </p:spPr>
        <p:txBody>
          <a:bodyPr wrap="none" rtlCol="0" anchor="ctr"/>
          <a:lstStyle/>
          <a:p>
            <a:pPr marL="0" indent="0" algn="ctr">
              <a:buNone/>
            </a:pPr>
            <a:r>
              <a:rPr lang="en-US" sz="1200" b="1" dirty="0">
                <a:solidFill>
                  <a:srgbClr val="1464B4"/>
                </a:solidFill>
                <a:latin typeface="Segoe UI" pitchFamily="34" charset="0"/>
                <a:ea typeface="Segoe UI" pitchFamily="34" charset="-122"/>
                <a:cs typeface="Segoe UI" pitchFamily="34" charset="-120"/>
              </a:rPr>
              <a:t>BM3</a:t>
            </a:r>
            <a:endParaRPr lang="en-US" sz="1200" dirty="0"/>
          </a:p>
        </p:txBody>
      </p:sp>
      <p:sp>
        <p:nvSpPr>
          <p:cNvPr id="17" name="Shape 13"/>
          <p:cNvSpPr/>
          <p:nvPr/>
        </p:nvSpPr>
        <p:spPr>
          <a:xfrm>
            <a:off x="2592934" y="2691384"/>
            <a:ext cx="926287" cy="310896"/>
          </a:xfrm>
          <a:prstGeom prst="roundRect">
            <a:avLst>
              <a:gd name="adj" fmla="val 8824"/>
            </a:avLst>
          </a:prstGeom>
          <a:solidFill>
            <a:srgbClr val="DEEAF9"/>
          </a:solidFill>
          <a:ln/>
        </p:spPr>
        <p:txBody>
          <a:bodyPr/>
          <a:lstStyle/>
          <a:p>
            <a:endParaRPr lang="en-US"/>
          </a:p>
        </p:txBody>
      </p:sp>
      <p:sp>
        <p:nvSpPr>
          <p:cNvPr id="18" name="Text 14"/>
          <p:cNvSpPr/>
          <p:nvPr/>
        </p:nvSpPr>
        <p:spPr>
          <a:xfrm>
            <a:off x="2592934" y="2691384"/>
            <a:ext cx="926287" cy="310896"/>
          </a:xfrm>
          <a:prstGeom prst="rect">
            <a:avLst/>
          </a:prstGeom>
          <a:noFill/>
          <a:ln/>
        </p:spPr>
        <p:txBody>
          <a:bodyPr wrap="none" rtlCol="0" anchor="ctr"/>
          <a:lstStyle/>
          <a:p>
            <a:pPr marL="0" indent="0" algn="ctr">
              <a:buNone/>
            </a:pPr>
            <a:r>
              <a:rPr lang="en-US" sz="1200" b="1" dirty="0">
                <a:solidFill>
                  <a:srgbClr val="1464B4"/>
                </a:solidFill>
                <a:latin typeface="Segoe UI" pitchFamily="34" charset="0"/>
                <a:ea typeface="Segoe UI" pitchFamily="34" charset="-122"/>
                <a:cs typeface="Segoe UI" pitchFamily="34" charset="-120"/>
              </a:rPr>
              <a:t>FREEDOM</a:t>
            </a:r>
            <a:endParaRPr lang="en-US" sz="1200" dirty="0"/>
          </a:p>
        </p:txBody>
      </p:sp>
      <p:sp>
        <p:nvSpPr>
          <p:cNvPr id="19" name="Shape 15"/>
          <p:cNvSpPr/>
          <p:nvPr/>
        </p:nvSpPr>
        <p:spPr>
          <a:xfrm>
            <a:off x="609600" y="3240024"/>
            <a:ext cx="5321148" cy="841248"/>
          </a:xfrm>
          <a:prstGeom prst="roundRect">
            <a:avLst>
              <a:gd name="adj" fmla="val 5435"/>
            </a:avLst>
          </a:prstGeom>
          <a:solidFill>
            <a:srgbClr val="EEF3FA"/>
          </a:solidFill>
          <a:ln/>
        </p:spPr>
        <p:txBody>
          <a:bodyPr/>
          <a:lstStyle/>
          <a:p>
            <a:endParaRPr lang="en-US"/>
          </a:p>
        </p:txBody>
      </p:sp>
      <p:sp>
        <p:nvSpPr>
          <p:cNvPr id="20" name="Shape 16"/>
          <p:cNvSpPr/>
          <p:nvPr/>
        </p:nvSpPr>
        <p:spPr>
          <a:xfrm>
            <a:off x="609600" y="3258312"/>
            <a:ext cx="50292" cy="804672"/>
          </a:xfrm>
          <a:prstGeom prst="rect">
            <a:avLst/>
          </a:prstGeom>
          <a:solidFill>
            <a:srgbClr val="1464B4"/>
          </a:solidFill>
          <a:ln/>
        </p:spPr>
        <p:txBody>
          <a:bodyPr/>
          <a:lstStyle/>
          <a:p>
            <a:endParaRPr lang="en-US"/>
          </a:p>
        </p:txBody>
      </p:sp>
      <p:sp>
        <p:nvSpPr>
          <p:cNvPr id="21" name="Text 17"/>
          <p:cNvSpPr/>
          <p:nvPr/>
        </p:nvSpPr>
        <p:spPr>
          <a:xfrm>
            <a:off x="792480" y="3331464"/>
            <a:ext cx="4955388"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VISUAL ENCODERS (× 2)</a:t>
            </a:r>
            <a:endParaRPr lang="en-US" sz="1200" dirty="0"/>
          </a:p>
        </p:txBody>
      </p:sp>
      <p:sp>
        <p:nvSpPr>
          <p:cNvPr id="22" name="Shape 18"/>
          <p:cNvSpPr/>
          <p:nvPr/>
        </p:nvSpPr>
        <p:spPr>
          <a:xfrm>
            <a:off x="792480" y="3642360"/>
            <a:ext cx="1197864" cy="310896"/>
          </a:xfrm>
          <a:prstGeom prst="roundRect">
            <a:avLst>
              <a:gd name="adj" fmla="val 8824"/>
            </a:avLst>
          </a:prstGeom>
          <a:solidFill>
            <a:srgbClr val="E8E9EF"/>
          </a:solidFill>
          <a:ln/>
        </p:spPr>
        <p:txBody>
          <a:bodyPr/>
          <a:lstStyle/>
          <a:p>
            <a:endParaRPr lang="en-US"/>
          </a:p>
        </p:txBody>
      </p:sp>
      <p:sp>
        <p:nvSpPr>
          <p:cNvPr id="23" name="Text 19"/>
          <p:cNvSpPr/>
          <p:nvPr/>
        </p:nvSpPr>
        <p:spPr>
          <a:xfrm>
            <a:off x="792480" y="3642360"/>
            <a:ext cx="1197864" cy="310896"/>
          </a:xfrm>
          <a:prstGeom prst="rect">
            <a:avLst/>
          </a:prstGeom>
          <a:noFill/>
          <a:ln/>
        </p:spPr>
        <p:txBody>
          <a:bodyPr wrap="none" rtlCol="0" anchor="ctr"/>
          <a:lstStyle/>
          <a:p>
            <a:pPr marL="0" indent="0" algn="ctr">
              <a:buNone/>
            </a:pPr>
            <a:r>
              <a:rPr lang="en-US" sz="1200" b="1" dirty="0">
                <a:solidFill>
                  <a:srgbClr val="0D1B3E"/>
                </a:solidFill>
                <a:latin typeface="Segoe UI" pitchFamily="34" charset="0"/>
                <a:ea typeface="Segoe UI" pitchFamily="34" charset="-122"/>
                <a:cs typeface="Segoe UI" pitchFamily="34" charset="-120"/>
              </a:rPr>
              <a:t>CLIP 512-d</a:t>
            </a:r>
            <a:endParaRPr lang="en-US" sz="1200" dirty="0"/>
          </a:p>
        </p:txBody>
      </p:sp>
      <p:sp>
        <p:nvSpPr>
          <p:cNvPr id="24" name="Shape 20"/>
          <p:cNvSpPr/>
          <p:nvPr/>
        </p:nvSpPr>
        <p:spPr>
          <a:xfrm>
            <a:off x="2100072" y="3642360"/>
            <a:ext cx="1831543" cy="310896"/>
          </a:xfrm>
          <a:prstGeom prst="roundRect">
            <a:avLst>
              <a:gd name="adj" fmla="val 8824"/>
            </a:avLst>
          </a:prstGeom>
          <a:solidFill>
            <a:srgbClr val="E8E9EF"/>
          </a:solidFill>
          <a:ln/>
        </p:spPr>
        <p:txBody>
          <a:bodyPr/>
          <a:lstStyle/>
          <a:p>
            <a:endParaRPr lang="en-US"/>
          </a:p>
        </p:txBody>
      </p:sp>
      <p:sp>
        <p:nvSpPr>
          <p:cNvPr id="25" name="Text 21"/>
          <p:cNvSpPr/>
          <p:nvPr/>
        </p:nvSpPr>
        <p:spPr>
          <a:xfrm>
            <a:off x="2100072" y="3642360"/>
            <a:ext cx="1831543" cy="310896"/>
          </a:xfrm>
          <a:prstGeom prst="rect">
            <a:avLst/>
          </a:prstGeom>
          <a:noFill/>
          <a:ln/>
        </p:spPr>
        <p:txBody>
          <a:bodyPr wrap="none" rtlCol="0" anchor="ctr"/>
          <a:lstStyle/>
          <a:p>
            <a:pPr marL="0" indent="0" algn="ctr">
              <a:buNone/>
            </a:pPr>
            <a:r>
              <a:rPr lang="en-US" sz="1200" b="1" dirty="0">
                <a:solidFill>
                  <a:srgbClr val="0D1B3E"/>
                </a:solidFill>
                <a:latin typeface="Segoe UI" pitchFamily="34" charset="0"/>
                <a:ea typeface="Segoe UI" pitchFamily="34" charset="-122"/>
                <a:cs typeface="Segoe UI" pitchFamily="34" charset="-120"/>
              </a:rPr>
              <a:t>MobileNetV2 768-d</a:t>
            </a:r>
            <a:endParaRPr lang="en-US" sz="1200" dirty="0"/>
          </a:p>
        </p:txBody>
      </p:sp>
      <p:sp>
        <p:nvSpPr>
          <p:cNvPr id="26" name="Shape 22"/>
          <p:cNvSpPr/>
          <p:nvPr/>
        </p:nvSpPr>
        <p:spPr>
          <a:xfrm>
            <a:off x="609600" y="4191000"/>
            <a:ext cx="5321148" cy="841248"/>
          </a:xfrm>
          <a:prstGeom prst="roundRect">
            <a:avLst>
              <a:gd name="adj" fmla="val 5435"/>
            </a:avLst>
          </a:prstGeom>
          <a:solidFill>
            <a:srgbClr val="EEF3FA"/>
          </a:solidFill>
          <a:ln/>
        </p:spPr>
        <p:txBody>
          <a:bodyPr/>
          <a:lstStyle/>
          <a:p>
            <a:endParaRPr lang="en-US"/>
          </a:p>
        </p:txBody>
      </p:sp>
      <p:sp>
        <p:nvSpPr>
          <p:cNvPr id="27" name="Shape 23"/>
          <p:cNvSpPr/>
          <p:nvPr/>
        </p:nvSpPr>
        <p:spPr>
          <a:xfrm>
            <a:off x="609600" y="4209288"/>
            <a:ext cx="50292" cy="804672"/>
          </a:xfrm>
          <a:prstGeom prst="rect">
            <a:avLst/>
          </a:prstGeom>
          <a:solidFill>
            <a:srgbClr val="1464B4"/>
          </a:solidFill>
          <a:ln/>
        </p:spPr>
        <p:txBody>
          <a:bodyPr/>
          <a:lstStyle/>
          <a:p>
            <a:endParaRPr lang="en-US"/>
          </a:p>
        </p:txBody>
      </p:sp>
      <p:sp>
        <p:nvSpPr>
          <p:cNvPr id="28" name="Text 24"/>
          <p:cNvSpPr/>
          <p:nvPr/>
        </p:nvSpPr>
        <p:spPr>
          <a:xfrm>
            <a:off x="792480" y="4282440"/>
            <a:ext cx="4955388"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FUSION STRATEGIES (× 4)</a:t>
            </a:r>
            <a:endParaRPr lang="en-US" sz="1200" dirty="0"/>
          </a:p>
        </p:txBody>
      </p:sp>
      <p:sp>
        <p:nvSpPr>
          <p:cNvPr id="29" name="Shape 25"/>
          <p:cNvSpPr/>
          <p:nvPr/>
        </p:nvSpPr>
        <p:spPr>
          <a:xfrm>
            <a:off x="792480" y="4593336"/>
            <a:ext cx="1016813" cy="310896"/>
          </a:xfrm>
          <a:prstGeom prst="roundRect">
            <a:avLst>
              <a:gd name="adj" fmla="val 8824"/>
            </a:avLst>
          </a:prstGeom>
          <a:solidFill>
            <a:srgbClr val="D8F0E8"/>
          </a:solidFill>
          <a:ln/>
        </p:spPr>
        <p:txBody>
          <a:bodyPr/>
          <a:lstStyle/>
          <a:p>
            <a:endParaRPr lang="en-US"/>
          </a:p>
        </p:txBody>
      </p:sp>
      <p:sp>
        <p:nvSpPr>
          <p:cNvPr id="30" name="Text 26"/>
          <p:cNvSpPr/>
          <p:nvPr/>
        </p:nvSpPr>
        <p:spPr>
          <a:xfrm>
            <a:off x="792480" y="4593336"/>
            <a:ext cx="1016813" cy="310896"/>
          </a:xfrm>
          <a:prstGeom prst="rect">
            <a:avLst/>
          </a:prstGeom>
          <a:noFill/>
          <a:ln/>
        </p:spPr>
        <p:txBody>
          <a:bodyPr wrap="none" rtlCol="0" anchor="ctr"/>
          <a:lstStyle/>
          <a:p>
            <a:pPr marL="0" indent="0" algn="ctr">
              <a:buNone/>
            </a:pPr>
            <a:r>
              <a:rPr lang="en-US" sz="1200" b="1" dirty="0">
                <a:solidFill>
                  <a:srgbClr val="1A7A50"/>
                </a:solidFill>
                <a:latin typeface="Segoe UI" pitchFamily="34" charset="0"/>
                <a:ea typeface="Segoe UI" pitchFamily="34" charset="-122"/>
                <a:cs typeface="Segoe UI" pitchFamily="34" charset="-120"/>
              </a:rPr>
              <a:t>img_only</a:t>
            </a:r>
            <a:endParaRPr lang="en-US" sz="1200" dirty="0"/>
          </a:p>
        </p:txBody>
      </p:sp>
      <p:sp>
        <p:nvSpPr>
          <p:cNvPr id="31" name="Shape 27"/>
          <p:cNvSpPr/>
          <p:nvPr/>
        </p:nvSpPr>
        <p:spPr>
          <a:xfrm>
            <a:off x="1919021" y="4593336"/>
            <a:ext cx="1107338" cy="310896"/>
          </a:xfrm>
          <a:prstGeom prst="roundRect">
            <a:avLst>
              <a:gd name="adj" fmla="val 8824"/>
            </a:avLst>
          </a:prstGeom>
          <a:solidFill>
            <a:srgbClr val="D8F0E8"/>
          </a:solidFill>
          <a:ln/>
        </p:spPr>
        <p:txBody>
          <a:bodyPr/>
          <a:lstStyle/>
          <a:p>
            <a:endParaRPr lang="en-US"/>
          </a:p>
        </p:txBody>
      </p:sp>
      <p:sp>
        <p:nvSpPr>
          <p:cNvPr id="32" name="Text 28"/>
          <p:cNvSpPr/>
          <p:nvPr/>
        </p:nvSpPr>
        <p:spPr>
          <a:xfrm>
            <a:off x="1919021" y="4593336"/>
            <a:ext cx="1107338" cy="310896"/>
          </a:xfrm>
          <a:prstGeom prst="rect">
            <a:avLst/>
          </a:prstGeom>
          <a:noFill/>
          <a:ln/>
        </p:spPr>
        <p:txBody>
          <a:bodyPr wrap="none" rtlCol="0" anchor="ctr"/>
          <a:lstStyle/>
          <a:p>
            <a:pPr marL="0" indent="0" algn="ctr">
              <a:buNone/>
            </a:pPr>
            <a:r>
              <a:rPr lang="en-US" sz="1200" b="1" dirty="0">
                <a:solidFill>
                  <a:srgbClr val="1A7A50"/>
                </a:solidFill>
                <a:latin typeface="Segoe UI" pitchFamily="34" charset="0"/>
                <a:ea typeface="Segoe UI" pitchFamily="34" charset="-122"/>
                <a:cs typeface="Segoe UI" pitchFamily="34" charset="-120"/>
              </a:rPr>
              <a:t>text_only</a:t>
            </a:r>
            <a:endParaRPr lang="en-US" sz="1200" dirty="0"/>
          </a:p>
        </p:txBody>
      </p:sp>
      <p:sp>
        <p:nvSpPr>
          <p:cNvPr id="33" name="Shape 29"/>
          <p:cNvSpPr/>
          <p:nvPr/>
        </p:nvSpPr>
        <p:spPr>
          <a:xfrm>
            <a:off x="3136087" y="4593336"/>
            <a:ext cx="1197864" cy="310896"/>
          </a:xfrm>
          <a:prstGeom prst="roundRect">
            <a:avLst>
              <a:gd name="adj" fmla="val 8824"/>
            </a:avLst>
          </a:prstGeom>
          <a:solidFill>
            <a:srgbClr val="D8F0E8"/>
          </a:solidFill>
          <a:ln/>
        </p:spPr>
        <p:txBody>
          <a:bodyPr/>
          <a:lstStyle/>
          <a:p>
            <a:endParaRPr lang="en-US"/>
          </a:p>
        </p:txBody>
      </p:sp>
      <p:sp>
        <p:nvSpPr>
          <p:cNvPr id="34" name="Text 30"/>
          <p:cNvSpPr/>
          <p:nvPr/>
        </p:nvSpPr>
        <p:spPr>
          <a:xfrm>
            <a:off x="3136087" y="4593336"/>
            <a:ext cx="1197864" cy="310896"/>
          </a:xfrm>
          <a:prstGeom prst="rect">
            <a:avLst/>
          </a:prstGeom>
          <a:noFill/>
          <a:ln/>
        </p:spPr>
        <p:txBody>
          <a:bodyPr wrap="none" rtlCol="0" anchor="ctr"/>
          <a:lstStyle/>
          <a:p>
            <a:pPr marL="0" indent="0" algn="ctr">
              <a:buNone/>
            </a:pPr>
            <a:r>
              <a:rPr lang="en-US" sz="1200" b="1" dirty="0">
                <a:solidFill>
                  <a:srgbClr val="1A7A50"/>
                </a:solidFill>
                <a:latin typeface="Segoe UI" pitchFamily="34" charset="0"/>
                <a:ea typeface="Segoe UI" pitchFamily="34" charset="-122"/>
                <a:cs typeface="Segoe UI" pitchFamily="34" charset="-120"/>
              </a:rPr>
              <a:t>late (avg)</a:t>
            </a:r>
            <a:endParaRPr lang="en-US" sz="1200" dirty="0"/>
          </a:p>
        </p:txBody>
      </p:sp>
      <p:sp>
        <p:nvSpPr>
          <p:cNvPr id="35" name="Shape 31"/>
          <p:cNvSpPr/>
          <p:nvPr/>
        </p:nvSpPr>
        <p:spPr>
          <a:xfrm>
            <a:off x="4443679" y="4593336"/>
            <a:ext cx="1107338" cy="310896"/>
          </a:xfrm>
          <a:prstGeom prst="roundRect">
            <a:avLst>
              <a:gd name="adj" fmla="val 8824"/>
            </a:avLst>
          </a:prstGeom>
          <a:solidFill>
            <a:srgbClr val="D8F0E8"/>
          </a:solidFill>
          <a:ln/>
        </p:spPr>
        <p:txBody>
          <a:bodyPr/>
          <a:lstStyle/>
          <a:p>
            <a:endParaRPr lang="en-US"/>
          </a:p>
        </p:txBody>
      </p:sp>
      <p:sp>
        <p:nvSpPr>
          <p:cNvPr id="36" name="Text 32"/>
          <p:cNvSpPr/>
          <p:nvPr/>
        </p:nvSpPr>
        <p:spPr>
          <a:xfrm>
            <a:off x="4443679" y="4593336"/>
            <a:ext cx="1107338" cy="310896"/>
          </a:xfrm>
          <a:prstGeom prst="rect">
            <a:avLst/>
          </a:prstGeom>
          <a:noFill/>
          <a:ln/>
        </p:spPr>
        <p:txBody>
          <a:bodyPr wrap="none" rtlCol="0" anchor="ctr"/>
          <a:lstStyle/>
          <a:p>
            <a:pPr marL="0" indent="0" algn="ctr">
              <a:buNone/>
            </a:pPr>
            <a:r>
              <a:rPr lang="en-US" sz="1200" b="1" dirty="0">
                <a:solidFill>
                  <a:srgbClr val="1A7A50"/>
                </a:solidFill>
                <a:latin typeface="Segoe UI" pitchFamily="34" charset="0"/>
                <a:ea typeface="Segoe UI" pitchFamily="34" charset="-122"/>
                <a:cs typeface="Segoe UI" pitchFamily="34" charset="-120"/>
              </a:rPr>
              <a:t>attention</a:t>
            </a:r>
            <a:endParaRPr lang="en-US" sz="1200" dirty="0"/>
          </a:p>
        </p:txBody>
      </p:sp>
      <p:sp>
        <p:nvSpPr>
          <p:cNvPr id="37" name="Text 33"/>
          <p:cNvSpPr/>
          <p:nvPr/>
        </p:nvSpPr>
        <p:spPr>
          <a:xfrm>
            <a:off x="6260948"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Pipeline Overview</a:t>
            </a:r>
            <a:endParaRPr lang="en-US" sz="1500" dirty="0"/>
          </a:p>
        </p:txBody>
      </p:sp>
      <p:sp>
        <p:nvSpPr>
          <p:cNvPr id="38" name="Shape 34"/>
          <p:cNvSpPr/>
          <p:nvPr/>
        </p:nvSpPr>
        <p:spPr>
          <a:xfrm>
            <a:off x="6260948" y="2362200"/>
            <a:ext cx="899638" cy="777240"/>
          </a:xfrm>
          <a:prstGeom prst="roundRect">
            <a:avLst>
              <a:gd name="adj" fmla="val 5882"/>
            </a:avLst>
          </a:prstGeom>
          <a:solidFill>
            <a:srgbClr val="EEF3FA"/>
          </a:solidFill>
          <a:ln/>
        </p:spPr>
        <p:txBody>
          <a:bodyPr/>
          <a:lstStyle/>
          <a:p>
            <a:endParaRPr lang="en-US"/>
          </a:p>
        </p:txBody>
      </p:sp>
      <p:sp>
        <p:nvSpPr>
          <p:cNvPr id="39" name="Text 35"/>
          <p:cNvSpPr/>
          <p:nvPr/>
        </p:nvSpPr>
        <p:spPr>
          <a:xfrm>
            <a:off x="6260948" y="2453640"/>
            <a:ext cx="899638" cy="219456"/>
          </a:xfrm>
          <a:prstGeom prst="rect">
            <a:avLst/>
          </a:prstGeom>
          <a:noFill/>
          <a:ln/>
        </p:spPr>
        <p:txBody>
          <a:bodyPr wrap="square" rtlCol="0" anchor="ctr"/>
          <a:lstStyle/>
          <a:p>
            <a:pPr marL="0" indent="0" algn="ctr">
              <a:buNone/>
            </a:pPr>
            <a:r>
              <a:rPr lang="en-US" sz="950" b="1" kern="0" spc="100" dirty="0">
                <a:solidFill>
                  <a:srgbClr val="1464B4"/>
                </a:solidFill>
                <a:latin typeface="Segoe UI" pitchFamily="34" charset="0"/>
                <a:ea typeface="Segoe UI" pitchFamily="34" charset="-122"/>
                <a:cs typeface="Segoe UI" pitchFamily="34" charset="-120"/>
              </a:rPr>
              <a:t>INPUT</a:t>
            </a:r>
            <a:endParaRPr lang="en-US" sz="950" dirty="0"/>
          </a:p>
        </p:txBody>
      </p:sp>
      <p:sp>
        <p:nvSpPr>
          <p:cNvPr id="40" name="Text 36"/>
          <p:cNvSpPr/>
          <p:nvPr/>
        </p:nvSpPr>
        <p:spPr>
          <a:xfrm>
            <a:off x="6279236" y="2691384"/>
            <a:ext cx="863062" cy="384048"/>
          </a:xfrm>
          <a:prstGeom prst="rect">
            <a:avLst/>
          </a:prstGeom>
          <a:noFill/>
          <a:ln/>
        </p:spPr>
        <p:txBody>
          <a:bodyPr wrap="square" rtlCol="0" anchor="ctr"/>
          <a:lstStyle/>
          <a:p>
            <a:pPr marL="0" indent="0" algn="ctr">
              <a:lnSpc>
                <a:spcPct val="100000"/>
              </a:lnSpc>
              <a:buNone/>
            </a:pPr>
            <a:r>
              <a:rPr lang="en-US" sz="950" dirty="0">
                <a:solidFill>
                  <a:srgbClr val="8899BB"/>
                </a:solidFill>
                <a:latin typeface="Segoe UI" pitchFamily="34" charset="0"/>
                <a:ea typeface="Segoe UI" pitchFamily="34" charset="-122"/>
                <a:cs typeface="Segoe UI" pitchFamily="34" charset="-120"/>
              </a:rPr>
              <a:t>VCR Log</a:t>
            </a:r>
            <a:endParaRPr lang="en-US" sz="950" dirty="0"/>
          </a:p>
        </p:txBody>
      </p:sp>
      <p:sp>
        <p:nvSpPr>
          <p:cNvPr id="41" name="Text 37"/>
          <p:cNvSpPr/>
          <p:nvPr/>
        </p:nvSpPr>
        <p:spPr>
          <a:xfrm>
            <a:off x="7142297" y="2362200"/>
            <a:ext cx="205740" cy="777240"/>
          </a:xfrm>
          <a:prstGeom prst="rect">
            <a:avLst/>
          </a:prstGeom>
          <a:noFill/>
          <a:ln/>
        </p:spPr>
        <p:txBody>
          <a:bodyPr wrap="square" rtlCol="0" anchor="ctr"/>
          <a:lstStyle/>
          <a:p>
            <a:pPr marL="0" indent="0" algn="ctr">
              <a:buNone/>
            </a:pPr>
            <a:r>
              <a:rPr lang="en-US" sz="1400" b="1" dirty="0">
                <a:solidFill>
                  <a:srgbClr val="1464B4"/>
                </a:solidFill>
                <a:latin typeface="Segoe UI" pitchFamily="34" charset="0"/>
                <a:ea typeface="Segoe UI" pitchFamily="34" charset="-122"/>
                <a:cs typeface="Segoe UI" pitchFamily="34" charset="-120"/>
              </a:rPr>
              <a:t>→</a:t>
            </a:r>
            <a:endParaRPr lang="en-US" sz="1400" dirty="0"/>
          </a:p>
        </p:txBody>
      </p:sp>
      <p:sp>
        <p:nvSpPr>
          <p:cNvPr id="42" name="Shape 38"/>
          <p:cNvSpPr/>
          <p:nvPr/>
        </p:nvSpPr>
        <p:spPr>
          <a:xfrm>
            <a:off x="7366325" y="2362200"/>
            <a:ext cx="899638" cy="777240"/>
          </a:xfrm>
          <a:prstGeom prst="roundRect">
            <a:avLst>
              <a:gd name="adj" fmla="val 5882"/>
            </a:avLst>
          </a:prstGeom>
          <a:solidFill>
            <a:srgbClr val="EEF3FA"/>
          </a:solidFill>
          <a:ln/>
        </p:spPr>
        <p:txBody>
          <a:bodyPr/>
          <a:lstStyle/>
          <a:p>
            <a:endParaRPr lang="en-US"/>
          </a:p>
        </p:txBody>
      </p:sp>
      <p:sp>
        <p:nvSpPr>
          <p:cNvPr id="43" name="Text 39"/>
          <p:cNvSpPr/>
          <p:nvPr/>
        </p:nvSpPr>
        <p:spPr>
          <a:xfrm>
            <a:off x="7366325" y="2453640"/>
            <a:ext cx="899638" cy="219456"/>
          </a:xfrm>
          <a:prstGeom prst="rect">
            <a:avLst/>
          </a:prstGeom>
          <a:noFill/>
          <a:ln/>
        </p:spPr>
        <p:txBody>
          <a:bodyPr wrap="square" rtlCol="0" anchor="ctr"/>
          <a:lstStyle/>
          <a:p>
            <a:pPr marL="0" indent="0" algn="ctr">
              <a:buNone/>
            </a:pPr>
            <a:r>
              <a:rPr lang="en-US" sz="950" b="1" kern="0" spc="100" dirty="0">
                <a:solidFill>
                  <a:srgbClr val="1464B4"/>
                </a:solidFill>
                <a:latin typeface="Segoe UI" pitchFamily="34" charset="0"/>
                <a:ea typeface="Segoe UI" pitchFamily="34" charset="-122"/>
                <a:cs typeface="Segoe UI" pitchFamily="34" charset="-120"/>
              </a:rPr>
              <a:t>FILTER</a:t>
            </a:r>
            <a:endParaRPr lang="en-US" sz="950" dirty="0"/>
          </a:p>
        </p:txBody>
      </p:sp>
      <p:sp>
        <p:nvSpPr>
          <p:cNvPr id="44" name="Text 40"/>
          <p:cNvSpPr/>
          <p:nvPr/>
        </p:nvSpPr>
        <p:spPr>
          <a:xfrm>
            <a:off x="7384613" y="2691384"/>
            <a:ext cx="863062" cy="384048"/>
          </a:xfrm>
          <a:prstGeom prst="rect">
            <a:avLst/>
          </a:prstGeom>
          <a:noFill/>
          <a:ln/>
        </p:spPr>
        <p:txBody>
          <a:bodyPr wrap="square" rtlCol="0" anchor="ctr"/>
          <a:lstStyle/>
          <a:p>
            <a:pPr marL="0" indent="0" algn="ctr">
              <a:lnSpc>
                <a:spcPct val="100000"/>
              </a:lnSpc>
              <a:buNone/>
            </a:pPr>
            <a:r>
              <a:rPr lang="en-US" sz="950" dirty="0">
                <a:solidFill>
                  <a:srgbClr val="8899BB"/>
                </a:solidFill>
                <a:latin typeface="Segoe UI" pitchFamily="34" charset="0"/>
                <a:ea typeface="Segoe UI" pitchFamily="34" charset="-122"/>
                <a:cs typeface="Segoe UI" pitchFamily="34" charset="-120"/>
              </a:rPr>
              <a:t>5-core</a:t>
            </a:r>
            <a:endParaRPr lang="en-US" sz="950" dirty="0"/>
          </a:p>
        </p:txBody>
      </p:sp>
      <p:sp>
        <p:nvSpPr>
          <p:cNvPr id="45" name="Text 41"/>
          <p:cNvSpPr/>
          <p:nvPr/>
        </p:nvSpPr>
        <p:spPr>
          <a:xfrm>
            <a:off x="8247675" y="2362200"/>
            <a:ext cx="205740" cy="777240"/>
          </a:xfrm>
          <a:prstGeom prst="rect">
            <a:avLst/>
          </a:prstGeom>
          <a:noFill/>
          <a:ln/>
        </p:spPr>
        <p:txBody>
          <a:bodyPr wrap="square" rtlCol="0" anchor="ctr"/>
          <a:lstStyle/>
          <a:p>
            <a:pPr marL="0" indent="0" algn="ctr">
              <a:buNone/>
            </a:pPr>
            <a:r>
              <a:rPr lang="en-US" sz="1400" b="1" dirty="0">
                <a:solidFill>
                  <a:srgbClr val="1464B4"/>
                </a:solidFill>
                <a:latin typeface="Segoe UI" pitchFamily="34" charset="0"/>
                <a:ea typeface="Segoe UI" pitchFamily="34" charset="-122"/>
                <a:cs typeface="Segoe UI" pitchFamily="34" charset="-120"/>
              </a:rPr>
              <a:t>→</a:t>
            </a:r>
            <a:endParaRPr lang="en-US" sz="1400" dirty="0"/>
          </a:p>
        </p:txBody>
      </p:sp>
      <p:sp>
        <p:nvSpPr>
          <p:cNvPr id="46" name="Shape 42"/>
          <p:cNvSpPr/>
          <p:nvPr/>
        </p:nvSpPr>
        <p:spPr>
          <a:xfrm>
            <a:off x="8471703" y="2362200"/>
            <a:ext cx="899638" cy="777240"/>
          </a:xfrm>
          <a:prstGeom prst="roundRect">
            <a:avLst>
              <a:gd name="adj" fmla="val 5882"/>
            </a:avLst>
          </a:prstGeom>
          <a:solidFill>
            <a:srgbClr val="EEF3FA"/>
          </a:solidFill>
          <a:ln/>
        </p:spPr>
        <p:txBody>
          <a:bodyPr/>
          <a:lstStyle/>
          <a:p>
            <a:endParaRPr lang="en-US"/>
          </a:p>
        </p:txBody>
      </p:sp>
      <p:sp>
        <p:nvSpPr>
          <p:cNvPr id="47" name="Text 43"/>
          <p:cNvSpPr/>
          <p:nvPr/>
        </p:nvSpPr>
        <p:spPr>
          <a:xfrm>
            <a:off x="8471703" y="2453640"/>
            <a:ext cx="899638" cy="219456"/>
          </a:xfrm>
          <a:prstGeom prst="rect">
            <a:avLst/>
          </a:prstGeom>
          <a:noFill/>
          <a:ln/>
        </p:spPr>
        <p:txBody>
          <a:bodyPr wrap="square" rtlCol="0" anchor="ctr"/>
          <a:lstStyle/>
          <a:p>
            <a:pPr marL="0" indent="0" algn="ctr">
              <a:buNone/>
            </a:pPr>
            <a:r>
              <a:rPr lang="en-US" sz="950" b="1" kern="0" spc="100" dirty="0">
                <a:solidFill>
                  <a:srgbClr val="1464B4"/>
                </a:solidFill>
                <a:latin typeface="Segoe UI" pitchFamily="34" charset="0"/>
                <a:ea typeface="Segoe UI" pitchFamily="34" charset="-122"/>
                <a:cs typeface="Segoe UI" pitchFamily="34" charset="-120"/>
              </a:rPr>
              <a:t>FEATURES</a:t>
            </a:r>
            <a:endParaRPr lang="en-US" sz="950" dirty="0"/>
          </a:p>
        </p:txBody>
      </p:sp>
      <p:sp>
        <p:nvSpPr>
          <p:cNvPr id="48" name="Text 44"/>
          <p:cNvSpPr/>
          <p:nvPr/>
        </p:nvSpPr>
        <p:spPr>
          <a:xfrm>
            <a:off x="8489991" y="2691384"/>
            <a:ext cx="863062" cy="384048"/>
          </a:xfrm>
          <a:prstGeom prst="rect">
            <a:avLst/>
          </a:prstGeom>
          <a:noFill/>
          <a:ln/>
        </p:spPr>
        <p:txBody>
          <a:bodyPr wrap="square" rtlCol="0" anchor="ctr"/>
          <a:lstStyle/>
          <a:p>
            <a:pPr marL="0" indent="0" algn="ctr">
              <a:lnSpc>
                <a:spcPct val="100000"/>
              </a:lnSpc>
              <a:buNone/>
            </a:pPr>
            <a:r>
              <a:rPr lang="en-US" sz="950" dirty="0">
                <a:solidFill>
                  <a:srgbClr val="8899BB"/>
                </a:solidFill>
                <a:latin typeface="Segoe UI" pitchFamily="34" charset="0"/>
                <a:ea typeface="Segoe UI" pitchFamily="34" charset="-122"/>
                <a:cs typeface="Segoe UI" pitchFamily="34" charset="-120"/>
              </a:rPr>
              <a:t>CLIP/MBNv2/BERT</a:t>
            </a:r>
            <a:endParaRPr lang="en-US" sz="950" dirty="0"/>
          </a:p>
        </p:txBody>
      </p:sp>
      <p:sp>
        <p:nvSpPr>
          <p:cNvPr id="49" name="Text 45"/>
          <p:cNvSpPr/>
          <p:nvPr/>
        </p:nvSpPr>
        <p:spPr>
          <a:xfrm>
            <a:off x="9353052" y="2362200"/>
            <a:ext cx="205740" cy="777240"/>
          </a:xfrm>
          <a:prstGeom prst="rect">
            <a:avLst/>
          </a:prstGeom>
          <a:noFill/>
          <a:ln/>
        </p:spPr>
        <p:txBody>
          <a:bodyPr wrap="square" rtlCol="0" anchor="ctr"/>
          <a:lstStyle/>
          <a:p>
            <a:pPr marL="0" indent="0" algn="ctr">
              <a:buNone/>
            </a:pPr>
            <a:r>
              <a:rPr lang="en-US" sz="1400" b="1" dirty="0">
                <a:solidFill>
                  <a:srgbClr val="1464B4"/>
                </a:solidFill>
                <a:latin typeface="Segoe UI" pitchFamily="34" charset="0"/>
                <a:ea typeface="Segoe UI" pitchFamily="34" charset="-122"/>
                <a:cs typeface="Segoe UI" pitchFamily="34" charset="-120"/>
              </a:rPr>
              <a:t>→</a:t>
            </a:r>
            <a:endParaRPr lang="en-US" sz="1400" dirty="0"/>
          </a:p>
        </p:txBody>
      </p:sp>
      <p:sp>
        <p:nvSpPr>
          <p:cNvPr id="50" name="Shape 46"/>
          <p:cNvSpPr/>
          <p:nvPr/>
        </p:nvSpPr>
        <p:spPr>
          <a:xfrm>
            <a:off x="9577080" y="2362200"/>
            <a:ext cx="899638" cy="777240"/>
          </a:xfrm>
          <a:prstGeom prst="roundRect">
            <a:avLst>
              <a:gd name="adj" fmla="val 5882"/>
            </a:avLst>
          </a:prstGeom>
          <a:solidFill>
            <a:srgbClr val="EEF3FA"/>
          </a:solidFill>
          <a:ln/>
        </p:spPr>
        <p:txBody>
          <a:bodyPr/>
          <a:lstStyle/>
          <a:p>
            <a:endParaRPr lang="en-US"/>
          </a:p>
        </p:txBody>
      </p:sp>
      <p:sp>
        <p:nvSpPr>
          <p:cNvPr id="51" name="Text 47"/>
          <p:cNvSpPr/>
          <p:nvPr/>
        </p:nvSpPr>
        <p:spPr>
          <a:xfrm>
            <a:off x="9577080" y="2453640"/>
            <a:ext cx="899638" cy="219456"/>
          </a:xfrm>
          <a:prstGeom prst="rect">
            <a:avLst/>
          </a:prstGeom>
          <a:noFill/>
          <a:ln/>
        </p:spPr>
        <p:txBody>
          <a:bodyPr wrap="square" rtlCol="0" anchor="ctr"/>
          <a:lstStyle/>
          <a:p>
            <a:pPr marL="0" indent="0" algn="ctr">
              <a:buNone/>
            </a:pPr>
            <a:r>
              <a:rPr lang="en-US" sz="950" b="1" kern="0" spc="100" dirty="0">
                <a:solidFill>
                  <a:srgbClr val="1464B4"/>
                </a:solidFill>
                <a:latin typeface="Segoe UI" pitchFamily="34" charset="0"/>
                <a:ea typeface="Segoe UI" pitchFamily="34" charset="-122"/>
                <a:cs typeface="Segoe UI" pitchFamily="34" charset="-120"/>
              </a:rPr>
              <a:t>GNN</a:t>
            </a:r>
            <a:endParaRPr lang="en-US" sz="950" dirty="0"/>
          </a:p>
        </p:txBody>
      </p:sp>
      <p:sp>
        <p:nvSpPr>
          <p:cNvPr id="52" name="Text 48"/>
          <p:cNvSpPr/>
          <p:nvPr/>
        </p:nvSpPr>
        <p:spPr>
          <a:xfrm>
            <a:off x="9595368" y="2691384"/>
            <a:ext cx="863062" cy="384048"/>
          </a:xfrm>
          <a:prstGeom prst="rect">
            <a:avLst/>
          </a:prstGeom>
          <a:noFill/>
          <a:ln/>
        </p:spPr>
        <p:txBody>
          <a:bodyPr wrap="square" rtlCol="0" anchor="ctr"/>
          <a:lstStyle/>
          <a:p>
            <a:pPr marL="0" indent="0" algn="ctr">
              <a:lnSpc>
                <a:spcPct val="100000"/>
              </a:lnSpc>
              <a:buNone/>
            </a:pPr>
            <a:r>
              <a:rPr lang="en-US" sz="950" dirty="0">
                <a:solidFill>
                  <a:srgbClr val="8899BB"/>
                </a:solidFill>
                <a:latin typeface="Segoe UI" pitchFamily="34" charset="0"/>
                <a:ea typeface="Segoe UI" pitchFamily="34" charset="-122"/>
                <a:cs typeface="Segoe UI" pitchFamily="34" charset="-120"/>
              </a:rPr>
              <a:t>LightGCN core</a:t>
            </a:r>
            <a:endParaRPr lang="en-US" sz="950" dirty="0"/>
          </a:p>
        </p:txBody>
      </p:sp>
      <p:sp>
        <p:nvSpPr>
          <p:cNvPr id="53" name="Text 49"/>
          <p:cNvSpPr/>
          <p:nvPr/>
        </p:nvSpPr>
        <p:spPr>
          <a:xfrm>
            <a:off x="10458430" y="2362200"/>
            <a:ext cx="205740" cy="777240"/>
          </a:xfrm>
          <a:prstGeom prst="rect">
            <a:avLst/>
          </a:prstGeom>
          <a:noFill/>
          <a:ln/>
        </p:spPr>
        <p:txBody>
          <a:bodyPr wrap="square" rtlCol="0" anchor="ctr"/>
          <a:lstStyle/>
          <a:p>
            <a:pPr marL="0" indent="0" algn="ctr">
              <a:buNone/>
            </a:pPr>
            <a:r>
              <a:rPr lang="en-US" sz="1400" b="1" dirty="0">
                <a:solidFill>
                  <a:srgbClr val="1464B4"/>
                </a:solidFill>
                <a:latin typeface="Segoe UI" pitchFamily="34" charset="0"/>
                <a:ea typeface="Segoe UI" pitchFamily="34" charset="-122"/>
                <a:cs typeface="Segoe UI" pitchFamily="34" charset="-120"/>
              </a:rPr>
              <a:t>→</a:t>
            </a:r>
            <a:endParaRPr lang="en-US" sz="1400" dirty="0"/>
          </a:p>
        </p:txBody>
      </p:sp>
      <p:sp>
        <p:nvSpPr>
          <p:cNvPr id="54" name="Shape 50"/>
          <p:cNvSpPr/>
          <p:nvPr/>
        </p:nvSpPr>
        <p:spPr>
          <a:xfrm>
            <a:off x="10682458" y="2362200"/>
            <a:ext cx="899638" cy="777240"/>
          </a:xfrm>
          <a:prstGeom prst="roundRect">
            <a:avLst>
              <a:gd name="adj" fmla="val 5882"/>
            </a:avLst>
          </a:prstGeom>
          <a:solidFill>
            <a:srgbClr val="EEF3FA"/>
          </a:solidFill>
          <a:ln/>
        </p:spPr>
        <p:txBody>
          <a:bodyPr/>
          <a:lstStyle/>
          <a:p>
            <a:endParaRPr lang="en-US"/>
          </a:p>
        </p:txBody>
      </p:sp>
      <p:sp>
        <p:nvSpPr>
          <p:cNvPr id="55" name="Text 51"/>
          <p:cNvSpPr/>
          <p:nvPr/>
        </p:nvSpPr>
        <p:spPr>
          <a:xfrm>
            <a:off x="10682458" y="2453640"/>
            <a:ext cx="899638" cy="219456"/>
          </a:xfrm>
          <a:prstGeom prst="rect">
            <a:avLst/>
          </a:prstGeom>
          <a:noFill/>
          <a:ln/>
        </p:spPr>
        <p:txBody>
          <a:bodyPr wrap="square" rtlCol="0" anchor="ctr"/>
          <a:lstStyle/>
          <a:p>
            <a:pPr marL="0" indent="0" algn="ctr">
              <a:buNone/>
            </a:pPr>
            <a:r>
              <a:rPr lang="en-US" sz="950" b="1" kern="0" spc="100" dirty="0">
                <a:solidFill>
                  <a:srgbClr val="1464B4"/>
                </a:solidFill>
                <a:latin typeface="Segoe UI" pitchFamily="34" charset="0"/>
                <a:ea typeface="Segoe UI" pitchFamily="34" charset="-122"/>
                <a:cs typeface="Segoe UI" pitchFamily="34" charset="-120"/>
              </a:rPr>
              <a:t>EVAL</a:t>
            </a:r>
            <a:endParaRPr lang="en-US" sz="950" dirty="0"/>
          </a:p>
        </p:txBody>
      </p:sp>
      <p:sp>
        <p:nvSpPr>
          <p:cNvPr id="56" name="Text 52"/>
          <p:cNvSpPr/>
          <p:nvPr/>
        </p:nvSpPr>
        <p:spPr>
          <a:xfrm>
            <a:off x="10700746" y="2691384"/>
            <a:ext cx="863062" cy="384048"/>
          </a:xfrm>
          <a:prstGeom prst="rect">
            <a:avLst/>
          </a:prstGeom>
          <a:noFill/>
          <a:ln/>
        </p:spPr>
        <p:txBody>
          <a:bodyPr wrap="square" rtlCol="0" anchor="ctr"/>
          <a:lstStyle/>
          <a:p>
            <a:pPr marL="0" indent="0" algn="ctr">
              <a:lnSpc>
                <a:spcPct val="100000"/>
              </a:lnSpc>
              <a:buNone/>
            </a:pPr>
            <a:r>
              <a:rPr lang="en-US" sz="950" dirty="0">
                <a:solidFill>
                  <a:srgbClr val="8899BB"/>
                </a:solidFill>
                <a:latin typeface="Segoe UI" pitchFamily="34" charset="0"/>
                <a:ea typeface="Segoe UI" pitchFamily="34" charset="-122"/>
                <a:cs typeface="Segoe UI" pitchFamily="34" charset="-120"/>
              </a:rPr>
              <a:t>6 metrics @ K</a:t>
            </a:r>
            <a:endParaRPr lang="en-US" sz="950" dirty="0"/>
          </a:p>
        </p:txBody>
      </p:sp>
      <p:sp>
        <p:nvSpPr>
          <p:cNvPr id="57" name="Shape 53"/>
          <p:cNvSpPr/>
          <p:nvPr/>
        </p:nvSpPr>
        <p:spPr>
          <a:xfrm>
            <a:off x="6260948" y="3413760"/>
            <a:ext cx="5321148" cy="1234440"/>
          </a:xfrm>
          <a:prstGeom prst="roundRect">
            <a:avLst>
              <a:gd name="adj" fmla="val 3704"/>
            </a:avLst>
          </a:prstGeom>
          <a:solidFill>
            <a:srgbClr val="0D1B3E"/>
          </a:solidFill>
          <a:ln/>
        </p:spPr>
        <p:txBody>
          <a:bodyPr/>
          <a:lstStyle/>
          <a:p>
            <a:endParaRPr lang="en-US"/>
          </a:p>
        </p:txBody>
      </p:sp>
      <p:sp>
        <p:nvSpPr>
          <p:cNvPr id="58" name="Text 54"/>
          <p:cNvSpPr/>
          <p:nvPr/>
        </p:nvSpPr>
        <p:spPr>
          <a:xfrm>
            <a:off x="6489548" y="3560064"/>
            <a:ext cx="4863948" cy="219456"/>
          </a:xfrm>
          <a:prstGeom prst="rect">
            <a:avLst/>
          </a:prstGeom>
          <a:noFill/>
          <a:ln/>
        </p:spPr>
        <p:txBody>
          <a:bodyPr wrap="square" rtlCol="0" anchor="ctr"/>
          <a:lstStyle/>
          <a:p>
            <a:pPr marL="0" indent="0">
              <a:buNone/>
            </a:pPr>
            <a:r>
              <a:rPr lang="en-US" sz="1100" b="1" kern="0" spc="100" dirty="0">
                <a:solidFill>
                  <a:srgbClr val="FFFFFF">
                    <a:alpha val="45000"/>
                  </a:srgbClr>
                </a:solidFill>
                <a:latin typeface="Segoe UI" pitchFamily="34" charset="0"/>
                <a:ea typeface="Segoe UI" pitchFamily="34" charset="-122"/>
                <a:cs typeface="Segoe UI" pitchFamily="34" charset="-120"/>
              </a:rPr>
              <a:t>TOTAL RUNS</a:t>
            </a:r>
            <a:endParaRPr lang="en-US" sz="1100" dirty="0"/>
          </a:p>
        </p:txBody>
      </p:sp>
      <p:sp>
        <p:nvSpPr>
          <p:cNvPr id="59" name="Text 55"/>
          <p:cNvSpPr/>
          <p:nvPr/>
        </p:nvSpPr>
        <p:spPr>
          <a:xfrm>
            <a:off x="6489548" y="3834384"/>
            <a:ext cx="4863948" cy="731520"/>
          </a:xfrm>
          <a:prstGeom prst="rect">
            <a:avLst/>
          </a:prstGeom>
          <a:noFill/>
          <a:ln/>
        </p:spPr>
        <p:txBody>
          <a:bodyPr wrap="square" rtlCol="0" anchor="t"/>
          <a:lstStyle/>
          <a:p>
            <a:pPr marL="0" indent="0">
              <a:lnSpc>
                <a:spcPct val="115000"/>
              </a:lnSpc>
              <a:buNone/>
            </a:pPr>
            <a:r>
              <a:rPr lang="en-US" sz="2400" b="1" dirty="0">
                <a:solidFill>
                  <a:srgbClr val="FFFFFF"/>
                </a:solidFill>
                <a:latin typeface="Georgia" pitchFamily="34" charset="0"/>
                <a:ea typeface="Georgia" pitchFamily="34" charset="-122"/>
                <a:cs typeface="Georgia" pitchFamily="34" charset="-120"/>
              </a:rPr>
              <a:t>24  </a:t>
            </a:r>
            <a:r>
              <a:rPr lang="en-US" sz="1250" dirty="0">
                <a:solidFill>
                  <a:srgbClr val="FFFFFF"/>
                </a:solidFill>
                <a:latin typeface="Segoe UI" pitchFamily="34" charset="0"/>
                <a:ea typeface="Segoe UI" pitchFamily="34" charset="-122"/>
                <a:cs typeface="Segoe UI" pitchFamily="34" charset="-120"/>
              </a:rPr>
              <a:t>configurations · each trained up to 1,000 epochs with early stopping · 6 ranking metrics reported</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05 · MODELS · THREE ARCHITECTURES, ONE BACKBONE</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Three architectures, one LightGCN backbone —</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differing in multimodal injection strategy</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09 / 20</a:t>
            </a:r>
            <a:endParaRPr lang="en-US" sz="1200" dirty="0"/>
          </a:p>
        </p:txBody>
      </p:sp>
      <p:sp>
        <p:nvSpPr>
          <p:cNvPr id="9" name="Shape 5"/>
          <p:cNvSpPr/>
          <p:nvPr/>
        </p:nvSpPr>
        <p:spPr>
          <a:xfrm>
            <a:off x="609600" y="1905000"/>
            <a:ext cx="3438042" cy="3810000"/>
          </a:xfrm>
          <a:prstGeom prst="roundRect">
            <a:avLst>
              <a:gd name="adj" fmla="val 1330"/>
            </a:avLst>
          </a:prstGeom>
          <a:solidFill>
            <a:srgbClr val="EEF3FA"/>
          </a:solidFill>
          <a:ln/>
        </p:spPr>
        <p:txBody>
          <a:bodyPr/>
          <a:lstStyle/>
          <a:p>
            <a:endParaRPr lang="en-US"/>
          </a:p>
        </p:txBody>
      </p:sp>
      <p:sp>
        <p:nvSpPr>
          <p:cNvPr id="10" name="Shape 6"/>
          <p:cNvSpPr/>
          <p:nvPr/>
        </p:nvSpPr>
        <p:spPr>
          <a:xfrm>
            <a:off x="609600" y="1923288"/>
            <a:ext cx="50292" cy="3773424"/>
          </a:xfrm>
          <a:prstGeom prst="rect">
            <a:avLst/>
          </a:prstGeom>
          <a:solidFill>
            <a:srgbClr val="1464B4"/>
          </a:solidFill>
          <a:ln/>
        </p:spPr>
        <p:txBody>
          <a:bodyPr/>
          <a:lstStyle/>
          <a:p>
            <a:endParaRPr lang="en-US"/>
          </a:p>
        </p:txBody>
      </p:sp>
      <p:sp>
        <p:nvSpPr>
          <p:cNvPr id="11" name="Text 7"/>
          <p:cNvSpPr/>
          <p:nvPr/>
        </p:nvSpPr>
        <p:spPr>
          <a:xfrm>
            <a:off x="829056" y="2087880"/>
            <a:ext cx="3035706"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COMBIGCN</a:t>
            </a:r>
            <a:endParaRPr lang="en-US" sz="1200" dirty="0"/>
          </a:p>
        </p:txBody>
      </p:sp>
      <p:sp>
        <p:nvSpPr>
          <p:cNvPr id="12" name="Text 8"/>
          <p:cNvSpPr/>
          <p:nvPr/>
        </p:nvSpPr>
        <p:spPr>
          <a:xfrm>
            <a:off x="829056" y="2453640"/>
            <a:ext cx="3035706"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Dual-graph propagation</a:t>
            </a:r>
            <a:endParaRPr lang="en-US" sz="1500" dirty="0"/>
          </a:p>
        </p:txBody>
      </p:sp>
      <p:sp>
        <p:nvSpPr>
          <p:cNvPr id="13" name="Text 9"/>
          <p:cNvSpPr/>
          <p:nvPr/>
        </p:nvSpPr>
        <p:spPr>
          <a:xfrm>
            <a:off x="829056" y="2865120"/>
            <a:ext cx="3035706" cy="457200"/>
          </a:xfrm>
          <a:prstGeom prst="rect">
            <a:avLst/>
          </a:prstGeom>
          <a:noFill/>
          <a:ln/>
        </p:spPr>
        <p:txBody>
          <a:bodyPr wrap="square" rtlCol="0" anchor="t"/>
          <a:lstStyle/>
          <a:p>
            <a:pPr marL="0" indent="0" algn="l">
              <a:lnSpc>
                <a:spcPct val="120000"/>
              </a:lnSpc>
              <a:buNone/>
            </a:pPr>
            <a:r>
              <a:rPr lang="en-US" sz="1250" dirty="0">
                <a:solidFill>
                  <a:srgbClr val="1A1E2E"/>
                </a:solidFill>
                <a:latin typeface="Segoe UI" pitchFamily="34" charset="0"/>
                <a:ea typeface="Segoe UI" pitchFamily="34" charset="-122"/>
                <a:cs typeface="Segoe UI" pitchFamily="34" charset="-120"/>
              </a:rPr>
              <a:t>Pre-computes item–item similarity graph from content features. Fuses CF branch + similarity branch at each GCN layer.</a:t>
            </a:r>
            <a:endParaRPr lang="en-US" sz="1250" dirty="0"/>
          </a:p>
        </p:txBody>
      </p:sp>
      <p:sp>
        <p:nvSpPr>
          <p:cNvPr id="14" name="Shape 10"/>
          <p:cNvSpPr/>
          <p:nvPr/>
        </p:nvSpPr>
        <p:spPr>
          <a:xfrm>
            <a:off x="829056" y="5212080"/>
            <a:ext cx="1831543" cy="310896"/>
          </a:xfrm>
          <a:prstGeom prst="roundRect">
            <a:avLst>
              <a:gd name="adj" fmla="val 8824"/>
            </a:avLst>
          </a:prstGeom>
          <a:solidFill>
            <a:srgbClr val="DEEAF9"/>
          </a:solidFill>
          <a:ln/>
        </p:spPr>
        <p:txBody>
          <a:bodyPr/>
          <a:lstStyle/>
          <a:p>
            <a:endParaRPr lang="en-US"/>
          </a:p>
        </p:txBody>
      </p:sp>
      <p:sp>
        <p:nvSpPr>
          <p:cNvPr id="15" name="Text 11"/>
          <p:cNvSpPr/>
          <p:nvPr/>
        </p:nvSpPr>
        <p:spPr>
          <a:xfrm>
            <a:off x="829056" y="5212080"/>
            <a:ext cx="1831543" cy="310896"/>
          </a:xfrm>
          <a:prstGeom prst="rect">
            <a:avLst/>
          </a:prstGeom>
          <a:noFill/>
          <a:ln/>
        </p:spPr>
        <p:txBody>
          <a:bodyPr wrap="none" rtlCol="0" anchor="ctr"/>
          <a:lstStyle/>
          <a:p>
            <a:pPr marL="0" indent="0" algn="ctr">
              <a:buNone/>
            </a:pPr>
            <a:r>
              <a:rPr lang="en-US" sz="1200" b="1" dirty="0">
                <a:solidFill>
                  <a:srgbClr val="1464B4"/>
                </a:solidFill>
                <a:latin typeface="Segoe UI" pitchFamily="34" charset="0"/>
                <a:ea typeface="Segoe UI" pitchFamily="34" charset="-122"/>
                <a:cs typeface="Segoe UI" pitchFamily="34" charset="-120"/>
              </a:rPr>
              <a:t>Data-level fusion</a:t>
            </a:r>
            <a:endParaRPr lang="en-US" sz="1200" dirty="0"/>
          </a:p>
        </p:txBody>
      </p:sp>
      <p:sp>
        <p:nvSpPr>
          <p:cNvPr id="16" name="Shape 12"/>
          <p:cNvSpPr/>
          <p:nvPr/>
        </p:nvSpPr>
        <p:spPr>
          <a:xfrm>
            <a:off x="4376826" y="1905000"/>
            <a:ext cx="3438042" cy="3810000"/>
          </a:xfrm>
          <a:prstGeom prst="roundRect">
            <a:avLst>
              <a:gd name="adj" fmla="val 1330"/>
            </a:avLst>
          </a:prstGeom>
          <a:solidFill>
            <a:srgbClr val="FDF3F3"/>
          </a:solidFill>
          <a:ln/>
        </p:spPr>
        <p:txBody>
          <a:bodyPr/>
          <a:lstStyle/>
          <a:p>
            <a:endParaRPr lang="en-US"/>
          </a:p>
        </p:txBody>
      </p:sp>
      <p:sp>
        <p:nvSpPr>
          <p:cNvPr id="17" name="Shape 13"/>
          <p:cNvSpPr/>
          <p:nvPr/>
        </p:nvSpPr>
        <p:spPr>
          <a:xfrm>
            <a:off x="4376826" y="1923288"/>
            <a:ext cx="50292" cy="3773424"/>
          </a:xfrm>
          <a:prstGeom prst="rect">
            <a:avLst/>
          </a:prstGeom>
          <a:solidFill>
            <a:srgbClr val="C1272D"/>
          </a:solidFill>
          <a:ln/>
        </p:spPr>
        <p:txBody>
          <a:bodyPr/>
          <a:lstStyle/>
          <a:p>
            <a:endParaRPr lang="en-US"/>
          </a:p>
        </p:txBody>
      </p:sp>
      <p:sp>
        <p:nvSpPr>
          <p:cNvPr id="18" name="Text 14"/>
          <p:cNvSpPr/>
          <p:nvPr/>
        </p:nvSpPr>
        <p:spPr>
          <a:xfrm>
            <a:off x="4596282" y="2087880"/>
            <a:ext cx="3035706"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BM3</a:t>
            </a:r>
            <a:endParaRPr lang="en-US" sz="1200" dirty="0"/>
          </a:p>
        </p:txBody>
      </p:sp>
      <p:sp>
        <p:nvSpPr>
          <p:cNvPr id="19" name="Text 15"/>
          <p:cNvSpPr/>
          <p:nvPr/>
        </p:nvSpPr>
        <p:spPr>
          <a:xfrm>
            <a:off x="4596282" y="2453640"/>
            <a:ext cx="3035706"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Self-supervised bootstrap</a:t>
            </a:r>
            <a:endParaRPr lang="en-US" sz="1500" dirty="0"/>
          </a:p>
        </p:txBody>
      </p:sp>
      <p:sp>
        <p:nvSpPr>
          <p:cNvPr id="20" name="Text 16"/>
          <p:cNvSpPr/>
          <p:nvPr/>
        </p:nvSpPr>
        <p:spPr>
          <a:xfrm>
            <a:off x="4596282" y="2865120"/>
            <a:ext cx="3035706" cy="457200"/>
          </a:xfrm>
          <a:prstGeom prst="rect">
            <a:avLst/>
          </a:prstGeom>
          <a:noFill/>
          <a:ln/>
        </p:spPr>
        <p:txBody>
          <a:bodyPr wrap="square" rtlCol="0" anchor="t"/>
          <a:lstStyle/>
          <a:p>
            <a:pPr marL="0" indent="0" algn="l">
              <a:lnSpc>
                <a:spcPct val="120000"/>
              </a:lnSpc>
              <a:buNone/>
            </a:pPr>
            <a:r>
              <a:rPr lang="en-US" sz="1250" dirty="0">
                <a:solidFill>
                  <a:srgbClr val="1A1E2E"/>
                </a:solidFill>
                <a:latin typeface="Segoe UI" pitchFamily="34" charset="0"/>
                <a:ea typeface="Segoe UI" pitchFamily="34" charset="-122"/>
                <a:cs typeface="Segoe UI" pitchFamily="34" charset="-120"/>
              </a:rPr>
              <a:t>Single LightGCN + raw modal projectors. Bootstrap contrastive loss with EMA target encoder. </a:t>
            </a:r>
            <a:r>
              <a:rPr lang="en-US" sz="1250" b="1" dirty="0">
                <a:solidFill>
                  <a:srgbClr val="1A1E2E"/>
                </a:solidFill>
                <a:latin typeface="Segoe UI" pitchFamily="34" charset="0"/>
                <a:ea typeface="Segoe UI" pitchFamily="34" charset="-122"/>
                <a:cs typeface="Segoe UI" pitchFamily="34" charset="-120"/>
              </a:rPr>
              <a:t>No negative samples needed.</a:t>
            </a:r>
            <a:endParaRPr lang="en-US" sz="1250" dirty="0"/>
          </a:p>
        </p:txBody>
      </p:sp>
      <p:sp>
        <p:nvSpPr>
          <p:cNvPr id="21" name="Shape 17"/>
          <p:cNvSpPr/>
          <p:nvPr/>
        </p:nvSpPr>
        <p:spPr>
          <a:xfrm>
            <a:off x="4596282" y="5212080"/>
            <a:ext cx="1922069" cy="310896"/>
          </a:xfrm>
          <a:prstGeom prst="roundRect">
            <a:avLst>
              <a:gd name="adj" fmla="val 8824"/>
            </a:avLst>
          </a:prstGeom>
          <a:solidFill>
            <a:srgbClr val="FAE5E5"/>
          </a:solidFill>
          <a:ln/>
        </p:spPr>
        <p:txBody>
          <a:bodyPr/>
          <a:lstStyle/>
          <a:p>
            <a:endParaRPr lang="en-US"/>
          </a:p>
        </p:txBody>
      </p:sp>
      <p:sp>
        <p:nvSpPr>
          <p:cNvPr id="22" name="Text 18"/>
          <p:cNvSpPr/>
          <p:nvPr/>
        </p:nvSpPr>
        <p:spPr>
          <a:xfrm>
            <a:off x="4596282" y="5212080"/>
            <a:ext cx="1922069" cy="310896"/>
          </a:xfrm>
          <a:prstGeom prst="rect">
            <a:avLst/>
          </a:prstGeom>
          <a:noFill/>
          <a:ln/>
        </p:spPr>
        <p:txBody>
          <a:bodyPr wrap="none" rtlCol="0" anchor="ctr"/>
          <a:lstStyle/>
          <a:p>
            <a:pPr marL="0" indent="0" algn="ctr">
              <a:buNone/>
            </a:pPr>
            <a:r>
              <a:rPr lang="en-US" sz="1200" b="1" dirty="0">
                <a:solidFill>
                  <a:srgbClr val="C1272D"/>
                </a:solidFill>
                <a:latin typeface="Segoe UI" pitchFamily="34" charset="0"/>
                <a:ea typeface="Segoe UI" pitchFamily="34" charset="-122"/>
                <a:cs typeface="Segoe UI" pitchFamily="34" charset="-120"/>
              </a:rPr>
              <a:t>Model-level fusion</a:t>
            </a:r>
            <a:endParaRPr lang="en-US" sz="1200" dirty="0"/>
          </a:p>
        </p:txBody>
      </p:sp>
      <p:sp>
        <p:nvSpPr>
          <p:cNvPr id="23" name="Shape 19"/>
          <p:cNvSpPr/>
          <p:nvPr/>
        </p:nvSpPr>
        <p:spPr>
          <a:xfrm>
            <a:off x="8144053" y="1905000"/>
            <a:ext cx="3438042" cy="3810000"/>
          </a:xfrm>
          <a:prstGeom prst="roundRect">
            <a:avLst>
              <a:gd name="adj" fmla="val 1330"/>
            </a:avLst>
          </a:prstGeom>
          <a:solidFill>
            <a:srgbClr val="F0FAF5"/>
          </a:solidFill>
          <a:ln/>
        </p:spPr>
        <p:txBody>
          <a:bodyPr/>
          <a:lstStyle/>
          <a:p>
            <a:endParaRPr lang="en-US"/>
          </a:p>
        </p:txBody>
      </p:sp>
      <p:sp>
        <p:nvSpPr>
          <p:cNvPr id="24" name="Shape 20"/>
          <p:cNvSpPr/>
          <p:nvPr/>
        </p:nvSpPr>
        <p:spPr>
          <a:xfrm>
            <a:off x="8144053" y="1923288"/>
            <a:ext cx="50292" cy="3773424"/>
          </a:xfrm>
          <a:prstGeom prst="rect">
            <a:avLst/>
          </a:prstGeom>
          <a:solidFill>
            <a:srgbClr val="1A7A50"/>
          </a:solidFill>
          <a:ln/>
        </p:spPr>
        <p:txBody>
          <a:bodyPr/>
          <a:lstStyle/>
          <a:p>
            <a:endParaRPr lang="en-US"/>
          </a:p>
        </p:txBody>
      </p:sp>
      <p:sp>
        <p:nvSpPr>
          <p:cNvPr id="25" name="Text 21"/>
          <p:cNvSpPr/>
          <p:nvPr/>
        </p:nvSpPr>
        <p:spPr>
          <a:xfrm>
            <a:off x="8363509" y="2087880"/>
            <a:ext cx="3035706" cy="274320"/>
          </a:xfrm>
          <a:prstGeom prst="rect">
            <a:avLst/>
          </a:prstGeom>
          <a:noFill/>
          <a:ln/>
        </p:spPr>
        <p:txBody>
          <a:bodyPr wrap="square" rtlCol="0" anchor="ctr"/>
          <a:lstStyle/>
          <a:p>
            <a:pPr marL="0" indent="0" algn="l">
              <a:buNone/>
            </a:pPr>
            <a:r>
              <a:rPr lang="en-US" sz="1200" b="1" kern="0" spc="200" dirty="0">
                <a:solidFill>
                  <a:srgbClr val="1A7A50"/>
                </a:solidFill>
                <a:latin typeface="Segoe UI" pitchFamily="34" charset="0"/>
                <a:ea typeface="Segoe UI" pitchFamily="34" charset="-122"/>
                <a:cs typeface="Segoe UI" pitchFamily="34" charset="-120"/>
              </a:rPr>
              <a:t>FREEDOM</a:t>
            </a:r>
            <a:endParaRPr lang="en-US" sz="1200" dirty="0"/>
          </a:p>
        </p:txBody>
      </p:sp>
      <p:sp>
        <p:nvSpPr>
          <p:cNvPr id="26" name="Text 22"/>
          <p:cNvSpPr/>
          <p:nvPr/>
        </p:nvSpPr>
        <p:spPr>
          <a:xfrm>
            <a:off x="8363509" y="2453640"/>
            <a:ext cx="3035706"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Decoupled GNN + InfoNCE</a:t>
            </a:r>
            <a:endParaRPr lang="en-US" sz="1500" dirty="0"/>
          </a:p>
        </p:txBody>
      </p:sp>
      <p:sp>
        <p:nvSpPr>
          <p:cNvPr id="27" name="Text 23"/>
          <p:cNvSpPr/>
          <p:nvPr/>
        </p:nvSpPr>
        <p:spPr>
          <a:xfrm>
            <a:off x="8363509" y="2865120"/>
            <a:ext cx="3035706" cy="457200"/>
          </a:xfrm>
          <a:prstGeom prst="rect">
            <a:avLst/>
          </a:prstGeom>
          <a:noFill/>
          <a:ln/>
        </p:spPr>
        <p:txBody>
          <a:bodyPr wrap="square" rtlCol="0" anchor="t"/>
          <a:lstStyle/>
          <a:p>
            <a:pPr marL="0" indent="0" algn="l">
              <a:lnSpc>
                <a:spcPct val="120000"/>
              </a:lnSpc>
              <a:buNone/>
            </a:pPr>
            <a:r>
              <a:rPr lang="en-US" sz="1250" dirty="0">
                <a:solidFill>
                  <a:srgbClr val="1A1E2E"/>
                </a:solidFill>
                <a:latin typeface="Segoe UI" pitchFamily="34" charset="0"/>
                <a:ea typeface="Segoe UI" pitchFamily="34" charset="-122"/>
                <a:cs typeface="Segoe UI" pitchFamily="34" charset="-120"/>
              </a:rPr>
              <a:t>Maintains two independent views (CF + semantic). Aligns them via InfoNCE loss over a frozen kNN graph.</a:t>
            </a:r>
            <a:endParaRPr lang="en-US" sz="1250" dirty="0"/>
          </a:p>
        </p:txBody>
      </p:sp>
      <p:sp>
        <p:nvSpPr>
          <p:cNvPr id="28" name="Shape 24"/>
          <p:cNvSpPr/>
          <p:nvPr/>
        </p:nvSpPr>
        <p:spPr>
          <a:xfrm>
            <a:off x="8363509" y="5212080"/>
            <a:ext cx="1922069" cy="310896"/>
          </a:xfrm>
          <a:prstGeom prst="roundRect">
            <a:avLst>
              <a:gd name="adj" fmla="val 8824"/>
            </a:avLst>
          </a:prstGeom>
          <a:solidFill>
            <a:srgbClr val="D8F0E8"/>
          </a:solidFill>
          <a:ln/>
        </p:spPr>
        <p:txBody>
          <a:bodyPr/>
          <a:lstStyle/>
          <a:p>
            <a:endParaRPr lang="en-US"/>
          </a:p>
        </p:txBody>
      </p:sp>
      <p:sp>
        <p:nvSpPr>
          <p:cNvPr id="29" name="Text 25"/>
          <p:cNvSpPr/>
          <p:nvPr/>
        </p:nvSpPr>
        <p:spPr>
          <a:xfrm>
            <a:off x="8363509" y="5212080"/>
            <a:ext cx="1922069" cy="310896"/>
          </a:xfrm>
          <a:prstGeom prst="rect">
            <a:avLst/>
          </a:prstGeom>
          <a:noFill/>
          <a:ln/>
        </p:spPr>
        <p:txBody>
          <a:bodyPr wrap="none" rtlCol="0" anchor="ctr"/>
          <a:lstStyle/>
          <a:p>
            <a:pPr marL="0" indent="0" algn="ctr">
              <a:buNone/>
            </a:pPr>
            <a:r>
              <a:rPr lang="en-US" sz="1200" b="1" dirty="0">
                <a:solidFill>
                  <a:srgbClr val="1A7A50"/>
                </a:solidFill>
                <a:latin typeface="Segoe UI" pitchFamily="34" charset="0"/>
                <a:ea typeface="Segoe UI" pitchFamily="34" charset="-122"/>
                <a:cs typeface="Segoe UI" pitchFamily="34" charset="-120"/>
              </a:rPr>
              <a:t>Model-level fusion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05 · MODELS · COMBIGCN ARCHITECTURE</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CombiGCN fuses content at data level via</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a pre-computed item similarity graph</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10 / 20</a:t>
            </a:r>
            <a:endParaRPr lang="en-US" sz="1200" dirty="0"/>
          </a:p>
        </p:txBody>
      </p:sp>
      <p:sp>
        <p:nvSpPr>
          <p:cNvPr id="9" name="Text 5"/>
          <p:cNvSpPr/>
          <p:nvPr/>
        </p:nvSpPr>
        <p:spPr>
          <a:xfrm>
            <a:off x="609600" y="1905000"/>
            <a:ext cx="438899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Dual-Graph Propagation</a:t>
            </a:r>
            <a:endParaRPr lang="en-US" sz="1500" dirty="0"/>
          </a:p>
        </p:txBody>
      </p:sp>
      <p:sp>
        <p:nvSpPr>
          <p:cNvPr id="10" name="Shape 6"/>
          <p:cNvSpPr/>
          <p:nvPr/>
        </p:nvSpPr>
        <p:spPr>
          <a:xfrm>
            <a:off x="609600" y="2389632"/>
            <a:ext cx="64008" cy="64008"/>
          </a:xfrm>
          <a:prstGeom prst="ellipse">
            <a:avLst/>
          </a:prstGeom>
          <a:solidFill>
            <a:srgbClr val="1464B4"/>
          </a:solidFill>
          <a:ln/>
        </p:spPr>
        <p:txBody>
          <a:bodyPr/>
          <a:lstStyle/>
          <a:p>
            <a:endParaRPr lang="en-US"/>
          </a:p>
        </p:txBody>
      </p:sp>
      <p:sp>
        <p:nvSpPr>
          <p:cNvPr id="11" name="Text 7"/>
          <p:cNvSpPr/>
          <p:nvPr/>
        </p:nvSpPr>
        <p:spPr>
          <a:xfrm>
            <a:off x="755904" y="2307336"/>
            <a:ext cx="4242694" cy="457200"/>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Propagates representations on </a:t>
            </a:r>
            <a:r>
              <a:rPr lang="en-US" sz="1300" b="1" dirty="0">
                <a:solidFill>
                  <a:srgbClr val="1A1E2E"/>
                </a:solidFill>
                <a:latin typeface="Segoe UI" pitchFamily="34" charset="0"/>
                <a:ea typeface="Segoe UI" pitchFamily="34" charset="-122"/>
                <a:cs typeface="Segoe UI" pitchFamily="34" charset="-120"/>
              </a:rPr>
              <a:t>two graphs simultaneously</a:t>
            </a:r>
            <a:endParaRPr lang="en-US" sz="1300" dirty="0"/>
          </a:p>
        </p:txBody>
      </p:sp>
      <p:sp>
        <p:nvSpPr>
          <p:cNvPr id="12" name="Shape 8"/>
          <p:cNvSpPr/>
          <p:nvPr/>
        </p:nvSpPr>
        <p:spPr>
          <a:xfrm>
            <a:off x="883920" y="2764536"/>
            <a:ext cx="4114678" cy="502920"/>
          </a:xfrm>
          <a:prstGeom prst="roundRect">
            <a:avLst>
              <a:gd name="adj" fmla="val 9091"/>
            </a:avLst>
          </a:prstGeom>
          <a:solidFill>
            <a:srgbClr val="EEF3FA"/>
          </a:solidFill>
          <a:ln/>
        </p:spPr>
        <p:txBody>
          <a:bodyPr/>
          <a:lstStyle/>
          <a:p>
            <a:endParaRPr lang="en-US"/>
          </a:p>
        </p:txBody>
      </p:sp>
      <p:sp>
        <p:nvSpPr>
          <p:cNvPr id="13" name="Shape 9"/>
          <p:cNvSpPr/>
          <p:nvPr/>
        </p:nvSpPr>
        <p:spPr>
          <a:xfrm>
            <a:off x="883920" y="2782824"/>
            <a:ext cx="50292" cy="466344"/>
          </a:xfrm>
          <a:prstGeom prst="rect">
            <a:avLst/>
          </a:prstGeom>
          <a:solidFill>
            <a:srgbClr val="1464B4"/>
          </a:solidFill>
          <a:ln/>
        </p:spPr>
        <p:txBody>
          <a:bodyPr/>
          <a:lstStyle/>
          <a:p>
            <a:endParaRPr lang="en-US"/>
          </a:p>
        </p:txBody>
      </p:sp>
      <p:sp>
        <p:nvSpPr>
          <p:cNvPr id="14" name="Text 10"/>
          <p:cNvSpPr/>
          <p:nvPr/>
        </p:nvSpPr>
        <p:spPr>
          <a:xfrm>
            <a:off x="1066800" y="2874264"/>
            <a:ext cx="3840358" cy="457200"/>
          </a:xfrm>
          <a:prstGeom prst="rect">
            <a:avLst/>
          </a:prstGeom>
          <a:noFill/>
          <a:ln/>
        </p:spPr>
        <p:txBody>
          <a:bodyPr wrap="square" rtlCol="0" anchor="t"/>
          <a:lstStyle/>
          <a:p>
            <a:pPr marL="0" indent="0" algn="l">
              <a:lnSpc>
                <a:spcPct val="115000"/>
              </a:lnSpc>
              <a:buNone/>
            </a:pPr>
            <a:r>
              <a:rPr lang="en-US" sz="1150" dirty="0">
                <a:solidFill>
                  <a:srgbClr val="8899BB"/>
                </a:solidFill>
                <a:latin typeface="Segoe UI" pitchFamily="34" charset="0"/>
                <a:ea typeface="Segoe UI" pitchFamily="34" charset="-122"/>
                <a:cs typeface="Segoe UI" pitchFamily="34" charset="-120"/>
              </a:rPr>
              <a:t>① User–Item Collaborative Graph (CF branch)</a:t>
            </a:r>
            <a:endParaRPr lang="en-US" sz="1150" dirty="0"/>
          </a:p>
        </p:txBody>
      </p:sp>
      <p:sp>
        <p:nvSpPr>
          <p:cNvPr id="15" name="Shape 11"/>
          <p:cNvSpPr/>
          <p:nvPr/>
        </p:nvSpPr>
        <p:spPr>
          <a:xfrm>
            <a:off x="883920" y="3368040"/>
            <a:ext cx="4114678" cy="502920"/>
          </a:xfrm>
          <a:prstGeom prst="roundRect">
            <a:avLst>
              <a:gd name="adj" fmla="val 9091"/>
            </a:avLst>
          </a:prstGeom>
          <a:solidFill>
            <a:srgbClr val="EEF3FA"/>
          </a:solidFill>
          <a:ln/>
        </p:spPr>
        <p:txBody>
          <a:bodyPr/>
          <a:lstStyle/>
          <a:p>
            <a:endParaRPr lang="en-US"/>
          </a:p>
        </p:txBody>
      </p:sp>
      <p:sp>
        <p:nvSpPr>
          <p:cNvPr id="16" name="Shape 12"/>
          <p:cNvSpPr/>
          <p:nvPr/>
        </p:nvSpPr>
        <p:spPr>
          <a:xfrm>
            <a:off x="883920" y="3386328"/>
            <a:ext cx="50292" cy="466344"/>
          </a:xfrm>
          <a:prstGeom prst="rect">
            <a:avLst/>
          </a:prstGeom>
          <a:solidFill>
            <a:srgbClr val="1464B4"/>
          </a:solidFill>
          <a:ln/>
        </p:spPr>
        <p:txBody>
          <a:bodyPr/>
          <a:lstStyle/>
          <a:p>
            <a:endParaRPr lang="en-US"/>
          </a:p>
        </p:txBody>
      </p:sp>
      <p:sp>
        <p:nvSpPr>
          <p:cNvPr id="17" name="Text 13"/>
          <p:cNvSpPr/>
          <p:nvPr/>
        </p:nvSpPr>
        <p:spPr>
          <a:xfrm>
            <a:off x="1066800" y="3477768"/>
            <a:ext cx="3840358" cy="457200"/>
          </a:xfrm>
          <a:prstGeom prst="rect">
            <a:avLst/>
          </a:prstGeom>
          <a:noFill/>
          <a:ln/>
        </p:spPr>
        <p:txBody>
          <a:bodyPr wrap="square" rtlCol="0" anchor="t"/>
          <a:lstStyle/>
          <a:p>
            <a:pPr marL="0" indent="0" algn="l">
              <a:lnSpc>
                <a:spcPct val="115000"/>
              </a:lnSpc>
              <a:buNone/>
            </a:pPr>
            <a:r>
              <a:rPr lang="en-US" sz="1150" dirty="0">
                <a:solidFill>
                  <a:srgbClr val="8899BB"/>
                </a:solidFill>
                <a:latin typeface="Segoe UI" pitchFamily="34" charset="0"/>
                <a:ea typeface="Segoe UI" pitchFamily="34" charset="-122"/>
                <a:cs typeface="Segoe UI" pitchFamily="34" charset="-120"/>
              </a:rPr>
              <a:t>② Item–Item Content Similarity Graph (semantic branch)</a:t>
            </a:r>
            <a:endParaRPr lang="en-US" sz="1150" dirty="0"/>
          </a:p>
        </p:txBody>
      </p:sp>
      <p:sp>
        <p:nvSpPr>
          <p:cNvPr id="18" name="Shape 14"/>
          <p:cNvSpPr/>
          <p:nvPr/>
        </p:nvSpPr>
        <p:spPr>
          <a:xfrm>
            <a:off x="609600" y="4108704"/>
            <a:ext cx="64008" cy="64008"/>
          </a:xfrm>
          <a:prstGeom prst="ellipse">
            <a:avLst/>
          </a:prstGeom>
          <a:solidFill>
            <a:srgbClr val="1464B4"/>
          </a:solidFill>
          <a:ln/>
        </p:spPr>
        <p:txBody>
          <a:bodyPr/>
          <a:lstStyle/>
          <a:p>
            <a:endParaRPr lang="en-US"/>
          </a:p>
        </p:txBody>
      </p:sp>
      <p:sp>
        <p:nvSpPr>
          <p:cNvPr id="19" name="Text 15"/>
          <p:cNvSpPr/>
          <p:nvPr/>
        </p:nvSpPr>
        <p:spPr>
          <a:xfrm>
            <a:off x="755904" y="4026408"/>
            <a:ext cx="4242694" cy="548640"/>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Layer-wise fusion</a:t>
            </a:r>
            <a:r>
              <a:rPr lang="en-US" sz="1300" dirty="0">
                <a:solidFill>
                  <a:srgbClr val="1A1E2E"/>
                </a:solidFill>
                <a:latin typeface="Segoe UI" pitchFamily="34" charset="0"/>
                <a:ea typeface="Segoe UI" pitchFamily="34" charset="-122"/>
                <a:cs typeface="Segoe UI" pitchFamily="34" charset="-120"/>
              </a:rPr>
              <a:t> — CF + semantic representations merged at each GCN layer</a:t>
            </a:r>
            <a:endParaRPr lang="en-US" sz="1300" dirty="0"/>
          </a:p>
        </p:txBody>
      </p:sp>
      <p:sp>
        <p:nvSpPr>
          <p:cNvPr id="20" name="Shape 16"/>
          <p:cNvSpPr/>
          <p:nvPr/>
        </p:nvSpPr>
        <p:spPr>
          <a:xfrm>
            <a:off x="5328798" y="1905000"/>
            <a:ext cx="6253297" cy="3810000"/>
          </a:xfrm>
          <a:prstGeom prst="roundRect">
            <a:avLst>
              <a:gd name="adj" fmla="val 1200"/>
            </a:avLst>
          </a:prstGeom>
          <a:solidFill>
            <a:srgbClr val="F5F7FB"/>
          </a:solidFill>
          <a:ln/>
        </p:spPr>
        <p:txBody>
          <a:bodyPr/>
          <a:lstStyle/>
          <a:p>
            <a:endParaRPr lang="en-US"/>
          </a:p>
        </p:txBody>
      </p:sp>
      <p:pic>
        <p:nvPicPr>
          <p:cNvPr id="21" name="Image 1" descr="E:\DoCode\CD2\01_Report_CD2_FashionRecommendation\4_docs\02_Present\present_v2\uploads\pasted-1781801152776-0.png"/>
          <p:cNvPicPr>
            <a:picLocks noChangeAspect="1"/>
          </p:cNvPicPr>
          <p:nvPr/>
        </p:nvPicPr>
        <p:blipFill>
          <a:blip r:embed="rId4"/>
          <a:srcRect/>
          <a:stretch/>
        </p:blipFill>
        <p:spPr>
          <a:xfrm>
            <a:off x="5456814" y="2033016"/>
            <a:ext cx="5997265" cy="35539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05 · MODELS · BM3 ARCHITECTURE</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BM3 aligns modalities via bootstrap loss —</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no negatives, strong implicit regularizer</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11 / 20</a:t>
            </a:r>
            <a:endParaRPr lang="en-US" sz="1200" dirty="0"/>
          </a:p>
        </p:txBody>
      </p:sp>
      <p:sp>
        <p:nvSpPr>
          <p:cNvPr id="9" name="Text 5"/>
          <p:cNvSpPr/>
          <p:nvPr/>
        </p:nvSpPr>
        <p:spPr>
          <a:xfrm>
            <a:off x="609600" y="1905000"/>
            <a:ext cx="438899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Bootstrap Contrastive Learning</a:t>
            </a:r>
            <a:endParaRPr lang="en-US" sz="1500" dirty="0"/>
          </a:p>
        </p:txBody>
      </p:sp>
      <p:sp>
        <p:nvSpPr>
          <p:cNvPr id="10" name="Shape 6"/>
          <p:cNvSpPr/>
          <p:nvPr/>
        </p:nvSpPr>
        <p:spPr>
          <a:xfrm>
            <a:off x="609600" y="2389632"/>
            <a:ext cx="64008" cy="64008"/>
          </a:xfrm>
          <a:prstGeom prst="ellipse">
            <a:avLst/>
          </a:prstGeom>
          <a:solidFill>
            <a:srgbClr val="C1272D"/>
          </a:solidFill>
          <a:ln/>
        </p:spPr>
        <p:txBody>
          <a:bodyPr/>
          <a:lstStyle/>
          <a:p>
            <a:endParaRPr lang="en-US"/>
          </a:p>
        </p:txBody>
      </p:sp>
      <p:sp>
        <p:nvSpPr>
          <p:cNvPr id="11" name="Text 7"/>
          <p:cNvSpPr/>
          <p:nvPr/>
        </p:nvSpPr>
        <p:spPr>
          <a:xfrm>
            <a:off x="755904" y="2307336"/>
            <a:ext cx="4242694" cy="658368"/>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Aligns collaborative branch &amp; modal projectors via </a:t>
            </a:r>
            <a:r>
              <a:rPr lang="en-US" sz="1300" b="1" dirty="0">
                <a:solidFill>
                  <a:srgbClr val="1A1E2E"/>
                </a:solidFill>
                <a:latin typeface="Segoe UI" pitchFamily="34" charset="0"/>
                <a:ea typeface="Segoe UI" pitchFamily="34" charset="-122"/>
                <a:cs typeface="Segoe UI" pitchFamily="34" charset="-120"/>
              </a:rPr>
              <a:t>self-supervised bootstrap loss</a:t>
            </a:r>
            <a:endParaRPr lang="en-US" sz="1300" dirty="0"/>
          </a:p>
        </p:txBody>
      </p:sp>
      <p:sp>
        <p:nvSpPr>
          <p:cNvPr id="12" name="Shape 8"/>
          <p:cNvSpPr/>
          <p:nvPr/>
        </p:nvSpPr>
        <p:spPr>
          <a:xfrm>
            <a:off x="609600" y="3066288"/>
            <a:ext cx="64008" cy="64008"/>
          </a:xfrm>
          <a:prstGeom prst="ellipse">
            <a:avLst/>
          </a:prstGeom>
          <a:solidFill>
            <a:srgbClr val="C1272D"/>
          </a:solidFill>
          <a:ln/>
        </p:spPr>
        <p:txBody>
          <a:bodyPr/>
          <a:lstStyle/>
          <a:p>
            <a:endParaRPr lang="en-US"/>
          </a:p>
        </p:txBody>
      </p:sp>
      <p:sp>
        <p:nvSpPr>
          <p:cNvPr id="13" name="Text 9"/>
          <p:cNvSpPr/>
          <p:nvPr/>
        </p:nvSpPr>
        <p:spPr>
          <a:xfrm>
            <a:off x="755904" y="2983992"/>
            <a:ext cx="4242694" cy="658368"/>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EMA (Exponential Moving Average) target encoder stabilizes training — no gradient on target</a:t>
            </a:r>
            <a:endParaRPr lang="en-US" sz="1300" dirty="0"/>
          </a:p>
        </p:txBody>
      </p:sp>
      <p:sp>
        <p:nvSpPr>
          <p:cNvPr id="14" name="Shape 10"/>
          <p:cNvSpPr/>
          <p:nvPr/>
        </p:nvSpPr>
        <p:spPr>
          <a:xfrm>
            <a:off x="609600" y="3742944"/>
            <a:ext cx="64008" cy="64008"/>
          </a:xfrm>
          <a:prstGeom prst="ellipse">
            <a:avLst/>
          </a:prstGeom>
          <a:solidFill>
            <a:srgbClr val="C1272D"/>
          </a:solidFill>
          <a:ln/>
        </p:spPr>
        <p:txBody>
          <a:bodyPr/>
          <a:lstStyle/>
          <a:p>
            <a:endParaRPr lang="en-US"/>
          </a:p>
        </p:txBody>
      </p:sp>
      <p:sp>
        <p:nvSpPr>
          <p:cNvPr id="15" name="Text 11"/>
          <p:cNvSpPr/>
          <p:nvPr/>
        </p:nvSpPr>
        <p:spPr>
          <a:xfrm>
            <a:off x="755904" y="3660648"/>
            <a:ext cx="4242694" cy="658368"/>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Requires </a:t>
            </a:r>
            <a:r>
              <a:rPr lang="en-US" sz="1300" b="1" dirty="0">
                <a:solidFill>
                  <a:srgbClr val="1A1E2E"/>
                </a:solidFill>
                <a:latin typeface="Segoe UI" pitchFamily="34" charset="0"/>
                <a:ea typeface="Segoe UI" pitchFamily="34" charset="-122"/>
                <a:cs typeface="Segoe UI" pitchFamily="34" charset="-120"/>
              </a:rPr>
              <a:t>no negative samples</a:t>
            </a:r>
            <a:r>
              <a:rPr lang="en-US" sz="1300" dirty="0">
                <a:solidFill>
                  <a:srgbClr val="1A1E2E"/>
                </a:solidFill>
                <a:latin typeface="Segoe UI" pitchFamily="34" charset="0"/>
                <a:ea typeface="Segoe UI" pitchFamily="34" charset="-122"/>
                <a:cs typeface="Segoe UI" pitchFamily="34" charset="-120"/>
              </a:rPr>
              <a:t> → eliminates batch-size dependency</a:t>
            </a:r>
            <a:endParaRPr lang="en-US" sz="1300" dirty="0"/>
          </a:p>
        </p:txBody>
      </p:sp>
      <p:sp>
        <p:nvSpPr>
          <p:cNvPr id="16" name="Shape 12"/>
          <p:cNvSpPr/>
          <p:nvPr/>
        </p:nvSpPr>
        <p:spPr>
          <a:xfrm>
            <a:off x="609600" y="4419600"/>
            <a:ext cx="64008" cy="64008"/>
          </a:xfrm>
          <a:prstGeom prst="ellipse">
            <a:avLst/>
          </a:prstGeom>
          <a:solidFill>
            <a:srgbClr val="C1272D"/>
          </a:solidFill>
          <a:ln/>
        </p:spPr>
        <p:txBody>
          <a:bodyPr/>
          <a:lstStyle/>
          <a:p>
            <a:endParaRPr lang="en-US"/>
          </a:p>
        </p:txBody>
      </p:sp>
      <p:sp>
        <p:nvSpPr>
          <p:cNvPr id="17" name="Text 13"/>
          <p:cNvSpPr/>
          <p:nvPr/>
        </p:nvSpPr>
        <p:spPr>
          <a:xfrm>
            <a:off x="755904" y="4337304"/>
            <a:ext cx="4242694" cy="658368"/>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Acts as a strong regularizer — explains why BM3 resists overfitting on VCR’s sparse log</a:t>
            </a:r>
            <a:endParaRPr lang="en-US" sz="1300" dirty="0"/>
          </a:p>
        </p:txBody>
      </p:sp>
      <p:sp>
        <p:nvSpPr>
          <p:cNvPr id="18" name="Shape 14"/>
          <p:cNvSpPr/>
          <p:nvPr/>
        </p:nvSpPr>
        <p:spPr>
          <a:xfrm>
            <a:off x="5328798" y="1905000"/>
            <a:ext cx="6253297" cy="3810000"/>
          </a:xfrm>
          <a:prstGeom prst="roundRect">
            <a:avLst>
              <a:gd name="adj" fmla="val 1200"/>
            </a:avLst>
          </a:prstGeom>
          <a:solidFill>
            <a:srgbClr val="F5F7FB"/>
          </a:solidFill>
          <a:ln/>
        </p:spPr>
        <p:txBody>
          <a:bodyPr/>
          <a:lstStyle/>
          <a:p>
            <a:endParaRPr lang="en-US"/>
          </a:p>
        </p:txBody>
      </p:sp>
      <p:pic>
        <p:nvPicPr>
          <p:cNvPr id="19" name="Image 1" descr="E:\DoCode\CD2\01_Report_CD2_FashionRecommendation\4_docs\02_Present\present_v2\uploads\bm3.png"/>
          <p:cNvPicPr>
            <a:picLocks noChangeAspect="1"/>
          </p:cNvPicPr>
          <p:nvPr/>
        </p:nvPicPr>
        <p:blipFill>
          <a:blip r:embed="rId4"/>
          <a:srcRect/>
          <a:stretch/>
        </p:blipFill>
        <p:spPr>
          <a:xfrm>
            <a:off x="5456814" y="2029968"/>
            <a:ext cx="5997265" cy="35539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A7A50"/>
                </a:solidFill>
                <a:latin typeface="Segoe UI" pitchFamily="34" charset="0"/>
                <a:ea typeface="Segoe UI" pitchFamily="34" charset="-122"/>
                <a:cs typeface="Segoe UI" pitchFamily="34" charset="-120"/>
              </a:rPr>
              <a:t>05 · MODELS · FREEDOM ARCHITECTURE</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FREEDOM decouples CF and semantic views,</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aligned via frozen kNN + InfoNCE loss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12 / 20</a:t>
            </a:r>
            <a:endParaRPr lang="en-US" sz="1200" dirty="0"/>
          </a:p>
        </p:txBody>
      </p:sp>
      <p:sp>
        <p:nvSpPr>
          <p:cNvPr id="9" name="Text 5"/>
          <p:cNvSpPr/>
          <p:nvPr/>
        </p:nvSpPr>
        <p:spPr>
          <a:xfrm>
            <a:off x="609600" y="1905000"/>
            <a:ext cx="4388998" cy="320040"/>
          </a:xfrm>
          <a:prstGeom prst="rect">
            <a:avLst/>
          </a:prstGeom>
          <a:noFill/>
          <a:ln/>
        </p:spPr>
        <p:txBody>
          <a:bodyPr wrap="square" rtlCol="0" anchor="t"/>
          <a:lstStyle/>
          <a:p>
            <a:pPr marL="0" indent="0" algn="l">
              <a:buNone/>
            </a:pPr>
            <a:r>
              <a:rPr lang="en-US" sz="1500" b="1" dirty="0">
                <a:solidFill>
                  <a:srgbClr val="1A7A50"/>
                </a:solidFill>
                <a:latin typeface="Segoe UI" pitchFamily="34" charset="0"/>
                <a:ea typeface="Segoe UI" pitchFamily="34" charset="-122"/>
                <a:cs typeface="Segoe UI" pitchFamily="34" charset="-120"/>
              </a:rPr>
              <a:t>Decoupled GNN Architecture</a:t>
            </a:r>
            <a:endParaRPr lang="en-US" sz="1500" dirty="0"/>
          </a:p>
        </p:txBody>
      </p:sp>
      <p:sp>
        <p:nvSpPr>
          <p:cNvPr id="10" name="Shape 6"/>
          <p:cNvSpPr/>
          <p:nvPr/>
        </p:nvSpPr>
        <p:spPr>
          <a:xfrm>
            <a:off x="609600" y="2389632"/>
            <a:ext cx="64008" cy="64008"/>
          </a:xfrm>
          <a:prstGeom prst="ellipse">
            <a:avLst/>
          </a:prstGeom>
          <a:solidFill>
            <a:srgbClr val="1A7A50"/>
          </a:solidFill>
          <a:ln/>
        </p:spPr>
        <p:txBody>
          <a:bodyPr/>
          <a:lstStyle/>
          <a:p>
            <a:endParaRPr lang="en-US"/>
          </a:p>
        </p:txBody>
      </p:sp>
      <p:sp>
        <p:nvSpPr>
          <p:cNvPr id="11" name="Text 7"/>
          <p:cNvSpPr/>
          <p:nvPr/>
        </p:nvSpPr>
        <p:spPr>
          <a:xfrm>
            <a:off x="755904" y="2307336"/>
            <a:ext cx="4242694" cy="457200"/>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Maintains </a:t>
            </a:r>
            <a:r>
              <a:rPr lang="en-US" sz="1300" b="1" dirty="0">
                <a:solidFill>
                  <a:srgbClr val="1A1E2E"/>
                </a:solidFill>
                <a:latin typeface="Segoe UI" pitchFamily="34" charset="0"/>
                <a:ea typeface="Segoe UI" pitchFamily="34" charset="-122"/>
                <a:cs typeface="Segoe UI" pitchFamily="34" charset="-120"/>
              </a:rPr>
              <a:t>two independent views</a:t>
            </a:r>
            <a:r>
              <a:rPr lang="en-US" sz="1300" dirty="0">
                <a:solidFill>
                  <a:srgbClr val="1A1E2E"/>
                </a:solidFill>
                <a:latin typeface="Segoe UI" pitchFamily="34" charset="0"/>
                <a:ea typeface="Segoe UI" pitchFamily="34" charset="-122"/>
                <a:cs typeface="Segoe UI" pitchFamily="34" charset="-120"/>
              </a:rPr>
              <a:t> during training</a:t>
            </a:r>
            <a:endParaRPr lang="en-US" sz="1300" dirty="0"/>
          </a:p>
        </p:txBody>
      </p:sp>
      <p:sp>
        <p:nvSpPr>
          <p:cNvPr id="12" name="Shape 8"/>
          <p:cNvSpPr/>
          <p:nvPr/>
        </p:nvSpPr>
        <p:spPr>
          <a:xfrm>
            <a:off x="883920" y="2764536"/>
            <a:ext cx="4114678" cy="502920"/>
          </a:xfrm>
          <a:prstGeom prst="roundRect">
            <a:avLst>
              <a:gd name="adj" fmla="val 9091"/>
            </a:avLst>
          </a:prstGeom>
          <a:solidFill>
            <a:srgbClr val="EEF3FA"/>
          </a:solidFill>
          <a:ln/>
        </p:spPr>
        <p:txBody>
          <a:bodyPr/>
          <a:lstStyle/>
          <a:p>
            <a:endParaRPr lang="en-US"/>
          </a:p>
        </p:txBody>
      </p:sp>
      <p:sp>
        <p:nvSpPr>
          <p:cNvPr id="13" name="Shape 9"/>
          <p:cNvSpPr/>
          <p:nvPr/>
        </p:nvSpPr>
        <p:spPr>
          <a:xfrm>
            <a:off x="883920" y="2782824"/>
            <a:ext cx="50292" cy="466344"/>
          </a:xfrm>
          <a:prstGeom prst="rect">
            <a:avLst/>
          </a:prstGeom>
          <a:solidFill>
            <a:srgbClr val="1A7A50"/>
          </a:solidFill>
          <a:ln/>
        </p:spPr>
        <p:txBody>
          <a:bodyPr/>
          <a:lstStyle/>
          <a:p>
            <a:endParaRPr lang="en-US"/>
          </a:p>
        </p:txBody>
      </p:sp>
      <p:sp>
        <p:nvSpPr>
          <p:cNvPr id="14" name="Text 10"/>
          <p:cNvSpPr/>
          <p:nvPr/>
        </p:nvSpPr>
        <p:spPr>
          <a:xfrm>
            <a:off x="1066800" y="2874264"/>
            <a:ext cx="3840358" cy="457200"/>
          </a:xfrm>
          <a:prstGeom prst="rect">
            <a:avLst/>
          </a:prstGeom>
          <a:noFill/>
          <a:ln/>
        </p:spPr>
        <p:txBody>
          <a:bodyPr wrap="square" rtlCol="0" anchor="t"/>
          <a:lstStyle/>
          <a:p>
            <a:pPr marL="0" indent="0" algn="l">
              <a:lnSpc>
                <a:spcPct val="115000"/>
              </a:lnSpc>
              <a:buNone/>
            </a:pPr>
            <a:r>
              <a:rPr lang="en-US" sz="1150" dirty="0">
                <a:solidFill>
                  <a:srgbClr val="8899BB"/>
                </a:solidFill>
                <a:latin typeface="Segoe UI" pitchFamily="34" charset="0"/>
                <a:ea typeface="Segoe UI" pitchFamily="34" charset="-122"/>
                <a:cs typeface="Segoe UI" pitchFamily="34" charset="-120"/>
              </a:rPr>
              <a:t>① Collaborative View (CF): user–item interaction graph</a:t>
            </a:r>
            <a:endParaRPr lang="en-US" sz="1150" dirty="0"/>
          </a:p>
        </p:txBody>
      </p:sp>
      <p:sp>
        <p:nvSpPr>
          <p:cNvPr id="15" name="Shape 11"/>
          <p:cNvSpPr/>
          <p:nvPr/>
        </p:nvSpPr>
        <p:spPr>
          <a:xfrm>
            <a:off x="883920" y="3368040"/>
            <a:ext cx="4114678" cy="502920"/>
          </a:xfrm>
          <a:prstGeom prst="roundRect">
            <a:avLst>
              <a:gd name="adj" fmla="val 9091"/>
            </a:avLst>
          </a:prstGeom>
          <a:solidFill>
            <a:srgbClr val="EEF3FA"/>
          </a:solidFill>
          <a:ln/>
        </p:spPr>
        <p:txBody>
          <a:bodyPr/>
          <a:lstStyle/>
          <a:p>
            <a:endParaRPr lang="en-US"/>
          </a:p>
        </p:txBody>
      </p:sp>
      <p:sp>
        <p:nvSpPr>
          <p:cNvPr id="16" name="Shape 12"/>
          <p:cNvSpPr/>
          <p:nvPr/>
        </p:nvSpPr>
        <p:spPr>
          <a:xfrm>
            <a:off x="883920" y="3386328"/>
            <a:ext cx="50292" cy="466344"/>
          </a:xfrm>
          <a:prstGeom prst="rect">
            <a:avLst/>
          </a:prstGeom>
          <a:solidFill>
            <a:srgbClr val="1A7A50"/>
          </a:solidFill>
          <a:ln/>
        </p:spPr>
        <p:txBody>
          <a:bodyPr/>
          <a:lstStyle/>
          <a:p>
            <a:endParaRPr lang="en-US"/>
          </a:p>
        </p:txBody>
      </p:sp>
      <p:sp>
        <p:nvSpPr>
          <p:cNvPr id="17" name="Text 13"/>
          <p:cNvSpPr/>
          <p:nvPr/>
        </p:nvSpPr>
        <p:spPr>
          <a:xfrm>
            <a:off x="1066800" y="3477768"/>
            <a:ext cx="3840358" cy="457200"/>
          </a:xfrm>
          <a:prstGeom prst="rect">
            <a:avLst/>
          </a:prstGeom>
          <a:noFill/>
          <a:ln/>
        </p:spPr>
        <p:txBody>
          <a:bodyPr wrap="square" rtlCol="0" anchor="t"/>
          <a:lstStyle/>
          <a:p>
            <a:pPr marL="0" indent="0" algn="l">
              <a:lnSpc>
                <a:spcPct val="115000"/>
              </a:lnSpc>
              <a:buNone/>
            </a:pPr>
            <a:r>
              <a:rPr lang="en-US" sz="1150" dirty="0">
                <a:solidFill>
                  <a:srgbClr val="8899BB"/>
                </a:solidFill>
                <a:latin typeface="Segoe UI" pitchFamily="34" charset="0"/>
                <a:ea typeface="Segoe UI" pitchFamily="34" charset="-122"/>
                <a:cs typeface="Segoe UI" pitchFamily="34" charset="-120"/>
              </a:rPr>
              <a:t>② Semantic View: item–item kNN similarity graph</a:t>
            </a:r>
            <a:endParaRPr lang="en-US" sz="1150" dirty="0"/>
          </a:p>
        </p:txBody>
      </p:sp>
      <p:sp>
        <p:nvSpPr>
          <p:cNvPr id="18" name="Shape 14"/>
          <p:cNvSpPr/>
          <p:nvPr/>
        </p:nvSpPr>
        <p:spPr>
          <a:xfrm>
            <a:off x="609600" y="4108704"/>
            <a:ext cx="64008" cy="64008"/>
          </a:xfrm>
          <a:prstGeom prst="ellipse">
            <a:avLst/>
          </a:prstGeom>
          <a:solidFill>
            <a:srgbClr val="1A7A50"/>
          </a:solidFill>
          <a:ln/>
        </p:spPr>
        <p:txBody>
          <a:bodyPr/>
          <a:lstStyle/>
          <a:p>
            <a:endParaRPr lang="en-US"/>
          </a:p>
        </p:txBody>
      </p:sp>
      <p:sp>
        <p:nvSpPr>
          <p:cNvPr id="19" name="Text 15"/>
          <p:cNvSpPr/>
          <p:nvPr/>
        </p:nvSpPr>
        <p:spPr>
          <a:xfrm>
            <a:off x="755904" y="4026408"/>
            <a:ext cx="4242694" cy="548640"/>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InfoNCE alignment</a:t>
            </a:r>
            <a:r>
              <a:rPr lang="en-US" sz="1300" dirty="0">
                <a:solidFill>
                  <a:srgbClr val="1A1E2E"/>
                </a:solidFill>
                <a:latin typeface="Segoe UI" pitchFamily="34" charset="0"/>
                <a:ea typeface="Segoe UI" pitchFamily="34" charset="-122"/>
                <a:cs typeface="Segoe UI" pitchFamily="34" charset="-120"/>
              </a:rPr>
              <a:t> — contrastive loss aligns GNN representations with frozen kNN graph</a:t>
            </a:r>
            <a:endParaRPr lang="en-US" sz="1300" dirty="0"/>
          </a:p>
        </p:txBody>
      </p:sp>
      <p:sp>
        <p:nvSpPr>
          <p:cNvPr id="20" name="Shape 16"/>
          <p:cNvSpPr/>
          <p:nvPr/>
        </p:nvSpPr>
        <p:spPr>
          <a:xfrm>
            <a:off x="5328798" y="1905000"/>
            <a:ext cx="6253297" cy="3810000"/>
          </a:xfrm>
          <a:prstGeom prst="roundRect">
            <a:avLst>
              <a:gd name="adj" fmla="val 1200"/>
            </a:avLst>
          </a:prstGeom>
          <a:solidFill>
            <a:srgbClr val="F5F7FB"/>
          </a:solidFill>
          <a:ln/>
        </p:spPr>
        <p:txBody>
          <a:bodyPr/>
          <a:lstStyle/>
          <a:p>
            <a:endParaRPr lang="en-US"/>
          </a:p>
        </p:txBody>
      </p:sp>
      <p:pic>
        <p:nvPicPr>
          <p:cNvPr id="21" name="Image 1" descr="E:\DoCode\CD2\01_Report_CD2_FashionRecommendation\4_docs\02_Present\present_v2\uploads\pasted-1781801166860-0.png"/>
          <p:cNvPicPr>
            <a:picLocks noChangeAspect="1"/>
          </p:cNvPicPr>
          <p:nvPr/>
        </p:nvPicPr>
        <p:blipFill>
          <a:blip r:embed="rId4"/>
          <a:srcRect/>
          <a:stretch/>
        </p:blipFill>
        <p:spPr>
          <a:xfrm>
            <a:off x="5456814" y="2033016"/>
            <a:ext cx="5997265" cy="35539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06 · MULTIMODAL INTEGRATION DESIGN</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Data-level vs. model-level: two fundamentally</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different philosophies for injecting content</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13 / 20</a:t>
            </a:r>
            <a:endParaRPr lang="en-US" sz="1200" dirty="0"/>
          </a:p>
        </p:txBody>
      </p:sp>
      <p:sp>
        <p:nvSpPr>
          <p:cNvPr id="9" name="Shape 5"/>
          <p:cNvSpPr/>
          <p:nvPr/>
        </p:nvSpPr>
        <p:spPr>
          <a:xfrm>
            <a:off x="609600" y="1905000"/>
            <a:ext cx="5321148" cy="3810000"/>
          </a:xfrm>
          <a:prstGeom prst="roundRect">
            <a:avLst>
              <a:gd name="adj" fmla="val 1200"/>
            </a:avLst>
          </a:prstGeom>
          <a:solidFill>
            <a:srgbClr val="EEF3FA"/>
          </a:solidFill>
          <a:ln/>
        </p:spPr>
        <p:txBody>
          <a:bodyPr/>
          <a:lstStyle/>
          <a:p>
            <a:endParaRPr lang="en-US"/>
          </a:p>
        </p:txBody>
      </p:sp>
      <p:sp>
        <p:nvSpPr>
          <p:cNvPr id="10" name="Shape 6"/>
          <p:cNvSpPr/>
          <p:nvPr/>
        </p:nvSpPr>
        <p:spPr>
          <a:xfrm>
            <a:off x="609600" y="1923288"/>
            <a:ext cx="50292" cy="3773424"/>
          </a:xfrm>
          <a:prstGeom prst="rect">
            <a:avLst/>
          </a:prstGeom>
          <a:solidFill>
            <a:srgbClr val="1464B4"/>
          </a:solidFill>
          <a:ln/>
        </p:spPr>
        <p:txBody>
          <a:bodyPr/>
          <a:lstStyle/>
          <a:p>
            <a:endParaRPr lang="en-US"/>
          </a:p>
        </p:txBody>
      </p:sp>
      <p:sp>
        <p:nvSpPr>
          <p:cNvPr id="11" name="Text 7"/>
          <p:cNvSpPr/>
          <p:nvPr/>
        </p:nvSpPr>
        <p:spPr>
          <a:xfrm>
            <a:off x="829056" y="2069592"/>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DATA-LEVEL · COMBIGCN</a:t>
            </a:r>
            <a:endParaRPr lang="en-US" sz="1200" dirty="0"/>
          </a:p>
        </p:txBody>
      </p:sp>
      <p:sp>
        <p:nvSpPr>
          <p:cNvPr id="12" name="Text 8"/>
          <p:cNvSpPr/>
          <p:nvPr/>
        </p:nvSpPr>
        <p:spPr>
          <a:xfrm>
            <a:off x="829056" y="2362200"/>
            <a:ext cx="4882236"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Fusion happens </a:t>
            </a:r>
            <a:r>
              <a:rPr lang="en-US" sz="1250" b="1" dirty="0">
                <a:solidFill>
                  <a:srgbClr val="1A1E2E"/>
                </a:solidFill>
                <a:latin typeface="Segoe UI" pitchFamily="34" charset="0"/>
                <a:ea typeface="Segoe UI" pitchFamily="34" charset="-122"/>
                <a:cs typeface="Segoe UI" pitchFamily="34" charset="-120"/>
              </a:rPr>
              <a:t>offline</a:t>
            </a:r>
            <a:r>
              <a:rPr lang="en-US" sz="1250" dirty="0">
                <a:solidFill>
                  <a:srgbClr val="1A1E2E"/>
                </a:solidFill>
                <a:latin typeface="Segoe UI" pitchFamily="34" charset="0"/>
                <a:ea typeface="Segoe UI" pitchFamily="34" charset="-122"/>
                <a:cs typeface="Segoe UI" pitchFamily="34" charset="-120"/>
              </a:rPr>
              <a:t> at the data layer — before any model sees the data</a:t>
            </a:r>
            <a:endParaRPr lang="en-US" sz="1250" dirty="0"/>
          </a:p>
        </p:txBody>
      </p:sp>
      <p:sp>
        <p:nvSpPr>
          <p:cNvPr id="13" name="Shape 9"/>
          <p:cNvSpPr/>
          <p:nvPr/>
        </p:nvSpPr>
        <p:spPr>
          <a:xfrm>
            <a:off x="829056" y="3038856"/>
            <a:ext cx="64008" cy="64008"/>
          </a:xfrm>
          <a:prstGeom prst="ellipse">
            <a:avLst/>
          </a:prstGeom>
          <a:solidFill>
            <a:srgbClr val="1464B4"/>
          </a:solidFill>
          <a:ln/>
        </p:spPr>
        <p:txBody>
          <a:bodyPr/>
          <a:lstStyle/>
          <a:p>
            <a:endParaRPr lang="en-US"/>
          </a:p>
        </p:txBody>
      </p:sp>
      <p:sp>
        <p:nvSpPr>
          <p:cNvPr id="14" name="Text 10"/>
          <p:cNvSpPr/>
          <p:nvPr/>
        </p:nvSpPr>
        <p:spPr>
          <a:xfrm>
            <a:off x="975360" y="2956560"/>
            <a:ext cx="4735932" cy="548640"/>
          </a:xfrm>
          <a:prstGeom prst="rect">
            <a:avLst/>
          </a:prstGeom>
          <a:noFill/>
          <a:ln/>
        </p:spPr>
        <p:txBody>
          <a:bodyPr wrap="square" rtlCol="0" anchor="t"/>
          <a:lstStyle/>
          <a:p>
            <a:pPr marL="0" indent="0" algn="l">
              <a:lnSpc>
                <a:spcPct val="110000"/>
              </a:lnSpc>
              <a:buNone/>
            </a:pPr>
            <a:r>
              <a:rPr lang="en-US" sz="1300" dirty="0">
                <a:solidFill>
                  <a:srgbClr val="1A1E2E"/>
                </a:solidFill>
                <a:latin typeface="Segoe UI" pitchFamily="34" charset="0"/>
                <a:ea typeface="Segoe UI" pitchFamily="34" charset="-122"/>
                <a:cs typeface="Segoe UI" pitchFamily="34" charset="-120"/>
              </a:rPr>
              <a:t>Visual + textual → item–item similarity matrix </a:t>
            </a:r>
            <a:r>
              <a:rPr lang="en-US" sz="1300" dirty="0">
                <a:solidFill>
                  <a:srgbClr val="1A7A50"/>
                </a:solidFill>
                <a:latin typeface="Consolas" pitchFamily="34" charset="0"/>
                <a:ea typeface="Consolas" pitchFamily="34" charset="-122"/>
                <a:cs typeface="Consolas" pitchFamily="34" charset="-120"/>
              </a:rPr>
              <a:t>S</a:t>
            </a:r>
            <a:r>
              <a:rPr lang="en-US" sz="1300" dirty="0">
                <a:solidFill>
                  <a:srgbClr val="1A1E2E"/>
                </a:solidFill>
                <a:latin typeface="Segoe UI" pitchFamily="34" charset="0"/>
                <a:ea typeface="Segoe UI" pitchFamily="34" charset="-122"/>
                <a:cs typeface="Segoe UI" pitchFamily="34" charset="-120"/>
              </a:rPr>
              <a:t> (cosine, thresholded, normalised, cached)</a:t>
            </a:r>
            <a:endParaRPr lang="en-US" sz="1300" dirty="0"/>
          </a:p>
        </p:txBody>
      </p:sp>
      <p:sp>
        <p:nvSpPr>
          <p:cNvPr id="15" name="Shape 11"/>
          <p:cNvSpPr/>
          <p:nvPr/>
        </p:nvSpPr>
        <p:spPr>
          <a:xfrm>
            <a:off x="829056" y="3678936"/>
            <a:ext cx="64008" cy="64008"/>
          </a:xfrm>
          <a:prstGeom prst="ellipse">
            <a:avLst/>
          </a:prstGeom>
          <a:solidFill>
            <a:srgbClr val="1464B4"/>
          </a:solidFill>
          <a:ln/>
        </p:spPr>
        <p:txBody>
          <a:bodyPr/>
          <a:lstStyle/>
          <a:p>
            <a:endParaRPr lang="en-US"/>
          </a:p>
        </p:txBody>
      </p:sp>
      <p:sp>
        <p:nvSpPr>
          <p:cNvPr id="16" name="Text 12"/>
          <p:cNvSpPr/>
          <p:nvPr/>
        </p:nvSpPr>
        <p:spPr>
          <a:xfrm>
            <a:off x="975360" y="3596640"/>
            <a:ext cx="4735932" cy="640080"/>
          </a:xfrm>
          <a:prstGeom prst="rect">
            <a:avLst/>
          </a:prstGeom>
          <a:noFill/>
          <a:ln/>
        </p:spPr>
        <p:txBody>
          <a:bodyPr wrap="square" rtlCol="0" anchor="t"/>
          <a:lstStyle/>
          <a:p>
            <a:pPr marL="0" indent="0" algn="l">
              <a:lnSpc>
                <a:spcPct val="110000"/>
              </a:lnSpc>
              <a:buNone/>
            </a:pPr>
            <a:r>
              <a:rPr lang="en-US" sz="1300" dirty="0">
                <a:solidFill>
                  <a:srgbClr val="1A7A50"/>
                </a:solidFill>
                <a:latin typeface="Consolas" pitchFamily="34" charset="0"/>
                <a:ea typeface="Consolas" pitchFamily="34" charset="-122"/>
                <a:cs typeface="Consolas" pitchFamily="34" charset="-120"/>
              </a:rPr>
              <a:t>S</a:t>
            </a:r>
            <a:r>
              <a:rPr lang="en-US" sz="1300" dirty="0">
                <a:solidFill>
                  <a:srgbClr val="1A1E2E"/>
                </a:solidFill>
                <a:latin typeface="Segoe UI" pitchFamily="34" charset="0"/>
                <a:ea typeface="Segoe UI" pitchFamily="34" charset="-122"/>
                <a:cs typeface="Segoe UI" pitchFamily="34" charset="-120"/>
              </a:rPr>
              <a:t> acts as a </a:t>
            </a:r>
            <a:r>
              <a:rPr lang="en-US" sz="1300" b="1" dirty="0">
                <a:solidFill>
                  <a:srgbClr val="1A1E2E"/>
                </a:solidFill>
                <a:latin typeface="Segoe UI" pitchFamily="34" charset="0"/>
                <a:ea typeface="Segoe UI" pitchFamily="34" charset="-122"/>
                <a:cs typeface="Segoe UI" pitchFamily="34" charset="-120"/>
              </a:rPr>
              <a:t>static structural prior</a:t>
            </a:r>
            <a:r>
              <a:rPr lang="en-US" sz="1300" dirty="0">
                <a:solidFill>
                  <a:srgbClr val="1A1E2E"/>
                </a:solidFill>
                <a:latin typeface="Segoe UI" pitchFamily="34" charset="0"/>
                <a:ea typeface="Segoe UI" pitchFamily="34" charset="-122"/>
                <a:cs typeface="Segoe UI" pitchFamily="34" charset="-120"/>
              </a:rPr>
              <a:t> guiding graph propagation — decoupled from feature dimensionality</a:t>
            </a:r>
            <a:endParaRPr lang="en-US" sz="1300" dirty="0"/>
          </a:p>
        </p:txBody>
      </p:sp>
      <p:sp>
        <p:nvSpPr>
          <p:cNvPr id="17" name="Shape 13"/>
          <p:cNvSpPr/>
          <p:nvPr/>
        </p:nvSpPr>
        <p:spPr>
          <a:xfrm>
            <a:off x="829056" y="5212080"/>
            <a:ext cx="3189427" cy="310896"/>
          </a:xfrm>
          <a:prstGeom prst="roundRect">
            <a:avLst>
              <a:gd name="adj" fmla="val 8824"/>
            </a:avLst>
          </a:prstGeom>
          <a:solidFill>
            <a:srgbClr val="DEEAF9"/>
          </a:solidFill>
          <a:ln/>
        </p:spPr>
        <p:txBody>
          <a:bodyPr/>
          <a:lstStyle/>
          <a:p>
            <a:endParaRPr lang="en-US"/>
          </a:p>
        </p:txBody>
      </p:sp>
      <p:sp>
        <p:nvSpPr>
          <p:cNvPr id="18" name="Text 14"/>
          <p:cNvSpPr/>
          <p:nvPr/>
        </p:nvSpPr>
        <p:spPr>
          <a:xfrm>
            <a:off x="829056" y="5212080"/>
            <a:ext cx="3189427" cy="310896"/>
          </a:xfrm>
          <a:prstGeom prst="rect">
            <a:avLst/>
          </a:prstGeom>
          <a:noFill/>
          <a:ln/>
        </p:spPr>
        <p:txBody>
          <a:bodyPr wrap="none" rtlCol="0" anchor="ctr"/>
          <a:lstStyle/>
          <a:p>
            <a:pPr marL="0" indent="0" algn="ctr">
              <a:buNone/>
            </a:pPr>
            <a:r>
              <a:rPr lang="en-US" sz="1200" b="1" dirty="0">
                <a:solidFill>
                  <a:srgbClr val="1464B4"/>
                </a:solidFill>
                <a:latin typeface="Segoe UI" pitchFamily="34" charset="0"/>
                <a:ea typeface="Segoe UI" pitchFamily="34" charset="-122"/>
                <a:cs typeface="Segoe UI" pitchFamily="34" charset="-120"/>
              </a:rPr>
              <a:t>Offline · Static · Interpretable</a:t>
            </a:r>
            <a:endParaRPr lang="en-US" sz="1200" dirty="0"/>
          </a:p>
        </p:txBody>
      </p:sp>
      <p:sp>
        <p:nvSpPr>
          <p:cNvPr id="19" name="Shape 15"/>
          <p:cNvSpPr/>
          <p:nvPr/>
        </p:nvSpPr>
        <p:spPr>
          <a:xfrm>
            <a:off x="6260948" y="1905000"/>
            <a:ext cx="5321148" cy="3810000"/>
          </a:xfrm>
          <a:prstGeom prst="roundRect">
            <a:avLst>
              <a:gd name="adj" fmla="val 1200"/>
            </a:avLst>
          </a:prstGeom>
          <a:solidFill>
            <a:srgbClr val="FDF3F3"/>
          </a:solidFill>
          <a:ln/>
        </p:spPr>
        <p:txBody>
          <a:bodyPr/>
          <a:lstStyle/>
          <a:p>
            <a:endParaRPr lang="en-US"/>
          </a:p>
        </p:txBody>
      </p:sp>
      <p:sp>
        <p:nvSpPr>
          <p:cNvPr id="20" name="Shape 16"/>
          <p:cNvSpPr/>
          <p:nvPr/>
        </p:nvSpPr>
        <p:spPr>
          <a:xfrm>
            <a:off x="6260948" y="1923288"/>
            <a:ext cx="50292" cy="3773424"/>
          </a:xfrm>
          <a:prstGeom prst="rect">
            <a:avLst/>
          </a:prstGeom>
          <a:solidFill>
            <a:srgbClr val="C1272D"/>
          </a:solidFill>
          <a:ln/>
        </p:spPr>
        <p:txBody>
          <a:bodyPr/>
          <a:lstStyle/>
          <a:p>
            <a:endParaRPr lang="en-US"/>
          </a:p>
        </p:txBody>
      </p:sp>
      <p:sp>
        <p:nvSpPr>
          <p:cNvPr id="21" name="Text 17"/>
          <p:cNvSpPr/>
          <p:nvPr/>
        </p:nvSpPr>
        <p:spPr>
          <a:xfrm>
            <a:off x="6480404" y="2069592"/>
            <a:ext cx="4918812"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MODEL-LEVEL · BM3 · FREEDOM</a:t>
            </a:r>
            <a:endParaRPr lang="en-US" sz="1200" dirty="0"/>
          </a:p>
        </p:txBody>
      </p:sp>
      <p:sp>
        <p:nvSpPr>
          <p:cNvPr id="22" name="Text 18"/>
          <p:cNvSpPr/>
          <p:nvPr/>
        </p:nvSpPr>
        <p:spPr>
          <a:xfrm>
            <a:off x="6480404" y="2362200"/>
            <a:ext cx="4882236"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Raw embeddings projected into CF space and fused </a:t>
            </a:r>
            <a:r>
              <a:rPr lang="en-US" sz="1250" b="1" dirty="0">
                <a:solidFill>
                  <a:srgbClr val="1A1E2E"/>
                </a:solidFill>
                <a:latin typeface="Segoe UI" pitchFamily="34" charset="0"/>
                <a:ea typeface="Segoe UI" pitchFamily="34" charset="-122"/>
                <a:cs typeface="Segoe UI" pitchFamily="34" charset="-120"/>
              </a:rPr>
              <a:t>end-to-end</a:t>
            </a:r>
            <a:endParaRPr lang="en-US" sz="1250" dirty="0"/>
          </a:p>
        </p:txBody>
      </p:sp>
      <p:sp>
        <p:nvSpPr>
          <p:cNvPr id="23" name="Shape 19"/>
          <p:cNvSpPr/>
          <p:nvPr/>
        </p:nvSpPr>
        <p:spPr>
          <a:xfrm>
            <a:off x="6480404" y="2901696"/>
            <a:ext cx="64008" cy="64008"/>
          </a:xfrm>
          <a:prstGeom prst="ellipse">
            <a:avLst/>
          </a:prstGeom>
          <a:solidFill>
            <a:srgbClr val="C1272D"/>
          </a:solidFill>
          <a:ln/>
        </p:spPr>
        <p:txBody>
          <a:bodyPr/>
          <a:lstStyle/>
          <a:p>
            <a:endParaRPr lang="en-US"/>
          </a:p>
        </p:txBody>
      </p:sp>
      <p:sp>
        <p:nvSpPr>
          <p:cNvPr id="24" name="Text 20"/>
          <p:cNvSpPr/>
          <p:nvPr/>
        </p:nvSpPr>
        <p:spPr>
          <a:xfrm>
            <a:off x="6626708" y="2819400"/>
            <a:ext cx="4735932" cy="502920"/>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Late fusion (multimodal):</a:t>
            </a:r>
            <a:r>
              <a:rPr lang="en-US" sz="1300" dirty="0">
                <a:solidFill>
                  <a:srgbClr val="1A1E2E"/>
                </a:solidFill>
                <a:latin typeface="Segoe UI" pitchFamily="34" charset="0"/>
                <a:ea typeface="Segoe UI" pitchFamily="34" charset="-122"/>
                <a:cs typeface="Segoe UI" pitchFamily="34" charset="-120"/>
              </a:rPr>
              <a:t> element-wise average </a:t>
            </a:r>
            <a:r>
              <a:rPr lang="en-US" sz="1300" dirty="0">
                <a:solidFill>
                  <a:srgbClr val="1A7A50"/>
                </a:solidFill>
                <a:latin typeface="Consolas" pitchFamily="34" charset="0"/>
                <a:ea typeface="Consolas" pitchFamily="34" charset="-122"/>
                <a:cs typeface="Consolas" pitchFamily="34" charset="-120"/>
              </a:rPr>
              <a:t>e = (hᵥ + hₜ) / 2</a:t>
            </a:r>
            <a:endParaRPr lang="en-US" sz="1300" dirty="0"/>
          </a:p>
        </p:txBody>
      </p:sp>
      <p:sp>
        <p:nvSpPr>
          <p:cNvPr id="25" name="Shape 21"/>
          <p:cNvSpPr/>
          <p:nvPr/>
        </p:nvSpPr>
        <p:spPr>
          <a:xfrm>
            <a:off x="6480404" y="3450336"/>
            <a:ext cx="64008" cy="64008"/>
          </a:xfrm>
          <a:prstGeom prst="ellipse">
            <a:avLst/>
          </a:prstGeom>
          <a:solidFill>
            <a:srgbClr val="C1272D"/>
          </a:solidFill>
          <a:ln/>
        </p:spPr>
        <p:txBody>
          <a:bodyPr/>
          <a:lstStyle/>
          <a:p>
            <a:endParaRPr lang="en-US"/>
          </a:p>
        </p:txBody>
      </p:sp>
      <p:sp>
        <p:nvSpPr>
          <p:cNvPr id="26" name="Text 22"/>
          <p:cNvSpPr/>
          <p:nvPr/>
        </p:nvSpPr>
        <p:spPr>
          <a:xfrm>
            <a:off x="6626708" y="3368040"/>
            <a:ext cx="4735932" cy="502920"/>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Attention gating:</a:t>
            </a:r>
            <a:r>
              <a:rPr lang="en-US" sz="1300" dirty="0">
                <a:solidFill>
                  <a:srgbClr val="1A1E2E"/>
                </a:solidFill>
                <a:latin typeface="Segoe UI" pitchFamily="34" charset="0"/>
                <a:ea typeface="Segoe UI" pitchFamily="34" charset="-122"/>
                <a:cs typeface="Segoe UI" pitchFamily="34" charset="-120"/>
              </a:rPr>
              <a:t> learnable α weights each modality — risks overfitting on sparse data</a:t>
            </a:r>
            <a:endParaRPr lang="en-US" sz="1300" dirty="0"/>
          </a:p>
        </p:txBody>
      </p:sp>
      <p:sp>
        <p:nvSpPr>
          <p:cNvPr id="27" name="Shape 23"/>
          <p:cNvSpPr/>
          <p:nvPr/>
        </p:nvSpPr>
        <p:spPr>
          <a:xfrm>
            <a:off x="6480404" y="3998976"/>
            <a:ext cx="64008" cy="64008"/>
          </a:xfrm>
          <a:prstGeom prst="ellipse">
            <a:avLst/>
          </a:prstGeom>
          <a:solidFill>
            <a:srgbClr val="C1272D"/>
          </a:solidFill>
          <a:ln/>
        </p:spPr>
        <p:txBody>
          <a:bodyPr/>
          <a:lstStyle/>
          <a:p>
            <a:endParaRPr lang="en-US"/>
          </a:p>
        </p:txBody>
      </p:sp>
      <p:sp>
        <p:nvSpPr>
          <p:cNvPr id="28" name="Text 24"/>
          <p:cNvSpPr/>
          <p:nvPr/>
        </p:nvSpPr>
        <p:spPr>
          <a:xfrm>
            <a:off x="6626708" y="3916680"/>
            <a:ext cx="4735932" cy="457200"/>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img_only / text_only:</a:t>
            </a:r>
            <a:r>
              <a:rPr lang="en-US" sz="1300" dirty="0">
                <a:solidFill>
                  <a:srgbClr val="1A1E2E"/>
                </a:solidFill>
                <a:latin typeface="Segoe UI" pitchFamily="34" charset="0"/>
                <a:ea typeface="Segoe UI" pitchFamily="34" charset="-122"/>
                <a:cs typeface="Segoe UI" pitchFamily="34" charset="-120"/>
              </a:rPr>
              <a:t> single-modality ablation baselines</a:t>
            </a:r>
            <a:endParaRPr lang="en-US" sz="1300" dirty="0"/>
          </a:p>
        </p:txBody>
      </p:sp>
      <p:sp>
        <p:nvSpPr>
          <p:cNvPr id="29" name="Shape 25"/>
          <p:cNvSpPr/>
          <p:nvPr/>
        </p:nvSpPr>
        <p:spPr>
          <a:xfrm>
            <a:off x="6480404" y="5212080"/>
            <a:ext cx="3098902" cy="310896"/>
          </a:xfrm>
          <a:prstGeom prst="roundRect">
            <a:avLst>
              <a:gd name="adj" fmla="val 8824"/>
            </a:avLst>
          </a:prstGeom>
          <a:solidFill>
            <a:srgbClr val="FAE5E5"/>
          </a:solidFill>
          <a:ln/>
        </p:spPr>
        <p:txBody>
          <a:bodyPr/>
          <a:lstStyle/>
          <a:p>
            <a:endParaRPr lang="en-US"/>
          </a:p>
        </p:txBody>
      </p:sp>
      <p:sp>
        <p:nvSpPr>
          <p:cNvPr id="30" name="Text 26"/>
          <p:cNvSpPr/>
          <p:nvPr/>
        </p:nvSpPr>
        <p:spPr>
          <a:xfrm>
            <a:off x="6480404" y="5212080"/>
            <a:ext cx="3098902" cy="310896"/>
          </a:xfrm>
          <a:prstGeom prst="rect">
            <a:avLst/>
          </a:prstGeom>
          <a:noFill/>
          <a:ln/>
        </p:spPr>
        <p:txBody>
          <a:bodyPr wrap="none" rtlCol="0" anchor="ctr"/>
          <a:lstStyle/>
          <a:p>
            <a:pPr marL="0" indent="0" algn="ctr">
              <a:buNone/>
            </a:pPr>
            <a:r>
              <a:rPr lang="en-US" sz="1200" b="1" dirty="0">
                <a:solidFill>
                  <a:srgbClr val="C1272D"/>
                </a:solidFill>
                <a:latin typeface="Segoe UI" pitchFamily="34" charset="0"/>
                <a:ea typeface="Segoe UI" pitchFamily="34" charset="-122"/>
                <a:cs typeface="Segoe UI" pitchFamily="34" charset="-120"/>
              </a:rPr>
              <a:t>Online · Learnable · End-to-end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07 · RQ1 — VISUAL ENCODER</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MobileNetV2 leads in late-fusion configs;</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CLIP dominates modal-only — no universal winner</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14 / 20</a:t>
            </a:r>
            <a:endParaRPr lang="en-US" sz="1200" dirty="0"/>
          </a:p>
        </p:txBody>
      </p:sp>
      <p:sp>
        <p:nvSpPr>
          <p:cNvPr id="9" name="Text 5"/>
          <p:cNvSpPr/>
          <p:nvPr/>
        </p:nvSpPr>
        <p:spPr>
          <a:xfrm>
            <a:off x="609600"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NDCG@10 — Late Fusion configs</a:t>
            </a:r>
            <a:endParaRPr lang="en-US" sz="1500" dirty="0"/>
          </a:p>
        </p:txBody>
      </p:sp>
      <p:sp>
        <p:nvSpPr>
          <p:cNvPr id="10" name="Text 6"/>
          <p:cNvSpPr/>
          <p:nvPr/>
        </p:nvSpPr>
        <p:spPr>
          <a:xfrm>
            <a:off x="609600" y="2270760"/>
            <a:ext cx="5321148" cy="237744"/>
          </a:xfrm>
          <a:prstGeom prst="rect">
            <a:avLst/>
          </a:prstGeom>
          <a:noFill/>
          <a:ln/>
        </p:spPr>
        <p:txBody>
          <a:bodyPr wrap="square" rtlCol="0" anchor="ctr"/>
          <a:lstStyle/>
          <a:p>
            <a:pPr marL="0" indent="0">
              <a:buNone/>
            </a:pPr>
            <a:r>
              <a:rPr lang="en-US" sz="1100" dirty="0">
                <a:solidFill>
                  <a:srgbClr val="1A1E2E"/>
                </a:solidFill>
                <a:latin typeface="Segoe UI" pitchFamily="34" charset="0"/>
                <a:ea typeface="Segoe UI" pitchFamily="34" charset="-122"/>
                <a:cs typeface="Segoe UI" pitchFamily="34" charset="-120"/>
              </a:rPr>
              <a:t>MobileNetV2 </a:t>
            </a:r>
            <a:r>
              <a:rPr lang="en-US" sz="1100" dirty="0">
                <a:solidFill>
                  <a:srgbClr val="1464B4"/>
                </a:solidFill>
                <a:latin typeface="Segoe UI" pitchFamily="34" charset="0"/>
                <a:ea typeface="Segoe UI" pitchFamily="34" charset="-122"/>
                <a:cs typeface="Segoe UI" pitchFamily="34" charset="-120"/>
              </a:rPr>
              <a:t>■</a:t>
            </a:r>
            <a:r>
              <a:rPr lang="en-US" sz="1100" dirty="0">
                <a:solidFill>
                  <a:srgbClr val="1A1E2E"/>
                </a:solidFill>
                <a:latin typeface="Segoe UI" pitchFamily="34" charset="0"/>
                <a:ea typeface="Segoe UI" pitchFamily="34" charset="-122"/>
                <a:cs typeface="Segoe UI" pitchFamily="34" charset="-120"/>
              </a:rPr>
              <a:t>   vs CLIP </a:t>
            </a:r>
            <a:r>
              <a:rPr lang="en-US" sz="1100" dirty="0">
                <a:solidFill>
                  <a:srgbClr val="AAB8D0"/>
                </a:solidFill>
                <a:latin typeface="Segoe UI" pitchFamily="34" charset="0"/>
                <a:ea typeface="Segoe UI" pitchFamily="34" charset="-122"/>
                <a:cs typeface="Segoe UI" pitchFamily="34" charset="-120"/>
              </a:rPr>
              <a:t>■</a:t>
            </a:r>
            <a:endParaRPr lang="en-US" sz="1100" dirty="0"/>
          </a:p>
        </p:txBody>
      </p:sp>
      <p:sp>
        <p:nvSpPr>
          <p:cNvPr id="11" name="Text 7"/>
          <p:cNvSpPr/>
          <p:nvPr/>
        </p:nvSpPr>
        <p:spPr>
          <a:xfrm>
            <a:off x="609600" y="2563368"/>
            <a:ext cx="1691640" cy="27432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BM3 · MBNv2</a:t>
            </a:r>
            <a:endParaRPr lang="en-US" sz="1100" dirty="0"/>
          </a:p>
        </p:txBody>
      </p:sp>
      <p:sp>
        <p:nvSpPr>
          <p:cNvPr id="12" name="Shape 8"/>
          <p:cNvSpPr/>
          <p:nvPr/>
        </p:nvSpPr>
        <p:spPr>
          <a:xfrm>
            <a:off x="2346960" y="2581656"/>
            <a:ext cx="2897988" cy="237744"/>
          </a:xfrm>
          <a:prstGeom prst="roundRect">
            <a:avLst>
              <a:gd name="adj" fmla="val 7692"/>
            </a:avLst>
          </a:prstGeom>
          <a:solidFill>
            <a:srgbClr val="E4EAF4"/>
          </a:solidFill>
          <a:ln/>
        </p:spPr>
        <p:txBody>
          <a:bodyPr/>
          <a:lstStyle/>
          <a:p>
            <a:endParaRPr lang="en-US"/>
          </a:p>
        </p:txBody>
      </p:sp>
      <p:sp>
        <p:nvSpPr>
          <p:cNvPr id="13" name="Shape 9"/>
          <p:cNvSpPr/>
          <p:nvPr/>
        </p:nvSpPr>
        <p:spPr>
          <a:xfrm>
            <a:off x="2346960" y="2581656"/>
            <a:ext cx="2695128" cy="237744"/>
          </a:xfrm>
          <a:prstGeom prst="roundRect">
            <a:avLst>
              <a:gd name="adj" fmla="val 7692"/>
            </a:avLst>
          </a:prstGeom>
          <a:solidFill>
            <a:srgbClr val="1464B4"/>
          </a:solidFill>
          <a:ln/>
        </p:spPr>
        <p:txBody>
          <a:bodyPr/>
          <a:lstStyle/>
          <a:p>
            <a:endParaRPr lang="en-US"/>
          </a:p>
        </p:txBody>
      </p:sp>
      <p:sp>
        <p:nvSpPr>
          <p:cNvPr id="14" name="Text 10"/>
          <p:cNvSpPr/>
          <p:nvPr/>
        </p:nvSpPr>
        <p:spPr>
          <a:xfrm>
            <a:off x="5290668" y="2563368"/>
            <a:ext cx="640080" cy="27432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0.0186</a:t>
            </a:r>
            <a:endParaRPr lang="en-US" sz="1100" dirty="0"/>
          </a:p>
        </p:txBody>
      </p:sp>
      <p:sp>
        <p:nvSpPr>
          <p:cNvPr id="15" name="Text 11"/>
          <p:cNvSpPr/>
          <p:nvPr/>
        </p:nvSpPr>
        <p:spPr>
          <a:xfrm>
            <a:off x="609600" y="2901696"/>
            <a:ext cx="1691640" cy="27432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BM3 · CLIP</a:t>
            </a:r>
            <a:endParaRPr lang="en-US" sz="1100" dirty="0"/>
          </a:p>
        </p:txBody>
      </p:sp>
      <p:sp>
        <p:nvSpPr>
          <p:cNvPr id="16" name="Shape 12"/>
          <p:cNvSpPr/>
          <p:nvPr/>
        </p:nvSpPr>
        <p:spPr>
          <a:xfrm>
            <a:off x="2346960" y="2919984"/>
            <a:ext cx="2897988" cy="237744"/>
          </a:xfrm>
          <a:prstGeom prst="roundRect">
            <a:avLst>
              <a:gd name="adj" fmla="val 7692"/>
            </a:avLst>
          </a:prstGeom>
          <a:solidFill>
            <a:srgbClr val="E4EAF4"/>
          </a:solidFill>
          <a:ln/>
        </p:spPr>
        <p:txBody>
          <a:bodyPr/>
          <a:lstStyle/>
          <a:p>
            <a:endParaRPr lang="en-US"/>
          </a:p>
        </p:txBody>
      </p:sp>
      <p:sp>
        <p:nvSpPr>
          <p:cNvPr id="17" name="Shape 13"/>
          <p:cNvSpPr/>
          <p:nvPr/>
        </p:nvSpPr>
        <p:spPr>
          <a:xfrm>
            <a:off x="2346960" y="2919984"/>
            <a:ext cx="2057571" cy="237744"/>
          </a:xfrm>
          <a:prstGeom prst="roundRect">
            <a:avLst>
              <a:gd name="adj" fmla="val 7692"/>
            </a:avLst>
          </a:prstGeom>
          <a:solidFill>
            <a:srgbClr val="AAB8D0"/>
          </a:solidFill>
          <a:ln/>
        </p:spPr>
        <p:txBody>
          <a:bodyPr/>
          <a:lstStyle/>
          <a:p>
            <a:endParaRPr lang="en-US"/>
          </a:p>
        </p:txBody>
      </p:sp>
      <p:sp>
        <p:nvSpPr>
          <p:cNvPr id="18" name="Text 14"/>
          <p:cNvSpPr/>
          <p:nvPr/>
        </p:nvSpPr>
        <p:spPr>
          <a:xfrm>
            <a:off x="5290668" y="2901696"/>
            <a:ext cx="640080" cy="27432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0.0142</a:t>
            </a:r>
            <a:endParaRPr lang="en-US" sz="1100" dirty="0"/>
          </a:p>
        </p:txBody>
      </p:sp>
      <p:sp>
        <p:nvSpPr>
          <p:cNvPr id="19" name="Text 15"/>
          <p:cNvSpPr/>
          <p:nvPr/>
        </p:nvSpPr>
        <p:spPr>
          <a:xfrm>
            <a:off x="609600" y="3368040"/>
            <a:ext cx="1691640" cy="27432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CombiGCN · MBNv2</a:t>
            </a:r>
            <a:endParaRPr lang="en-US" sz="1100" dirty="0"/>
          </a:p>
        </p:txBody>
      </p:sp>
      <p:sp>
        <p:nvSpPr>
          <p:cNvPr id="20" name="Shape 16"/>
          <p:cNvSpPr/>
          <p:nvPr/>
        </p:nvSpPr>
        <p:spPr>
          <a:xfrm>
            <a:off x="2346960" y="3386328"/>
            <a:ext cx="2897988" cy="237744"/>
          </a:xfrm>
          <a:prstGeom prst="roundRect">
            <a:avLst>
              <a:gd name="adj" fmla="val 7692"/>
            </a:avLst>
          </a:prstGeom>
          <a:solidFill>
            <a:srgbClr val="E4EAF4"/>
          </a:solidFill>
          <a:ln/>
        </p:spPr>
        <p:txBody>
          <a:bodyPr/>
          <a:lstStyle/>
          <a:p>
            <a:endParaRPr lang="en-US"/>
          </a:p>
        </p:txBody>
      </p:sp>
      <p:sp>
        <p:nvSpPr>
          <p:cNvPr id="21" name="Shape 17"/>
          <p:cNvSpPr/>
          <p:nvPr/>
        </p:nvSpPr>
        <p:spPr>
          <a:xfrm>
            <a:off x="2346960" y="3386328"/>
            <a:ext cx="2550229" cy="237744"/>
          </a:xfrm>
          <a:prstGeom prst="roundRect">
            <a:avLst>
              <a:gd name="adj" fmla="val 7692"/>
            </a:avLst>
          </a:prstGeom>
          <a:solidFill>
            <a:srgbClr val="1464B4"/>
          </a:solidFill>
          <a:ln/>
        </p:spPr>
        <p:txBody>
          <a:bodyPr/>
          <a:lstStyle/>
          <a:p>
            <a:endParaRPr lang="en-US"/>
          </a:p>
        </p:txBody>
      </p:sp>
      <p:sp>
        <p:nvSpPr>
          <p:cNvPr id="22" name="Text 18"/>
          <p:cNvSpPr/>
          <p:nvPr/>
        </p:nvSpPr>
        <p:spPr>
          <a:xfrm>
            <a:off x="5290668" y="3368040"/>
            <a:ext cx="640080" cy="27432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0.0175</a:t>
            </a:r>
            <a:endParaRPr lang="en-US" sz="1100" dirty="0"/>
          </a:p>
        </p:txBody>
      </p:sp>
      <p:sp>
        <p:nvSpPr>
          <p:cNvPr id="23" name="Text 19"/>
          <p:cNvSpPr/>
          <p:nvPr/>
        </p:nvSpPr>
        <p:spPr>
          <a:xfrm>
            <a:off x="609600" y="3706368"/>
            <a:ext cx="1691640" cy="27432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CombiGCN · CLIP</a:t>
            </a:r>
            <a:endParaRPr lang="en-US" sz="1100" dirty="0"/>
          </a:p>
        </p:txBody>
      </p:sp>
      <p:sp>
        <p:nvSpPr>
          <p:cNvPr id="24" name="Shape 20"/>
          <p:cNvSpPr/>
          <p:nvPr/>
        </p:nvSpPr>
        <p:spPr>
          <a:xfrm>
            <a:off x="2346960" y="3724656"/>
            <a:ext cx="2897988" cy="237744"/>
          </a:xfrm>
          <a:prstGeom prst="roundRect">
            <a:avLst>
              <a:gd name="adj" fmla="val 7692"/>
            </a:avLst>
          </a:prstGeom>
          <a:solidFill>
            <a:srgbClr val="E4EAF4"/>
          </a:solidFill>
          <a:ln/>
        </p:spPr>
        <p:txBody>
          <a:bodyPr/>
          <a:lstStyle/>
          <a:p>
            <a:endParaRPr lang="en-US"/>
          </a:p>
        </p:txBody>
      </p:sp>
      <p:sp>
        <p:nvSpPr>
          <p:cNvPr id="25" name="Shape 21"/>
          <p:cNvSpPr/>
          <p:nvPr/>
        </p:nvSpPr>
        <p:spPr>
          <a:xfrm>
            <a:off x="2346960" y="3724656"/>
            <a:ext cx="2521249" cy="237744"/>
          </a:xfrm>
          <a:prstGeom prst="roundRect">
            <a:avLst>
              <a:gd name="adj" fmla="val 7692"/>
            </a:avLst>
          </a:prstGeom>
          <a:solidFill>
            <a:srgbClr val="AAB8D0"/>
          </a:solidFill>
          <a:ln/>
        </p:spPr>
        <p:txBody>
          <a:bodyPr/>
          <a:lstStyle/>
          <a:p>
            <a:endParaRPr lang="en-US"/>
          </a:p>
        </p:txBody>
      </p:sp>
      <p:sp>
        <p:nvSpPr>
          <p:cNvPr id="26" name="Text 22"/>
          <p:cNvSpPr/>
          <p:nvPr/>
        </p:nvSpPr>
        <p:spPr>
          <a:xfrm>
            <a:off x="5290668" y="3706368"/>
            <a:ext cx="640080" cy="27432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0.0174</a:t>
            </a:r>
            <a:endParaRPr lang="en-US" sz="1100" dirty="0"/>
          </a:p>
        </p:txBody>
      </p:sp>
      <p:sp>
        <p:nvSpPr>
          <p:cNvPr id="27" name="Text 23"/>
          <p:cNvSpPr/>
          <p:nvPr/>
        </p:nvSpPr>
        <p:spPr>
          <a:xfrm>
            <a:off x="609600" y="4172712"/>
            <a:ext cx="1691640" cy="27432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FREEDOM · MBNv2</a:t>
            </a:r>
            <a:endParaRPr lang="en-US" sz="1100" dirty="0"/>
          </a:p>
        </p:txBody>
      </p:sp>
      <p:sp>
        <p:nvSpPr>
          <p:cNvPr id="28" name="Shape 24"/>
          <p:cNvSpPr/>
          <p:nvPr/>
        </p:nvSpPr>
        <p:spPr>
          <a:xfrm>
            <a:off x="2346960" y="4191000"/>
            <a:ext cx="2897988" cy="237744"/>
          </a:xfrm>
          <a:prstGeom prst="roundRect">
            <a:avLst>
              <a:gd name="adj" fmla="val 7692"/>
            </a:avLst>
          </a:prstGeom>
          <a:solidFill>
            <a:srgbClr val="E4EAF4"/>
          </a:solidFill>
          <a:ln/>
        </p:spPr>
        <p:txBody>
          <a:bodyPr/>
          <a:lstStyle/>
          <a:p>
            <a:endParaRPr lang="en-US"/>
          </a:p>
        </p:txBody>
      </p:sp>
      <p:sp>
        <p:nvSpPr>
          <p:cNvPr id="29" name="Shape 25"/>
          <p:cNvSpPr/>
          <p:nvPr/>
        </p:nvSpPr>
        <p:spPr>
          <a:xfrm>
            <a:off x="2346960" y="4191000"/>
            <a:ext cx="1188175" cy="237744"/>
          </a:xfrm>
          <a:prstGeom prst="roundRect">
            <a:avLst>
              <a:gd name="adj" fmla="val 7692"/>
            </a:avLst>
          </a:prstGeom>
          <a:solidFill>
            <a:srgbClr val="1464B4"/>
          </a:solidFill>
          <a:ln/>
        </p:spPr>
        <p:txBody>
          <a:bodyPr/>
          <a:lstStyle/>
          <a:p>
            <a:endParaRPr lang="en-US"/>
          </a:p>
        </p:txBody>
      </p:sp>
      <p:sp>
        <p:nvSpPr>
          <p:cNvPr id="30" name="Text 26"/>
          <p:cNvSpPr/>
          <p:nvPr/>
        </p:nvSpPr>
        <p:spPr>
          <a:xfrm>
            <a:off x="5290668" y="4172712"/>
            <a:ext cx="640080" cy="27432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0.0081</a:t>
            </a:r>
            <a:endParaRPr lang="en-US" sz="1100" dirty="0"/>
          </a:p>
        </p:txBody>
      </p:sp>
      <p:sp>
        <p:nvSpPr>
          <p:cNvPr id="31" name="Text 27"/>
          <p:cNvSpPr/>
          <p:nvPr/>
        </p:nvSpPr>
        <p:spPr>
          <a:xfrm>
            <a:off x="609600" y="4511040"/>
            <a:ext cx="1691640" cy="27432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FREEDOM · CLIP</a:t>
            </a:r>
            <a:endParaRPr lang="en-US" sz="1100" dirty="0"/>
          </a:p>
        </p:txBody>
      </p:sp>
      <p:sp>
        <p:nvSpPr>
          <p:cNvPr id="32" name="Shape 28"/>
          <p:cNvSpPr/>
          <p:nvPr/>
        </p:nvSpPr>
        <p:spPr>
          <a:xfrm>
            <a:off x="2346960" y="4529328"/>
            <a:ext cx="2897988" cy="237744"/>
          </a:xfrm>
          <a:prstGeom prst="roundRect">
            <a:avLst>
              <a:gd name="adj" fmla="val 7692"/>
            </a:avLst>
          </a:prstGeom>
          <a:solidFill>
            <a:srgbClr val="E4EAF4"/>
          </a:solidFill>
          <a:ln/>
        </p:spPr>
        <p:txBody>
          <a:bodyPr/>
          <a:lstStyle/>
          <a:p>
            <a:endParaRPr lang="en-US"/>
          </a:p>
        </p:txBody>
      </p:sp>
      <p:sp>
        <p:nvSpPr>
          <p:cNvPr id="33" name="Shape 29"/>
          <p:cNvSpPr/>
          <p:nvPr/>
        </p:nvSpPr>
        <p:spPr>
          <a:xfrm>
            <a:off x="2346960" y="4529328"/>
            <a:ext cx="724497" cy="237744"/>
          </a:xfrm>
          <a:prstGeom prst="roundRect">
            <a:avLst>
              <a:gd name="adj" fmla="val 7692"/>
            </a:avLst>
          </a:prstGeom>
          <a:solidFill>
            <a:srgbClr val="AAB8D0"/>
          </a:solidFill>
          <a:ln/>
        </p:spPr>
        <p:txBody>
          <a:bodyPr/>
          <a:lstStyle/>
          <a:p>
            <a:endParaRPr lang="en-US"/>
          </a:p>
        </p:txBody>
      </p:sp>
      <p:sp>
        <p:nvSpPr>
          <p:cNvPr id="34" name="Text 30"/>
          <p:cNvSpPr/>
          <p:nvPr/>
        </p:nvSpPr>
        <p:spPr>
          <a:xfrm>
            <a:off x="5290668" y="4511040"/>
            <a:ext cx="640080" cy="27432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0.0049</a:t>
            </a:r>
            <a:endParaRPr lang="en-US" sz="1100" dirty="0"/>
          </a:p>
        </p:txBody>
      </p:sp>
      <p:sp>
        <p:nvSpPr>
          <p:cNvPr id="35" name="Shape 31"/>
          <p:cNvSpPr/>
          <p:nvPr/>
        </p:nvSpPr>
        <p:spPr>
          <a:xfrm>
            <a:off x="6260948" y="1905000"/>
            <a:ext cx="5321148" cy="1051560"/>
          </a:xfrm>
          <a:prstGeom prst="roundRect">
            <a:avLst>
              <a:gd name="adj" fmla="val 4348"/>
            </a:avLst>
          </a:prstGeom>
          <a:solidFill>
            <a:srgbClr val="0D1B3E"/>
          </a:solidFill>
          <a:ln/>
        </p:spPr>
        <p:txBody>
          <a:bodyPr/>
          <a:lstStyle/>
          <a:p>
            <a:endParaRPr lang="en-US"/>
          </a:p>
        </p:txBody>
      </p:sp>
      <p:sp>
        <p:nvSpPr>
          <p:cNvPr id="36" name="Text 32"/>
          <p:cNvSpPr/>
          <p:nvPr/>
        </p:nvSpPr>
        <p:spPr>
          <a:xfrm>
            <a:off x="6462116" y="2014728"/>
            <a:ext cx="4918812" cy="219456"/>
          </a:xfrm>
          <a:prstGeom prst="rect">
            <a:avLst/>
          </a:prstGeom>
          <a:noFill/>
          <a:ln/>
        </p:spPr>
        <p:txBody>
          <a:bodyPr wrap="square" rtlCol="0" anchor="ctr"/>
          <a:lstStyle/>
          <a:p>
            <a:pPr marL="0" indent="0">
              <a:buNone/>
            </a:pPr>
            <a:r>
              <a:rPr lang="en-US" sz="1100" b="1" kern="0" spc="100" dirty="0">
                <a:solidFill>
                  <a:srgbClr val="FFFFFF">
                    <a:alpha val="45000"/>
                  </a:srgbClr>
                </a:solidFill>
                <a:latin typeface="Segoe UI" pitchFamily="34" charset="0"/>
                <a:ea typeface="Segoe UI" pitchFamily="34" charset="-122"/>
                <a:cs typeface="Segoe UI" pitchFamily="34" charset="-120"/>
              </a:rPr>
              <a:t>VERDICT</a:t>
            </a:r>
            <a:endParaRPr lang="en-US" sz="1100" dirty="0"/>
          </a:p>
        </p:txBody>
      </p:sp>
      <p:sp>
        <p:nvSpPr>
          <p:cNvPr id="37" name="Text 33"/>
          <p:cNvSpPr/>
          <p:nvPr/>
        </p:nvSpPr>
        <p:spPr>
          <a:xfrm>
            <a:off x="6462116" y="2270760"/>
            <a:ext cx="4918812" cy="457200"/>
          </a:xfrm>
          <a:prstGeom prst="rect">
            <a:avLst/>
          </a:prstGeom>
          <a:noFill/>
          <a:ln/>
        </p:spPr>
        <p:txBody>
          <a:bodyPr wrap="square" rtlCol="0" anchor="t"/>
          <a:lstStyle/>
          <a:p>
            <a:pPr marL="0" indent="0" algn="l">
              <a:lnSpc>
                <a:spcPct val="115000"/>
              </a:lnSpc>
              <a:buNone/>
            </a:pPr>
            <a:r>
              <a:rPr lang="en-US" sz="1200" b="1" dirty="0">
                <a:solidFill>
                  <a:srgbClr val="FFFFFF"/>
                </a:solidFill>
                <a:latin typeface="Segoe UI" pitchFamily="34" charset="0"/>
                <a:ea typeface="Segoe UI" pitchFamily="34" charset="-122"/>
                <a:cs typeface="Segoe UI" pitchFamily="34" charset="-120"/>
              </a:rPr>
              <a:t>MobileNetV2 wins</a:t>
            </a:r>
            <a:r>
              <a:rPr lang="en-US" sz="1200" dirty="0">
                <a:solidFill>
                  <a:srgbClr val="FFFFFF"/>
                </a:solidFill>
                <a:latin typeface="Segoe UI" pitchFamily="34" charset="0"/>
                <a:ea typeface="Segoe UI" pitchFamily="34" charset="-122"/>
                <a:cs typeface="Segoe UI" pitchFamily="34" charset="-120"/>
              </a:rPr>
              <a:t> inside each model’s best (late-fusion) config — local texture beats CLIP’s coarse semantics for styling</a:t>
            </a:r>
            <a:endParaRPr lang="en-US" sz="1200" dirty="0"/>
          </a:p>
        </p:txBody>
      </p:sp>
      <p:sp>
        <p:nvSpPr>
          <p:cNvPr id="38" name="Shape 34"/>
          <p:cNvSpPr/>
          <p:nvPr/>
        </p:nvSpPr>
        <p:spPr>
          <a:xfrm>
            <a:off x="6260948" y="3093720"/>
            <a:ext cx="5321148" cy="1051560"/>
          </a:xfrm>
          <a:prstGeom prst="roundRect">
            <a:avLst>
              <a:gd name="adj" fmla="val 4348"/>
            </a:avLst>
          </a:prstGeom>
          <a:solidFill>
            <a:srgbClr val="EEF3FA"/>
          </a:solidFill>
          <a:ln/>
        </p:spPr>
        <p:txBody>
          <a:bodyPr/>
          <a:lstStyle/>
          <a:p>
            <a:endParaRPr lang="en-US"/>
          </a:p>
        </p:txBody>
      </p:sp>
      <p:sp>
        <p:nvSpPr>
          <p:cNvPr id="39" name="Shape 35"/>
          <p:cNvSpPr/>
          <p:nvPr/>
        </p:nvSpPr>
        <p:spPr>
          <a:xfrm>
            <a:off x="6260948" y="3112008"/>
            <a:ext cx="50292" cy="1014984"/>
          </a:xfrm>
          <a:prstGeom prst="rect">
            <a:avLst/>
          </a:prstGeom>
          <a:solidFill>
            <a:srgbClr val="1464B4"/>
          </a:solidFill>
          <a:ln/>
        </p:spPr>
        <p:txBody>
          <a:bodyPr/>
          <a:lstStyle/>
          <a:p>
            <a:endParaRPr lang="en-US"/>
          </a:p>
        </p:txBody>
      </p:sp>
      <p:sp>
        <p:nvSpPr>
          <p:cNvPr id="40" name="Text 36"/>
          <p:cNvSpPr/>
          <p:nvPr/>
        </p:nvSpPr>
        <p:spPr>
          <a:xfrm>
            <a:off x="6462116" y="3185160"/>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BUT CLIP WINS IMG_ONLY &amp; TEXT_ONLY</a:t>
            </a:r>
            <a:endParaRPr lang="en-US" sz="1200" dirty="0"/>
          </a:p>
        </p:txBody>
      </p:sp>
      <p:sp>
        <p:nvSpPr>
          <p:cNvPr id="41" name="Text 37"/>
          <p:cNvSpPr/>
          <p:nvPr/>
        </p:nvSpPr>
        <p:spPr>
          <a:xfrm>
            <a:off x="6462116" y="3459480"/>
            <a:ext cx="4918812" cy="457200"/>
          </a:xfrm>
          <a:prstGeom prst="rect">
            <a:avLst/>
          </a:prstGeom>
          <a:noFill/>
          <a:ln/>
        </p:spPr>
        <p:txBody>
          <a:bodyPr wrap="square" rtlCol="0" anchor="t"/>
          <a:lstStyle/>
          <a:p>
            <a:pPr marL="0" indent="0" algn="l">
              <a:lnSpc>
                <a:spcPct val="115000"/>
              </a:lnSpc>
              <a:buNone/>
            </a:pPr>
            <a:r>
              <a:rPr lang="en-US" sz="1200" dirty="0">
                <a:solidFill>
                  <a:srgbClr val="1A1E2E"/>
                </a:solidFill>
                <a:latin typeface="Segoe UI" pitchFamily="34" charset="0"/>
                <a:ea typeface="Segoe UI" pitchFamily="34" charset="-122"/>
                <a:cs typeface="Segoe UI" pitchFamily="34" charset="-120"/>
              </a:rPr>
              <a:t>Encoder superiority is </a:t>
            </a:r>
            <a:r>
              <a:rPr lang="en-US" sz="1200" b="1" dirty="0">
                <a:solidFill>
                  <a:srgbClr val="1A1E2E"/>
                </a:solidFill>
                <a:latin typeface="Segoe UI" pitchFamily="34" charset="0"/>
                <a:ea typeface="Segoe UI" pitchFamily="34" charset="-122"/>
                <a:cs typeface="Segoe UI" pitchFamily="34" charset="-120"/>
              </a:rPr>
              <a:t>configuration-dependent</a:t>
            </a:r>
            <a:r>
              <a:rPr lang="en-US" sz="1200" dirty="0">
                <a:solidFill>
                  <a:srgbClr val="1A1E2E"/>
                </a:solidFill>
                <a:latin typeface="Segoe UI" pitchFamily="34" charset="0"/>
                <a:ea typeface="Segoe UI" pitchFamily="34" charset="-122"/>
                <a:cs typeface="Segoe UI" pitchFamily="34" charset="-120"/>
              </a:rPr>
              <a:t>, not universal — CLIP’s semantic richness helps when only one modality is active</a:t>
            </a:r>
            <a:endParaRPr lang="en-US" sz="1200" dirty="0"/>
          </a:p>
        </p:txBody>
      </p:sp>
      <p:sp>
        <p:nvSpPr>
          <p:cNvPr id="42" name="Shape 38"/>
          <p:cNvSpPr/>
          <p:nvPr/>
        </p:nvSpPr>
        <p:spPr>
          <a:xfrm>
            <a:off x="6260948" y="4282440"/>
            <a:ext cx="5321148" cy="1051560"/>
          </a:xfrm>
          <a:prstGeom prst="roundRect">
            <a:avLst>
              <a:gd name="adj" fmla="val 4348"/>
            </a:avLst>
          </a:prstGeom>
          <a:solidFill>
            <a:srgbClr val="FDF3F3"/>
          </a:solidFill>
          <a:ln/>
        </p:spPr>
        <p:txBody>
          <a:bodyPr/>
          <a:lstStyle/>
          <a:p>
            <a:endParaRPr lang="en-US"/>
          </a:p>
        </p:txBody>
      </p:sp>
      <p:sp>
        <p:nvSpPr>
          <p:cNvPr id="43" name="Shape 39"/>
          <p:cNvSpPr/>
          <p:nvPr/>
        </p:nvSpPr>
        <p:spPr>
          <a:xfrm>
            <a:off x="6260948" y="4300728"/>
            <a:ext cx="50292" cy="1014984"/>
          </a:xfrm>
          <a:prstGeom prst="rect">
            <a:avLst/>
          </a:prstGeom>
          <a:solidFill>
            <a:srgbClr val="C1272D"/>
          </a:solidFill>
          <a:ln/>
        </p:spPr>
        <p:txBody>
          <a:bodyPr/>
          <a:lstStyle/>
          <a:p>
            <a:endParaRPr lang="en-US"/>
          </a:p>
        </p:txBody>
      </p:sp>
      <p:sp>
        <p:nvSpPr>
          <p:cNvPr id="44" name="Text 40"/>
          <p:cNvSpPr/>
          <p:nvPr/>
        </p:nvSpPr>
        <p:spPr>
          <a:xfrm>
            <a:off x="6462116" y="4373880"/>
            <a:ext cx="4918812"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WHY MBNV2 WINS LATE-FUSION</a:t>
            </a:r>
            <a:endParaRPr lang="en-US" sz="1200" dirty="0"/>
          </a:p>
        </p:txBody>
      </p:sp>
      <p:sp>
        <p:nvSpPr>
          <p:cNvPr id="45" name="Text 41"/>
          <p:cNvSpPr/>
          <p:nvPr/>
        </p:nvSpPr>
        <p:spPr>
          <a:xfrm>
            <a:off x="6462116" y="4648200"/>
            <a:ext cx="4918812" cy="457200"/>
          </a:xfrm>
          <a:prstGeom prst="rect">
            <a:avLst/>
          </a:prstGeom>
          <a:noFill/>
          <a:ln/>
        </p:spPr>
        <p:txBody>
          <a:bodyPr wrap="square" rtlCol="0" anchor="t"/>
          <a:lstStyle/>
          <a:p>
            <a:pPr marL="0" indent="0" algn="l">
              <a:lnSpc>
                <a:spcPct val="115000"/>
              </a:lnSpc>
              <a:buNone/>
            </a:pPr>
            <a:r>
              <a:rPr lang="en-US" sz="1200" dirty="0">
                <a:solidFill>
                  <a:srgbClr val="1A1E2E"/>
                </a:solidFill>
                <a:latin typeface="Segoe UI" pitchFamily="34" charset="0"/>
                <a:ea typeface="Segoe UI" pitchFamily="34" charset="-122"/>
                <a:cs typeface="Segoe UI" pitchFamily="34" charset="-120"/>
              </a:rPr>
              <a:t>MobileNetV2 captures fine-grained local texture (fabric, pattern, cut) that matters for fashion styling, complementing BERT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08 · RQ2 &amp; RQ4 — FUSION &amp; CROSS-MODAL ABLATION</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Late fusion beats attention &amp; single-modality —</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sparse logs benefit from cross-modal integration</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15 / 20</a:t>
            </a:r>
            <a:endParaRPr lang="en-US" sz="1200" dirty="0"/>
          </a:p>
        </p:txBody>
      </p:sp>
      <p:sp>
        <p:nvSpPr>
          <p:cNvPr id="9" name="Text 5"/>
          <p:cNvSpPr/>
          <p:nvPr/>
        </p:nvSpPr>
        <p:spPr>
          <a:xfrm>
            <a:off x="609600" y="185928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NDCG@10 — Fusion type ablation (MBNv2)</a:t>
            </a:r>
            <a:endParaRPr lang="en-US" sz="1500" dirty="0"/>
          </a:p>
        </p:txBody>
      </p:sp>
      <p:sp>
        <p:nvSpPr>
          <p:cNvPr id="10" name="Text 6"/>
          <p:cNvSpPr/>
          <p:nvPr/>
        </p:nvSpPr>
        <p:spPr>
          <a:xfrm>
            <a:off x="609600" y="2188464"/>
            <a:ext cx="5321148" cy="219456"/>
          </a:xfrm>
          <a:prstGeom prst="rect">
            <a:avLst/>
          </a:prstGeom>
          <a:noFill/>
          <a:ln/>
        </p:spPr>
        <p:txBody>
          <a:bodyPr wrap="square" rtlCol="0" anchor="ctr"/>
          <a:lstStyle/>
          <a:p>
            <a:pPr marL="0" indent="0">
              <a:buNone/>
            </a:pPr>
            <a:r>
              <a:rPr lang="en-US" sz="1100" dirty="0">
                <a:solidFill>
                  <a:srgbClr val="1A1E2E"/>
                </a:solidFill>
                <a:latin typeface="Segoe UI" pitchFamily="34" charset="0"/>
                <a:ea typeface="Segoe UI" pitchFamily="34" charset="-122"/>
                <a:cs typeface="Segoe UI" pitchFamily="34" charset="-120"/>
              </a:rPr>
              <a:t>Late </a:t>
            </a:r>
            <a:r>
              <a:rPr lang="en-US" sz="1100" dirty="0">
                <a:solidFill>
                  <a:srgbClr val="1464B4"/>
                </a:solidFill>
                <a:latin typeface="Segoe UI" pitchFamily="34" charset="0"/>
                <a:ea typeface="Segoe UI" pitchFamily="34" charset="-122"/>
                <a:cs typeface="Segoe UI" pitchFamily="34" charset="-120"/>
              </a:rPr>
              <a:t>■</a:t>
            </a:r>
            <a:r>
              <a:rPr lang="en-US" sz="1100" dirty="0">
                <a:solidFill>
                  <a:srgbClr val="1A1E2E"/>
                </a:solidFill>
                <a:latin typeface="Segoe UI" pitchFamily="34" charset="0"/>
                <a:ea typeface="Segoe UI" pitchFamily="34" charset="-122"/>
                <a:cs typeface="Segoe UI" pitchFamily="34" charset="-120"/>
              </a:rPr>
              <a:t>   vs Attention </a:t>
            </a:r>
            <a:r>
              <a:rPr lang="en-US" sz="1100" dirty="0">
                <a:solidFill>
                  <a:srgbClr val="C1272D"/>
                </a:solidFill>
                <a:latin typeface="Segoe UI" pitchFamily="34" charset="0"/>
                <a:ea typeface="Segoe UI" pitchFamily="34" charset="-122"/>
                <a:cs typeface="Segoe UI" pitchFamily="34" charset="-120"/>
              </a:rPr>
              <a:t>■</a:t>
            </a:r>
            <a:endParaRPr lang="en-US" sz="1100" dirty="0"/>
          </a:p>
        </p:txBody>
      </p:sp>
      <p:sp>
        <p:nvSpPr>
          <p:cNvPr id="11" name="Text 7"/>
          <p:cNvSpPr/>
          <p:nvPr/>
        </p:nvSpPr>
        <p:spPr>
          <a:xfrm>
            <a:off x="609600" y="2444496"/>
            <a:ext cx="1691640" cy="22860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BM3 · Late</a:t>
            </a:r>
            <a:endParaRPr lang="en-US" sz="1100" dirty="0"/>
          </a:p>
        </p:txBody>
      </p:sp>
      <p:sp>
        <p:nvSpPr>
          <p:cNvPr id="12" name="Shape 8"/>
          <p:cNvSpPr/>
          <p:nvPr/>
        </p:nvSpPr>
        <p:spPr>
          <a:xfrm>
            <a:off x="2346960" y="2462784"/>
            <a:ext cx="2897988" cy="192024"/>
          </a:xfrm>
          <a:prstGeom prst="roundRect">
            <a:avLst>
              <a:gd name="adj" fmla="val 9524"/>
            </a:avLst>
          </a:prstGeom>
          <a:solidFill>
            <a:srgbClr val="E4EAF4"/>
          </a:solidFill>
          <a:ln/>
        </p:spPr>
        <p:txBody>
          <a:bodyPr/>
          <a:lstStyle/>
          <a:p>
            <a:endParaRPr lang="en-US"/>
          </a:p>
        </p:txBody>
      </p:sp>
      <p:sp>
        <p:nvSpPr>
          <p:cNvPr id="13" name="Shape 9"/>
          <p:cNvSpPr/>
          <p:nvPr/>
        </p:nvSpPr>
        <p:spPr>
          <a:xfrm>
            <a:off x="2346960" y="2462784"/>
            <a:ext cx="2695128" cy="192024"/>
          </a:xfrm>
          <a:prstGeom prst="roundRect">
            <a:avLst>
              <a:gd name="adj" fmla="val 9524"/>
            </a:avLst>
          </a:prstGeom>
          <a:solidFill>
            <a:srgbClr val="1464B4"/>
          </a:solidFill>
          <a:ln/>
        </p:spPr>
        <p:txBody>
          <a:bodyPr/>
          <a:lstStyle/>
          <a:p>
            <a:endParaRPr lang="en-US"/>
          </a:p>
        </p:txBody>
      </p:sp>
      <p:sp>
        <p:nvSpPr>
          <p:cNvPr id="14" name="Text 10"/>
          <p:cNvSpPr/>
          <p:nvPr/>
        </p:nvSpPr>
        <p:spPr>
          <a:xfrm>
            <a:off x="5290668" y="2444496"/>
            <a:ext cx="640080" cy="22860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0.0186</a:t>
            </a:r>
            <a:endParaRPr lang="en-US" sz="1100" dirty="0"/>
          </a:p>
        </p:txBody>
      </p:sp>
      <p:sp>
        <p:nvSpPr>
          <p:cNvPr id="15" name="Text 11"/>
          <p:cNvSpPr/>
          <p:nvPr/>
        </p:nvSpPr>
        <p:spPr>
          <a:xfrm>
            <a:off x="609600" y="2700528"/>
            <a:ext cx="1691640" cy="22860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BM3 · Attention</a:t>
            </a:r>
            <a:endParaRPr lang="en-US" sz="1100" dirty="0"/>
          </a:p>
        </p:txBody>
      </p:sp>
      <p:sp>
        <p:nvSpPr>
          <p:cNvPr id="16" name="Shape 12"/>
          <p:cNvSpPr/>
          <p:nvPr/>
        </p:nvSpPr>
        <p:spPr>
          <a:xfrm>
            <a:off x="2346960" y="2718816"/>
            <a:ext cx="2897988" cy="192024"/>
          </a:xfrm>
          <a:prstGeom prst="roundRect">
            <a:avLst>
              <a:gd name="adj" fmla="val 9524"/>
            </a:avLst>
          </a:prstGeom>
          <a:solidFill>
            <a:srgbClr val="E4EAF4"/>
          </a:solidFill>
          <a:ln/>
        </p:spPr>
        <p:txBody>
          <a:bodyPr/>
          <a:lstStyle/>
          <a:p>
            <a:endParaRPr lang="en-US"/>
          </a:p>
        </p:txBody>
      </p:sp>
      <p:sp>
        <p:nvSpPr>
          <p:cNvPr id="17" name="Shape 13"/>
          <p:cNvSpPr/>
          <p:nvPr/>
        </p:nvSpPr>
        <p:spPr>
          <a:xfrm>
            <a:off x="2346960" y="2718816"/>
            <a:ext cx="1463484" cy="192024"/>
          </a:xfrm>
          <a:prstGeom prst="roundRect">
            <a:avLst>
              <a:gd name="adj" fmla="val 9524"/>
            </a:avLst>
          </a:prstGeom>
          <a:solidFill>
            <a:srgbClr val="C1272D"/>
          </a:solidFill>
          <a:ln/>
        </p:spPr>
        <p:txBody>
          <a:bodyPr/>
          <a:lstStyle/>
          <a:p>
            <a:endParaRPr lang="en-US"/>
          </a:p>
        </p:txBody>
      </p:sp>
      <p:sp>
        <p:nvSpPr>
          <p:cNvPr id="18" name="Text 14"/>
          <p:cNvSpPr/>
          <p:nvPr/>
        </p:nvSpPr>
        <p:spPr>
          <a:xfrm>
            <a:off x="5290668" y="2700528"/>
            <a:ext cx="640080" cy="22860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0.0101</a:t>
            </a:r>
            <a:endParaRPr lang="en-US" sz="1100" dirty="0"/>
          </a:p>
        </p:txBody>
      </p:sp>
      <p:sp>
        <p:nvSpPr>
          <p:cNvPr id="19" name="Text 15"/>
          <p:cNvSpPr/>
          <p:nvPr/>
        </p:nvSpPr>
        <p:spPr>
          <a:xfrm>
            <a:off x="609600" y="3048000"/>
            <a:ext cx="1691640" cy="22860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CombiGCN · Late</a:t>
            </a:r>
            <a:endParaRPr lang="en-US" sz="1100" dirty="0"/>
          </a:p>
        </p:txBody>
      </p:sp>
      <p:sp>
        <p:nvSpPr>
          <p:cNvPr id="20" name="Shape 16"/>
          <p:cNvSpPr/>
          <p:nvPr/>
        </p:nvSpPr>
        <p:spPr>
          <a:xfrm>
            <a:off x="2346960" y="3066288"/>
            <a:ext cx="2897988" cy="192024"/>
          </a:xfrm>
          <a:prstGeom prst="roundRect">
            <a:avLst>
              <a:gd name="adj" fmla="val 9524"/>
            </a:avLst>
          </a:prstGeom>
          <a:solidFill>
            <a:srgbClr val="E4EAF4"/>
          </a:solidFill>
          <a:ln/>
        </p:spPr>
        <p:txBody>
          <a:bodyPr/>
          <a:lstStyle/>
          <a:p>
            <a:endParaRPr lang="en-US"/>
          </a:p>
        </p:txBody>
      </p:sp>
      <p:sp>
        <p:nvSpPr>
          <p:cNvPr id="21" name="Shape 17"/>
          <p:cNvSpPr/>
          <p:nvPr/>
        </p:nvSpPr>
        <p:spPr>
          <a:xfrm>
            <a:off x="2346960" y="3066288"/>
            <a:ext cx="2535739" cy="192024"/>
          </a:xfrm>
          <a:prstGeom prst="roundRect">
            <a:avLst>
              <a:gd name="adj" fmla="val 9524"/>
            </a:avLst>
          </a:prstGeom>
          <a:solidFill>
            <a:srgbClr val="1464B4"/>
          </a:solidFill>
          <a:ln/>
        </p:spPr>
        <p:txBody>
          <a:bodyPr/>
          <a:lstStyle/>
          <a:p>
            <a:endParaRPr lang="en-US"/>
          </a:p>
        </p:txBody>
      </p:sp>
      <p:sp>
        <p:nvSpPr>
          <p:cNvPr id="22" name="Text 18"/>
          <p:cNvSpPr/>
          <p:nvPr/>
        </p:nvSpPr>
        <p:spPr>
          <a:xfrm>
            <a:off x="5290668" y="3048000"/>
            <a:ext cx="640080" cy="22860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0.0175</a:t>
            </a:r>
            <a:endParaRPr lang="en-US" sz="1100" dirty="0"/>
          </a:p>
        </p:txBody>
      </p:sp>
      <p:sp>
        <p:nvSpPr>
          <p:cNvPr id="23" name="Text 19"/>
          <p:cNvSpPr/>
          <p:nvPr/>
        </p:nvSpPr>
        <p:spPr>
          <a:xfrm>
            <a:off x="609600" y="3304032"/>
            <a:ext cx="1691640" cy="22860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CombiGCN · Attention</a:t>
            </a:r>
            <a:endParaRPr lang="en-US" sz="1100" dirty="0"/>
          </a:p>
        </p:txBody>
      </p:sp>
      <p:sp>
        <p:nvSpPr>
          <p:cNvPr id="24" name="Shape 20"/>
          <p:cNvSpPr/>
          <p:nvPr/>
        </p:nvSpPr>
        <p:spPr>
          <a:xfrm>
            <a:off x="2346960" y="3322320"/>
            <a:ext cx="2897988" cy="192024"/>
          </a:xfrm>
          <a:prstGeom prst="roundRect">
            <a:avLst>
              <a:gd name="adj" fmla="val 9524"/>
            </a:avLst>
          </a:prstGeom>
          <a:solidFill>
            <a:srgbClr val="E4EAF4"/>
          </a:solidFill>
          <a:ln/>
        </p:spPr>
        <p:txBody>
          <a:bodyPr/>
          <a:lstStyle/>
          <a:p>
            <a:endParaRPr lang="en-US"/>
          </a:p>
        </p:txBody>
      </p:sp>
      <p:sp>
        <p:nvSpPr>
          <p:cNvPr id="25" name="Shape 21"/>
          <p:cNvSpPr/>
          <p:nvPr/>
        </p:nvSpPr>
        <p:spPr>
          <a:xfrm>
            <a:off x="2346960" y="3322320"/>
            <a:ext cx="2187981" cy="192024"/>
          </a:xfrm>
          <a:prstGeom prst="roundRect">
            <a:avLst>
              <a:gd name="adj" fmla="val 9524"/>
            </a:avLst>
          </a:prstGeom>
          <a:solidFill>
            <a:srgbClr val="C1272D"/>
          </a:solidFill>
          <a:ln/>
        </p:spPr>
        <p:txBody>
          <a:bodyPr/>
          <a:lstStyle/>
          <a:p>
            <a:endParaRPr lang="en-US"/>
          </a:p>
        </p:txBody>
      </p:sp>
      <p:sp>
        <p:nvSpPr>
          <p:cNvPr id="26" name="Text 22"/>
          <p:cNvSpPr/>
          <p:nvPr/>
        </p:nvSpPr>
        <p:spPr>
          <a:xfrm>
            <a:off x="5290668" y="3304032"/>
            <a:ext cx="640080" cy="22860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0.0151</a:t>
            </a:r>
            <a:endParaRPr lang="en-US" sz="1100" dirty="0"/>
          </a:p>
        </p:txBody>
      </p:sp>
      <p:sp>
        <p:nvSpPr>
          <p:cNvPr id="27" name="Text 23"/>
          <p:cNvSpPr/>
          <p:nvPr/>
        </p:nvSpPr>
        <p:spPr>
          <a:xfrm>
            <a:off x="609600" y="3651504"/>
            <a:ext cx="1691640" cy="22860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FREEDOM · Late</a:t>
            </a:r>
            <a:endParaRPr lang="en-US" sz="1100" dirty="0"/>
          </a:p>
        </p:txBody>
      </p:sp>
      <p:sp>
        <p:nvSpPr>
          <p:cNvPr id="28" name="Shape 24"/>
          <p:cNvSpPr/>
          <p:nvPr/>
        </p:nvSpPr>
        <p:spPr>
          <a:xfrm>
            <a:off x="2346960" y="3669792"/>
            <a:ext cx="2897988" cy="192024"/>
          </a:xfrm>
          <a:prstGeom prst="roundRect">
            <a:avLst>
              <a:gd name="adj" fmla="val 9524"/>
            </a:avLst>
          </a:prstGeom>
          <a:solidFill>
            <a:srgbClr val="E4EAF4"/>
          </a:solidFill>
          <a:ln/>
        </p:spPr>
        <p:txBody>
          <a:bodyPr/>
          <a:lstStyle/>
          <a:p>
            <a:endParaRPr lang="en-US"/>
          </a:p>
        </p:txBody>
      </p:sp>
      <p:sp>
        <p:nvSpPr>
          <p:cNvPr id="29" name="Shape 25"/>
          <p:cNvSpPr/>
          <p:nvPr/>
        </p:nvSpPr>
        <p:spPr>
          <a:xfrm>
            <a:off x="2346960" y="3669792"/>
            <a:ext cx="1173685" cy="192024"/>
          </a:xfrm>
          <a:prstGeom prst="roundRect">
            <a:avLst>
              <a:gd name="adj" fmla="val 9524"/>
            </a:avLst>
          </a:prstGeom>
          <a:solidFill>
            <a:srgbClr val="1464B4"/>
          </a:solidFill>
          <a:ln/>
        </p:spPr>
        <p:txBody>
          <a:bodyPr/>
          <a:lstStyle/>
          <a:p>
            <a:endParaRPr lang="en-US"/>
          </a:p>
        </p:txBody>
      </p:sp>
      <p:sp>
        <p:nvSpPr>
          <p:cNvPr id="30" name="Text 26"/>
          <p:cNvSpPr/>
          <p:nvPr/>
        </p:nvSpPr>
        <p:spPr>
          <a:xfrm>
            <a:off x="5290668" y="3651504"/>
            <a:ext cx="640080" cy="22860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0.0081</a:t>
            </a:r>
            <a:endParaRPr lang="en-US" sz="1100" dirty="0"/>
          </a:p>
        </p:txBody>
      </p:sp>
      <p:sp>
        <p:nvSpPr>
          <p:cNvPr id="31" name="Text 27"/>
          <p:cNvSpPr/>
          <p:nvPr/>
        </p:nvSpPr>
        <p:spPr>
          <a:xfrm>
            <a:off x="609600" y="3907536"/>
            <a:ext cx="1691640" cy="228600"/>
          </a:xfrm>
          <a:prstGeom prst="rect">
            <a:avLst/>
          </a:prstGeom>
          <a:noFill/>
          <a:ln/>
        </p:spPr>
        <p:txBody>
          <a:bodyPr wrap="square" rtlCol="0" anchor="ctr"/>
          <a:lstStyle/>
          <a:p>
            <a:pPr marL="0" indent="0" algn="l">
              <a:buNone/>
            </a:pPr>
            <a:r>
              <a:rPr lang="en-US" sz="1100" dirty="0">
                <a:solidFill>
                  <a:srgbClr val="1A1E2E"/>
                </a:solidFill>
                <a:latin typeface="Segoe UI" pitchFamily="34" charset="0"/>
                <a:ea typeface="Segoe UI" pitchFamily="34" charset="-122"/>
                <a:cs typeface="Segoe UI" pitchFamily="34" charset="-120"/>
              </a:rPr>
              <a:t>FREEDOM · Attention</a:t>
            </a:r>
            <a:endParaRPr lang="en-US" sz="1100" dirty="0"/>
          </a:p>
        </p:txBody>
      </p:sp>
      <p:sp>
        <p:nvSpPr>
          <p:cNvPr id="32" name="Shape 28"/>
          <p:cNvSpPr/>
          <p:nvPr/>
        </p:nvSpPr>
        <p:spPr>
          <a:xfrm>
            <a:off x="2346960" y="3925824"/>
            <a:ext cx="2897988" cy="192024"/>
          </a:xfrm>
          <a:prstGeom prst="roundRect">
            <a:avLst>
              <a:gd name="adj" fmla="val 9524"/>
            </a:avLst>
          </a:prstGeom>
          <a:solidFill>
            <a:srgbClr val="E4EAF4"/>
          </a:solidFill>
          <a:ln/>
        </p:spPr>
        <p:txBody>
          <a:bodyPr/>
          <a:lstStyle/>
          <a:p>
            <a:endParaRPr lang="en-US"/>
          </a:p>
        </p:txBody>
      </p:sp>
      <p:sp>
        <p:nvSpPr>
          <p:cNvPr id="33" name="Shape 29"/>
          <p:cNvSpPr/>
          <p:nvPr/>
        </p:nvSpPr>
        <p:spPr>
          <a:xfrm>
            <a:off x="2346960" y="3925824"/>
            <a:ext cx="1275115" cy="192024"/>
          </a:xfrm>
          <a:prstGeom prst="roundRect">
            <a:avLst>
              <a:gd name="adj" fmla="val 9524"/>
            </a:avLst>
          </a:prstGeom>
          <a:solidFill>
            <a:srgbClr val="1A7A50"/>
          </a:solidFill>
          <a:ln/>
        </p:spPr>
        <p:txBody>
          <a:bodyPr/>
          <a:lstStyle/>
          <a:p>
            <a:endParaRPr lang="en-US"/>
          </a:p>
        </p:txBody>
      </p:sp>
      <p:sp>
        <p:nvSpPr>
          <p:cNvPr id="34" name="Text 30"/>
          <p:cNvSpPr/>
          <p:nvPr/>
        </p:nvSpPr>
        <p:spPr>
          <a:xfrm>
            <a:off x="5290668" y="3907536"/>
            <a:ext cx="640080" cy="228600"/>
          </a:xfrm>
          <a:prstGeom prst="rect">
            <a:avLst/>
          </a:prstGeom>
          <a:noFill/>
          <a:ln/>
        </p:spPr>
        <p:txBody>
          <a:bodyPr wrap="square" rtlCol="0" anchor="ctr"/>
          <a:lstStyle/>
          <a:p>
            <a:pPr marL="0" indent="0" algn="r">
              <a:buNone/>
            </a:pPr>
            <a:r>
              <a:rPr lang="en-US" sz="1100" b="1" dirty="0">
                <a:solidFill>
                  <a:srgbClr val="0D1B3E"/>
                </a:solidFill>
                <a:latin typeface="Segoe UI" pitchFamily="34" charset="0"/>
                <a:ea typeface="Segoe UI" pitchFamily="34" charset="-122"/>
                <a:cs typeface="Segoe UI" pitchFamily="34" charset="-120"/>
              </a:rPr>
              <a:t>0.0088</a:t>
            </a:r>
            <a:endParaRPr lang="en-US" sz="1100" dirty="0"/>
          </a:p>
        </p:txBody>
      </p:sp>
      <p:sp>
        <p:nvSpPr>
          <p:cNvPr id="35" name="Text 31"/>
          <p:cNvSpPr/>
          <p:nvPr/>
        </p:nvSpPr>
        <p:spPr>
          <a:xfrm>
            <a:off x="609600" y="4273296"/>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Ablation Study (NDCG@10)</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9600" y="4620768"/>
          <a:ext cx="5321149" cy="1036320"/>
        </p:xfrm>
        <a:graphic>
          <a:graphicData uri="http://schemas.openxmlformats.org/drawingml/2006/table">
            <a:tbl>
              <a:tblPr/>
              <a:tblGrid>
                <a:gridCol w="1596344">
                  <a:extLst>
                    <a:ext uri="{9D8B030D-6E8A-4147-A177-3AD203B41FA5}">
                      <a16:colId xmlns:a16="http://schemas.microsoft.com/office/drawing/2014/main" val="20000"/>
                    </a:ext>
                  </a:extLst>
                </a:gridCol>
                <a:gridCol w="851384">
                  <a:extLst>
                    <a:ext uri="{9D8B030D-6E8A-4147-A177-3AD203B41FA5}">
                      <a16:colId xmlns:a16="http://schemas.microsoft.com/office/drawing/2014/main" val="20001"/>
                    </a:ext>
                  </a:extLst>
                </a:gridCol>
                <a:gridCol w="851384">
                  <a:extLst>
                    <a:ext uri="{9D8B030D-6E8A-4147-A177-3AD203B41FA5}">
                      <a16:colId xmlns:a16="http://schemas.microsoft.com/office/drawing/2014/main" val="20002"/>
                    </a:ext>
                  </a:extLst>
                </a:gridCol>
                <a:gridCol w="1064230">
                  <a:extLst>
                    <a:ext uri="{9D8B030D-6E8A-4147-A177-3AD203B41FA5}">
                      <a16:colId xmlns:a16="http://schemas.microsoft.com/office/drawing/2014/main" val="20003"/>
                    </a:ext>
                  </a:extLst>
                </a:gridCol>
                <a:gridCol w="957807">
                  <a:extLst>
                    <a:ext uri="{9D8B030D-6E8A-4147-A177-3AD203B41FA5}">
                      <a16:colId xmlns:a16="http://schemas.microsoft.com/office/drawing/2014/main" val="20004"/>
                    </a:ext>
                  </a:extLst>
                </a:gridCol>
              </a:tblGrid>
              <a:tr h="256032">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Model (MBNv2)</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img only</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text only</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multimodal</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attention</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BM3</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0.0150</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0.0149</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0.0186</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0.0101</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CombiGCN</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0.0085</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0.0071</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0.0175</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0.0151</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FREEDOM</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0.0062</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0.0031</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0.0081</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0.0088</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7" name="Shape 32"/>
          <p:cNvSpPr/>
          <p:nvPr/>
        </p:nvSpPr>
        <p:spPr>
          <a:xfrm>
            <a:off x="6260948" y="1905000"/>
            <a:ext cx="5321148" cy="1051560"/>
          </a:xfrm>
          <a:prstGeom prst="roundRect">
            <a:avLst>
              <a:gd name="adj" fmla="val 4348"/>
            </a:avLst>
          </a:prstGeom>
          <a:solidFill>
            <a:srgbClr val="0D1B3E"/>
          </a:solidFill>
          <a:ln/>
        </p:spPr>
        <p:txBody>
          <a:bodyPr/>
          <a:lstStyle/>
          <a:p>
            <a:endParaRPr lang="en-US"/>
          </a:p>
        </p:txBody>
      </p:sp>
      <p:sp>
        <p:nvSpPr>
          <p:cNvPr id="38" name="Text 33"/>
          <p:cNvSpPr/>
          <p:nvPr/>
        </p:nvSpPr>
        <p:spPr>
          <a:xfrm>
            <a:off x="6462116" y="2014728"/>
            <a:ext cx="4918812" cy="219456"/>
          </a:xfrm>
          <a:prstGeom prst="rect">
            <a:avLst/>
          </a:prstGeom>
          <a:noFill/>
          <a:ln/>
        </p:spPr>
        <p:txBody>
          <a:bodyPr wrap="square" rtlCol="0" anchor="ctr"/>
          <a:lstStyle/>
          <a:p>
            <a:pPr marL="0" indent="0">
              <a:buNone/>
            </a:pPr>
            <a:r>
              <a:rPr lang="en-US" sz="1100" b="1" kern="0" spc="100" dirty="0">
                <a:solidFill>
                  <a:srgbClr val="FFFFFF">
                    <a:alpha val="45000"/>
                  </a:srgbClr>
                </a:solidFill>
                <a:latin typeface="Segoe UI" pitchFamily="34" charset="0"/>
                <a:ea typeface="Segoe UI" pitchFamily="34" charset="-122"/>
                <a:cs typeface="Segoe UI" pitchFamily="34" charset="-120"/>
              </a:rPr>
              <a:t>VERDICT</a:t>
            </a:r>
            <a:endParaRPr lang="en-US" sz="1100" dirty="0"/>
          </a:p>
        </p:txBody>
      </p:sp>
      <p:sp>
        <p:nvSpPr>
          <p:cNvPr id="39" name="Text 34"/>
          <p:cNvSpPr/>
          <p:nvPr/>
        </p:nvSpPr>
        <p:spPr>
          <a:xfrm>
            <a:off x="6462116" y="2270760"/>
            <a:ext cx="4918812" cy="457200"/>
          </a:xfrm>
          <a:prstGeom prst="rect">
            <a:avLst/>
          </a:prstGeom>
          <a:noFill/>
          <a:ln/>
        </p:spPr>
        <p:txBody>
          <a:bodyPr wrap="square" rtlCol="0" anchor="t"/>
          <a:lstStyle/>
          <a:p>
            <a:pPr marL="0" indent="0" algn="l">
              <a:lnSpc>
                <a:spcPct val="115000"/>
              </a:lnSpc>
              <a:buNone/>
            </a:pPr>
            <a:r>
              <a:rPr lang="en-US" sz="1250" b="1" dirty="0">
                <a:solidFill>
                  <a:srgbClr val="FFFFFF"/>
                </a:solidFill>
                <a:latin typeface="Segoe UI" pitchFamily="34" charset="0"/>
                <a:ea typeface="Segoe UI" pitchFamily="34" charset="-122"/>
                <a:cs typeface="Segoe UI" pitchFamily="34" charset="-120"/>
              </a:rPr>
              <a:t>Late fusion is best &amp; parameter-free.</a:t>
            </a:r>
            <a:r>
              <a:rPr lang="en-US" sz="1250" dirty="0">
                <a:solidFill>
                  <a:srgbClr val="FFFFFF"/>
                </a:solidFill>
                <a:latin typeface="Segoe UI" pitchFamily="34" charset="0"/>
                <a:ea typeface="Segoe UI" pitchFamily="34" charset="-122"/>
                <a:cs typeface="Segoe UI" pitchFamily="34" charset="-120"/>
              </a:rPr>
              <a:t> Attention gating hurts: BM3 −46% · CombiGCN −14%</a:t>
            </a:r>
            <a:endParaRPr lang="en-US" sz="1250" dirty="0"/>
          </a:p>
        </p:txBody>
      </p:sp>
      <p:sp>
        <p:nvSpPr>
          <p:cNvPr id="40" name="Shape 35"/>
          <p:cNvSpPr/>
          <p:nvPr/>
        </p:nvSpPr>
        <p:spPr>
          <a:xfrm>
            <a:off x="6260948" y="3093720"/>
            <a:ext cx="5321148" cy="1371600"/>
          </a:xfrm>
          <a:prstGeom prst="roundRect">
            <a:avLst>
              <a:gd name="adj" fmla="val 3333"/>
            </a:avLst>
          </a:prstGeom>
          <a:solidFill>
            <a:srgbClr val="FDF3F3"/>
          </a:solidFill>
          <a:ln/>
        </p:spPr>
        <p:txBody>
          <a:bodyPr/>
          <a:lstStyle/>
          <a:p>
            <a:endParaRPr lang="en-US"/>
          </a:p>
        </p:txBody>
      </p:sp>
      <p:sp>
        <p:nvSpPr>
          <p:cNvPr id="41" name="Shape 36"/>
          <p:cNvSpPr/>
          <p:nvPr/>
        </p:nvSpPr>
        <p:spPr>
          <a:xfrm>
            <a:off x="6260948" y="3112008"/>
            <a:ext cx="50292" cy="1335024"/>
          </a:xfrm>
          <a:prstGeom prst="rect">
            <a:avLst/>
          </a:prstGeom>
          <a:solidFill>
            <a:srgbClr val="C1272D"/>
          </a:solidFill>
          <a:ln/>
        </p:spPr>
        <p:txBody>
          <a:bodyPr/>
          <a:lstStyle/>
          <a:p>
            <a:endParaRPr lang="en-US"/>
          </a:p>
        </p:txBody>
      </p:sp>
      <p:sp>
        <p:nvSpPr>
          <p:cNvPr id="42" name="Text 37"/>
          <p:cNvSpPr/>
          <p:nvPr/>
        </p:nvSpPr>
        <p:spPr>
          <a:xfrm>
            <a:off x="6462116" y="3185160"/>
            <a:ext cx="4918812"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WHY ATTENTION FAILS HERE</a:t>
            </a:r>
            <a:endParaRPr lang="en-US" sz="1200" dirty="0"/>
          </a:p>
        </p:txBody>
      </p:sp>
      <p:sp>
        <p:nvSpPr>
          <p:cNvPr id="43" name="Text 38"/>
          <p:cNvSpPr/>
          <p:nvPr/>
        </p:nvSpPr>
        <p:spPr>
          <a:xfrm>
            <a:off x="6462116" y="3459480"/>
            <a:ext cx="4918812" cy="457200"/>
          </a:xfrm>
          <a:prstGeom prst="rect">
            <a:avLst/>
          </a:prstGeom>
          <a:noFill/>
          <a:ln/>
        </p:spPr>
        <p:txBody>
          <a:bodyPr wrap="square" rtlCol="0" anchor="t"/>
          <a:lstStyle/>
          <a:p>
            <a:pPr marL="0" indent="0" algn="l">
              <a:lnSpc>
                <a:spcPct val="115000"/>
              </a:lnSpc>
              <a:buNone/>
            </a:pPr>
            <a:r>
              <a:rPr lang="en-US" sz="1200" dirty="0">
                <a:solidFill>
                  <a:srgbClr val="1A1E2E"/>
                </a:solidFill>
                <a:latin typeface="Segoe UI" pitchFamily="34" charset="0"/>
                <a:ea typeface="Segoe UI" pitchFamily="34" charset="-122"/>
                <a:cs typeface="Segoe UI" pitchFamily="34" charset="-120"/>
              </a:rPr>
              <a:t>Trainable attention weights overfit 9,455 sparse interactions — only FREEDOM sees a weak +9% gain, likely because its decoupled architecture dampens overfitting</a:t>
            </a:r>
            <a:endParaRPr lang="en-US" sz="1200" dirty="0"/>
          </a:p>
        </p:txBody>
      </p:sp>
      <p:sp>
        <p:nvSpPr>
          <p:cNvPr id="44" name="Shape 39"/>
          <p:cNvSpPr/>
          <p:nvPr/>
        </p:nvSpPr>
        <p:spPr>
          <a:xfrm>
            <a:off x="6260948" y="4602480"/>
            <a:ext cx="5321148" cy="1051560"/>
          </a:xfrm>
          <a:prstGeom prst="roundRect">
            <a:avLst>
              <a:gd name="adj" fmla="val 4348"/>
            </a:avLst>
          </a:prstGeom>
          <a:solidFill>
            <a:srgbClr val="EEF3FA"/>
          </a:solidFill>
          <a:ln/>
        </p:spPr>
        <p:txBody>
          <a:bodyPr/>
          <a:lstStyle/>
          <a:p>
            <a:endParaRPr lang="en-US"/>
          </a:p>
        </p:txBody>
      </p:sp>
      <p:sp>
        <p:nvSpPr>
          <p:cNvPr id="45" name="Shape 40"/>
          <p:cNvSpPr/>
          <p:nvPr/>
        </p:nvSpPr>
        <p:spPr>
          <a:xfrm>
            <a:off x="6260948" y="4620768"/>
            <a:ext cx="50292" cy="1014984"/>
          </a:xfrm>
          <a:prstGeom prst="rect">
            <a:avLst/>
          </a:prstGeom>
          <a:solidFill>
            <a:srgbClr val="1464B4"/>
          </a:solidFill>
          <a:ln/>
        </p:spPr>
        <p:txBody>
          <a:bodyPr/>
          <a:lstStyle/>
          <a:p>
            <a:endParaRPr lang="en-US"/>
          </a:p>
        </p:txBody>
      </p:sp>
      <p:sp>
        <p:nvSpPr>
          <p:cNvPr id="46" name="Text 41"/>
          <p:cNvSpPr/>
          <p:nvPr/>
        </p:nvSpPr>
        <p:spPr>
          <a:xfrm>
            <a:off x="6462116" y="4693920"/>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TAKEAWAY (RQ4 ANSWER)</a:t>
            </a:r>
            <a:endParaRPr lang="en-US" sz="1200" dirty="0"/>
          </a:p>
        </p:txBody>
      </p:sp>
      <p:sp>
        <p:nvSpPr>
          <p:cNvPr id="47" name="Text 42"/>
          <p:cNvSpPr/>
          <p:nvPr/>
        </p:nvSpPr>
        <p:spPr>
          <a:xfrm>
            <a:off x="6462116" y="4968240"/>
            <a:ext cx="4918812" cy="457200"/>
          </a:xfrm>
          <a:prstGeom prst="rect">
            <a:avLst/>
          </a:prstGeom>
          <a:noFill/>
          <a:ln/>
        </p:spPr>
        <p:txBody>
          <a:bodyPr wrap="square" rtlCol="0" anchor="t"/>
          <a:lstStyle/>
          <a:p>
            <a:pPr marL="0" indent="0" algn="l">
              <a:lnSpc>
                <a:spcPct val="115000"/>
              </a:lnSpc>
              <a:buNone/>
            </a:pPr>
            <a:r>
              <a:rPr lang="en-US" sz="1200" dirty="0">
                <a:solidFill>
                  <a:srgbClr val="1A1E2E"/>
                </a:solidFill>
                <a:latin typeface="Segoe UI" pitchFamily="34" charset="0"/>
                <a:ea typeface="Segoe UI" pitchFamily="34" charset="-122"/>
                <a:cs typeface="Segoe UI" pitchFamily="34" charset="-120"/>
              </a:rPr>
              <a:t>On sparse logs, </a:t>
            </a:r>
            <a:r>
              <a:rPr lang="en-US" sz="1200" b="1" dirty="0">
                <a:solidFill>
                  <a:srgbClr val="1A1E2E"/>
                </a:solidFill>
                <a:latin typeface="Segoe UI" pitchFamily="34" charset="0"/>
                <a:ea typeface="Segoe UI" pitchFamily="34" charset="-122"/>
                <a:cs typeface="Segoe UI" pitchFamily="34" charset="-120"/>
              </a:rPr>
              <a:t>simplicity wins</a:t>
            </a:r>
            <a:r>
              <a:rPr lang="en-US" sz="1200" dirty="0">
                <a:solidFill>
                  <a:srgbClr val="1A1E2E"/>
                </a:solidFill>
                <a:latin typeface="Segoe UI" pitchFamily="34" charset="0"/>
                <a:ea typeface="Segoe UI" pitchFamily="34" charset="-122"/>
                <a:cs typeface="Segoe UI" pitchFamily="34" charset="-120"/>
              </a:rPr>
              <a:t> — multimodal late fusion (average) consistently outperforms visual-only and text-only variants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09 · RQ3 — MODEL COMPARISON</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BM3 &gt; CombiGCN &gt; FREEDOM — bootstrap</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regularization dominates on sparse rental data</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16 / 20</a:t>
            </a:r>
            <a:endParaRPr lang="en-US" sz="1200" dirty="0"/>
          </a:p>
        </p:txBody>
      </p:sp>
      <p:sp>
        <p:nvSpPr>
          <p:cNvPr id="9" name="Text 5"/>
          <p:cNvSpPr/>
          <p:nvPr/>
        </p:nvSpPr>
        <p:spPr>
          <a:xfrm>
            <a:off x="609600"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Best configuration per model</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09600" y="2362200"/>
          <a:ext cx="5321147" cy="1536192"/>
        </p:xfrm>
        <a:graphic>
          <a:graphicData uri="http://schemas.openxmlformats.org/drawingml/2006/table">
            <a:tbl>
              <a:tblPr/>
              <a:tblGrid>
                <a:gridCol w="1383498">
                  <a:extLst>
                    <a:ext uri="{9D8B030D-6E8A-4147-A177-3AD203B41FA5}">
                      <a16:colId xmlns:a16="http://schemas.microsoft.com/office/drawing/2014/main" val="20000"/>
                    </a:ext>
                  </a:extLst>
                </a:gridCol>
                <a:gridCol w="1915613">
                  <a:extLst>
                    <a:ext uri="{9D8B030D-6E8A-4147-A177-3AD203B41FA5}">
                      <a16:colId xmlns:a16="http://schemas.microsoft.com/office/drawing/2014/main" val="20001"/>
                    </a:ext>
                  </a:extLst>
                </a:gridCol>
                <a:gridCol w="1011018">
                  <a:extLst>
                    <a:ext uri="{9D8B030D-6E8A-4147-A177-3AD203B41FA5}">
                      <a16:colId xmlns:a16="http://schemas.microsoft.com/office/drawing/2014/main" val="20002"/>
                    </a:ext>
                  </a:extLst>
                </a:gridCol>
                <a:gridCol w="1011018">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Model</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Config</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NDCG@5</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NDCG@10</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BM3</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7A50"/>
                          </a:solidFill>
                          <a:latin typeface="Consolas" pitchFamily="34" charset="0"/>
                          <a:ea typeface="Consolas" pitchFamily="34" charset="-122"/>
                          <a:cs typeface="Consolas" pitchFamily="34" charset="-120"/>
                        </a:rPr>
                        <a:t>MBNv2 · late</a:t>
                      </a:r>
                      <a:endParaRPr lang="en-US" sz="1100" dirty="0">
                        <a:latin typeface="Consolas" charset="0"/>
                        <a:ea typeface="Consolas" charset="0"/>
                        <a:cs typeface="Consolas"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0.0162</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0.0186</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CombiGCN</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7A50"/>
                          </a:solidFill>
                          <a:latin typeface="Consolas" pitchFamily="34" charset="0"/>
                          <a:ea typeface="Consolas" pitchFamily="34" charset="-122"/>
                          <a:cs typeface="Consolas" pitchFamily="34" charset="-120"/>
                        </a:rPr>
                        <a:t>MBNv2 · late</a:t>
                      </a:r>
                      <a:endParaRPr lang="en-US" sz="11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0.0137</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0.0175</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AAAAAA"/>
                          </a:solidFill>
                          <a:latin typeface="Segoe UI" pitchFamily="34" charset="0"/>
                          <a:ea typeface="Segoe UI" pitchFamily="34" charset="-122"/>
                          <a:cs typeface="Segoe UI" pitchFamily="34" charset="-120"/>
                        </a:rPr>
                        <a:t>FREEDOM</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AAAAAA"/>
                          </a:solidFill>
                          <a:latin typeface="Consolas" pitchFamily="34" charset="0"/>
                          <a:ea typeface="Consolas" pitchFamily="34" charset="-122"/>
                          <a:cs typeface="Consolas" pitchFamily="34" charset="-120"/>
                        </a:rPr>
                        <a:t>MBNv2 · attention</a:t>
                      </a:r>
                      <a:endParaRPr lang="en-US" sz="11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AAAAAA"/>
                          </a:solidFill>
                          <a:latin typeface="Segoe UI" pitchFamily="34" charset="0"/>
                          <a:ea typeface="Segoe UI" pitchFamily="34" charset="-122"/>
                          <a:cs typeface="Segoe UI" pitchFamily="34" charset="-120"/>
                        </a:rPr>
                        <a:t>0.0084</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AAAAAA"/>
                          </a:solidFill>
                          <a:latin typeface="Segoe UI" pitchFamily="34" charset="0"/>
                          <a:ea typeface="Segoe UI" pitchFamily="34" charset="-122"/>
                          <a:cs typeface="Segoe UI" pitchFamily="34" charset="-120"/>
                        </a:rPr>
                        <a:t>0.0088</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Shape 6"/>
          <p:cNvSpPr/>
          <p:nvPr/>
        </p:nvSpPr>
        <p:spPr>
          <a:xfrm>
            <a:off x="609600" y="4282440"/>
            <a:ext cx="5321148" cy="777240"/>
          </a:xfrm>
          <a:prstGeom prst="roundRect">
            <a:avLst>
              <a:gd name="adj" fmla="val 5882"/>
            </a:avLst>
          </a:prstGeom>
          <a:solidFill>
            <a:srgbClr val="EEF3FA"/>
          </a:solidFill>
          <a:ln/>
        </p:spPr>
        <p:txBody>
          <a:bodyPr/>
          <a:lstStyle/>
          <a:p>
            <a:endParaRPr lang="en-US"/>
          </a:p>
        </p:txBody>
      </p:sp>
      <p:sp>
        <p:nvSpPr>
          <p:cNvPr id="12" name="Shape 7"/>
          <p:cNvSpPr/>
          <p:nvPr/>
        </p:nvSpPr>
        <p:spPr>
          <a:xfrm>
            <a:off x="609600" y="4300728"/>
            <a:ext cx="50292" cy="740664"/>
          </a:xfrm>
          <a:prstGeom prst="rect">
            <a:avLst/>
          </a:prstGeom>
          <a:solidFill>
            <a:srgbClr val="1464B4"/>
          </a:solidFill>
          <a:ln/>
        </p:spPr>
        <p:txBody>
          <a:bodyPr/>
          <a:lstStyle/>
          <a:p>
            <a:endParaRPr lang="en-US"/>
          </a:p>
        </p:txBody>
      </p:sp>
      <p:sp>
        <p:nvSpPr>
          <p:cNvPr id="13" name="Text 8"/>
          <p:cNvSpPr/>
          <p:nvPr/>
        </p:nvSpPr>
        <p:spPr>
          <a:xfrm>
            <a:off x="792480" y="4410456"/>
            <a:ext cx="4955388" cy="457200"/>
          </a:xfrm>
          <a:prstGeom prst="rect">
            <a:avLst/>
          </a:prstGeom>
          <a:noFill/>
          <a:ln/>
        </p:spPr>
        <p:txBody>
          <a:bodyPr wrap="square" rtlCol="0" anchor="t"/>
          <a:lstStyle/>
          <a:p>
            <a:pPr marL="0" indent="0" algn="l">
              <a:lnSpc>
                <a:spcPct val="110000"/>
              </a:lnSpc>
              <a:buNone/>
            </a:pPr>
            <a:r>
              <a:rPr lang="en-US" sz="1200" dirty="0">
                <a:solidFill>
                  <a:srgbClr val="8899BB"/>
                </a:solidFill>
                <a:latin typeface="Segoe UI" pitchFamily="34" charset="0"/>
                <a:ea typeface="Segoe UI" pitchFamily="34" charset="-122"/>
                <a:cs typeface="Segoe UI" pitchFamily="34" charset="-120"/>
              </a:rPr>
              <a:t>At K = 1: BM3 = CombiGCN tie (0.0127) — BM3 advantage emerges at K ≥ 5 where bootstrap regularization compounds</a:t>
            </a:r>
            <a:endParaRPr lang="en-US" sz="1200" dirty="0"/>
          </a:p>
        </p:txBody>
      </p:sp>
      <p:sp>
        <p:nvSpPr>
          <p:cNvPr id="14" name="Shape 9"/>
          <p:cNvSpPr/>
          <p:nvPr/>
        </p:nvSpPr>
        <p:spPr>
          <a:xfrm>
            <a:off x="6260948" y="1905000"/>
            <a:ext cx="5321148" cy="914400"/>
          </a:xfrm>
          <a:prstGeom prst="roundRect">
            <a:avLst>
              <a:gd name="adj" fmla="val 5000"/>
            </a:avLst>
          </a:prstGeom>
          <a:solidFill>
            <a:srgbClr val="0D1B3E"/>
          </a:solidFill>
          <a:ln/>
        </p:spPr>
        <p:txBody>
          <a:bodyPr/>
          <a:lstStyle/>
          <a:p>
            <a:endParaRPr lang="en-US"/>
          </a:p>
        </p:txBody>
      </p:sp>
      <p:sp>
        <p:nvSpPr>
          <p:cNvPr id="15" name="Text 10"/>
          <p:cNvSpPr/>
          <p:nvPr/>
        </p:nvSpPr>
        <p:spPr>
          <a:xfrm>
            <a:off x="6462116" y="2014728"/>
            <a:ext cx="4918812" cy="219456"/>
          </a:xfrm>
          <a:prstGeom prst="rect">
            <a:avLst/>
          </a:prstGeom>
          <a:noFill/>
          <a:ln/>
        </p:spPr>
        <p:txBody>
          <a:bodyPr wrap="square" rtlCol="0" anchor="ctr"/>
          <a:lstStyle/>
          <a:p>
            <a:pPr marL="0" indent="0">
              <a:buNone/>
            </a:pPr>
            <a:r>
              <a:rPr lang="en-US" sz="1100" b="1" kern="0" spc="100" dirty="0">
                <a:solidFill>
                  <a:srgbClr val="FFFFFF">
                    <a:alpha val="45000"/>
                  </a:srgbClr>
                </a:solidFill>
                <a:latin typeface="Segoe UI" pitchFamily="34" charset="0"/>
                <a:ea typeface="Segoe UI" pitchFamily="34" charset="-122"/>
                <a:cs typeface="Segoe UI" pitchFamily="34" charset="-120"/>
              </a:rPr>
              <a:t>HIERARCHY</a:t>
            </a:r>
            <a:endParaRPr lang="en-US" sz="1100" dirty="0"/>
          </a:p>
        </p:txBody>
      </p:sp>
      <p:sp>
        <p:nvSpPr>
          <p:cNvPr id="16" name="Text 11"/>
          <p:cNvSpPr/>
          <p:nvPr/>
        </p:nvSpPr>
        <p:spPr>
          <a:xfrm>
            <a:off x="6462116" y="2289048"/>
            <a:ext cx="4918812" cy="457200"/>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BM3</a:t>
            </a:r>
            <a:r>
              <a:rPr lang="en-US" sz="1600" dirty="0">
                <a:solidFill>
                  <a:srgbClr val="FFFFFF">
                    <a:alpha val="50000"/>
                  </a:srgbClr>
                </a:solidFill>
              </a:rPr>
              <a:t>   ›   </a:t>
            </a:r>
            <a:r>
              <a:rPr lang="en-US" sz="1600" b="1" dirty="0">
                <a:solidFill>
                  <a:srgbClr val="FFFFFF"/>
                </a:solidFill>
                <a:latin typeface="Georgia" pitchFamily="34" charset="0"/>
                <a:ea typeface="Georgia" pitchFamily="34" charset="-122"/>
                <a:cs typeface="Georgia" pitchFamily="34" charset="-120"/>
              </a:rPr>
              <a:t>CombiGCN</a:t>
            </a:r>
            <a:r>
              <a:rPr lang="en-US" sz="1600" dirty="0">
                <a:solidFill>
                  <a:srgbClr val="FFFFFF">
                    <a:alpha val="50000"/>
                  </a:srgbClr>
                </a:solidFill>
              </a:rPr>
              <a:t>   ›   </a:t>
            </a:r>
            <a:r>
              <a:rPr lang="en-US" sz="1600" b="1" dirty="0">
                <a:solidFill>
                  <a:srgbClr val="FFFFFF"/>
                </a:solidFill>
                <a:latin typeface="Georgia" pitchFamily="34" charset="0"/>
                <a:ea typeface="Georgia" pitchFamily="34" charset="-122"/>
                <a:cs typeface="Georgia" pitchFamily="34" charset="-120"/>
              </a:rPr>
              <a:t>FREEDOM</a:t>
            </a:r>
            <a:endParaRPr lang="en-US" sz="1600" dirty="0"/>
          </a:p>
        </p:txBody>
      </p:sp>
      <p:sp>
        <p:nvSpPr>
          <p:cNvPr id="3" name="Shape 12"/>
          <p:cNvSpPr/>
          <p:nvPr/>
        </p:nvSpPr>
        <p:spPr>
          <a:xfrm>
            <a:off x="6260948" y="2956560"/>
            <a:ext cx="5321148" cy="1051560"/>
          </a:xfrm>
          <a:prstGeom prst="roundRect">
            <a:avLst>
              <a:gd name="adj" fmla="val 4348"/>
            </a:avLst>
          </a:prstGeom>
          <a:solidFill>
            <a:srgbClr val="EEF3FA"/>
          </a:solidFill>
          <a:ln/>
        </p:spPr>
        <p:txBody>
          <a:bodyPr/>
          <a:lstStyle/>
          <a:p>
            <a:endParaRPr lang="en-US"/>
          </a:p>
        </p:txBody>
      </p:sp>
      <p:sp>
        <p:nvSpPr>
          <p:cNvPr id="18" name="Shape 13"/>
          <p:cNvSpPr/>
          <p:nvPr/>
        </p:nvSpPr>
        <p:spPr>
          <a:xfrm>
            <a:off x="6260948" y="2974848"/>
            <a:ext cx="50292" cy="1014984"/>
          </a:xfrm>
          <a:prstGeom prst="rect">
            <a:avLst/>
          </a:prstGeom>
          <a:solidFill>
            <a:srgbClr val="1464B4"/>
          </a:solidFill>
          <a:ln/>
        </p:spPr>
        <p:txBody>
          <a:bodyPr/>
          <a:lstStyle/>
          <a:p>
            <a:endParaRPr lang="en-US"/>
          </a:p>
        </p:txBody>
      </p:sp>
      <p:sp>
        <p:nvSpPr>
          <p:cNvPr id="19" name="Text 14"/>
          <p:cNvSpPr/>
          <p:nvPr/>
        </p:nvSpPr>
        <p:spPr>
          <a:xfrm>
            <a:off x="6462116" y="3048000"/>
            <a:ext cx="4918812"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BM3 LEADS K ≥ 5</a:t>
            </a:r>
            <a:endParaRPr lang="en-US" sz="1200" dirty="0"/>
          </a:p>
        </p:txBody>
      </p:sp>
      <p:sp>
        <p:nvSpPr>
          <p:cNvPr id="20" name="Text 15"/>
          <p:cNvSpPr/>
          <p:nvPr/>
        </p:nvSpPr>
        <p:spPr>
          <a:xfrm>
            <a:off x="6462116" y="3322320"/>
            <a:ext cx="4918812" cy="457200"/>
          </a:xfrm>
          <a:prstGeom prst="rect">
            <a:avLst/>
          </a:prstGeom>
          <a:noFill/>
          <a:ln/>
        </p:spPr>
        <p:txBody>
          <a:bodyPr wrap="square" rtlCol="0" anchor="t"/>
          <a:lstStyle/>
          <a:p>
            <a:pPr marL="0" indent="0" algn="l">
              <a:lnSpc>
                <a:spcPct val="115000"/>
              </a:lnSpc>
              <a:buNone/>
            </a:pPr>
            <a:r>
              <a:rPr lang="en-US" sz="1200" dirty="0">
                <a:solidFill>
                  <a:srgbClr val="1A1E2E"/>
                </a:solidFill>
                <a:latin typeface="Segoe UI" pitchFamily="34" charset="0"/>
                <a:ea typeface="Segoe UI" pitchFamily="34" charset="-122"/>
                <a:cs typeface="Segoe UI" pitchFamily="34" charset="-120"/>
              </a:rPr>
              <a:t>Bootstrap contrastive acts as implicit regularizer — BM3’s self-supervised alignment prevents rank degradation at larger K</a:t>
            </a:r>
            <a:endParaRPr lang="en-US" sz="1200" dirty="0"/>
          </a:p>
        </p:txBody>
      </p:sp>
      <p:sp>
        <p:nvSpPr>
          <p:cNvPr id="21" name="Shape 16"/>
          <p:cNvSpPr/>
          <p:nvPr/>
        </p:nvSpPr>
        <p:spPr>
          <a:xfrm>
            <a:off x="6260948" y="4145280"/>
            <a:ext cx="5321148" cy="1051560"/>
          </a:xfrm>
          <a:prstGeom prst="roundRect">
            <a:avLst>
              <a:gd name="adj" fmla="val 4348"/>
            </a:avLst>
          </a:prstGeom>
          <a:solidFill>
            <a:srgbClr val="FDF3F3"/>
          </a:solidFill>
          <a:ln/>
        </p:spPr>
        <p:txBody>
          <a:bodyPr/>
          <a:lstStyle/>
          <a:p>
            <a:endParaRPr lang="en-US"/>
          </a:p>
        </p:txBody>
      </p:sp>
      <p:sp>
        <p:nvSpPr>
          <p:cNvPr id="22" name="Shape 17"/>
          <p:cNvSpPr/>
          <p:nvPr/>
        </p:nvSpPr>
        <p:spPr>
          <a:xfrm>
            <a:off x="6260948" y="4163568"/>
            <a:ext cx="50292" cy="1014984"/>
          </a:xfrm>
          <a:prstGeom prst="rect">
            <a:avLst/>
          </a:prstGeom>
          <a:solidFill>
            <a:srgbClr val="C1272D"/>
          </a:solidFill>
          <a:ln/>
        </p:spPr>
        <p:txBody>
          <a:bodyPr/>
          <a:lstStyle/>
          <a:p>
            <a:endParaRPr lang="en-US"/>
          </a:p>
        </p:txBody>
      </p:sp>
      <p:sp>
        <p:nvSpPr>
          <p:cNvPr id="23" name="Text 18"/>
          <p:cNvSpPr/>
          <p:nvPr/>
        </p:nvSpPr>
        <p:spPr>
          <a:xfrm>
            <a:off x="6462116" y="4236720"/>
            <a:ext cx="4918812"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FREEDOM −53% VS BM3</a:t>
            </a:r>
            <a:endParaRPr lang="en-US" sz="1200" dirty="0"/>
          </a:p>
        </p:txBody>
      </p:sp>
      <p:sp>
        <p:nvSpPr>
          <p:cNvPr id="24" name="Text 19"/>
          <p:cNvSpPr/>
          <p:nvPr/>
        </p:nvSpPr>
        <p:spPr>
          <a:xfrm>
            <a:off x="6462116" y="4511040"/>
            <a:ext cx="4918812" cy="457200"/>
          </a:xfrm>
          <a:prstGeom prst="rect">
            <a:avLst/>
          </a:prstGeom>
          <a:noFill/>
          <a:ln/>
        </p:spPr>
        <p:txBody>
          <a:bodyPr wrap="square" rtlCol="0" anchor="t"/>
          <a:lstStyle/>
          <a:p>
            <a:pPr marL="0" indent="0" algn="l">
              <a:lnSpc>
                <a:spcPct val="115000"/>
              </a:lnSpc>
              <a:buNone/>
            </a:pPr>
            <a:r>
              <a:rPr lang="en-US" sz="1200" dirty="0">
                <a:solidFill>
                  <a:srgbClr val="1A1E2E"/>
                </a:solidFill>
                <a:latin typeface="Segoe UI" pitchFamily="34" charset="0"/>
                <a:ea typeface="Segoe UI" pitchFamily="34" charset="-122"/>
                <a:cs typeface="Segoe UI" pitchFamily="34" charset="-120"/>
              </a:rPr>
              <a:t>kNN graph noise on a small 2,194-item catalog propagates incorrect semantic similarity — the frozen graph is a liability at this scale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10 · TRAINING DYNAMICS &amp; OVERFITTING</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BM3’s bootstrap loss prevents overfitting;</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CombiGCN peaks early then degrades −70%</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17 / 20</a:t>
            </a:r>
            <a:endParaRPr lang="en-US" sz="1200" dirty="0"/>
          </a:p>
        </p:txBody>
      </p:sp>
      <p:sp>
        <p:nvSpPr>
          <p:cNvPr id="9" name="Text 5"/>
          <p:cNvSpPr/>
          <p:nvPr/>
        </p:nvSpPr>
        <p:spPr>
          <a:xfrm>
            <a:off x="609600"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Peak validation epoch (best config)</a:t>
            </a:r>
            <a:endParaRPr lang="en-US" sz="1500" dirty="0"/>
          </a:p>
        </p:txBody>
      </p:sp>
      <p:sp>
        <p:nvSpPr>
          <p:cNvPr id="10" name="Shape 6"/>
          <p:cNvSpPr/>
          <p:nvPr/>
        </p:nvSpPr>
        <p:spPr>
          <a:xfrm>
            <a:off x="609600" y="2316480"/>
            <a:ext cx="5321148" cy="960120"/>
          </a:xfrm>
          <a:prstGeom prst="roundRect">
            <a:avLst>
              <a:gd name="adj" fmla="val 4762"/>
            </a:avLst>
          </a:prstGeom>
          <a:solidFill>
            <a:srgbClr val="EEF3FA"/>
          </a:solidFill>
          <a:ln/>
        </p:spPr>
        <p:txBody>
          <a:bodyPr/>
          <a:lstStyle/>
          <a:p>
            <a:endParaRPr lang="en-US"/>
          </a:p>
        </p:txBody>
      </p:sp>
      <p:sp>
        <p:nvSpPr>
          <p:cNvPr id="11" name="Shape 7"/>
          <p:cNvSpPr/>
          <p:nvPr/>
        </p:nvSpPr>
        <p:spPr>
          <a:xfrm>
            <a:off x="609600" y="2334768"/>
            <a:ext cx="50292" cy="923544"/>
          </a:xfrm>
          <a:prstGeom prst="rect">
            <a:avLst/>
          </a:prstGeom>
          <a:solidFill>
            <a:srgbClr val="1464B4"/>
          </a:solidFill>
          <a:ln/>
        </p:spPr>
        <p:txBody>
          <a:bodyPr/>
          <a:lstStyle/>
          <a:p>
            <a:endParaRPr lang="en-US"/>
          </a:p>
        </p:txBody>
      </p:sp>
      <p:sp>
        <p:nvSpPr>
          <p:cNvPr id="12" name="Text 8"/>
          <p:cNvSpPr/>
          <p:nvPr/>
        </p:nvSpPr>
        <p:spPr>
          <a:xfrm>
            <a:off x="810768" y="2444496"/>
            <a:ext cx="3492348"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CombiGCN</a:t>
            </a:r>
            <a:endParaRPr lang="en-US" sz="1500" dirty="0"/>
          </a:p>
        </p:txBody>
      </p:sp>
      <p:sp>
        <p:nvSpPr>
          <p:cNvPr id="13" name="Shape 9"/>
          <p:cNvSpPr/>
          <p:nvPr/>
        </p:nvSpPr>
        <p:spPr>
          <a:xfrm>
            <a:off x="4376268" y="2444496"/>
            <a:ext cx="1288390" cy="310896"/>
          </a:xfrm>
          <a:prstGeom prst="roundRect">
            <a:avLst>
              <a:gd name="adj" fmla="val 8824"/>
            </a:avLst>
          </a:prstGeom>
          <a:solidFill>
            <a:srgbClr val="DEEAF9"/>
          </a:solidFill>
          <a:ln/>
        </p:spPr>
        <p:txBody>
          <a:bodyPr/>
          <a:lstStyle/>
          <a:p>
            <a:endParaRPr lang="en-US"/>
          </a:p>
        </p:txBody>
      </p:sp>
      <p:sp>
        <p:nvSpPr>
          <p:cNvPr id="14" name="Text 10"/>
          <p:cNvSpPr/>
          <p:nvPr/>
        </p:nvSpPr>
        <p:spPr>
          <a:xfrm>
            <a:off x="4376268" y="2444496"/>
            <a:ext cx="1288390" cy="310896"/>
          </a:xfrm>
          <a:prstGeom prst="rect">
            <a:avLst/>
          </a:prstGeom>
          <a:noFill/>
          <a:ln/>
        </p:spPr>
        <p:txBody>
          <a:bodyPr wrap="none" rtlCol="0" anchor="ctr"/>
          <a:lstStyle/>
          <a:p>
            <a:pPr marL="0" indent="0" algn="ctr">
              <a:buNone/>
            </a:pPr>
            <a:r>
              <a:rPr lang="en-US" sz="1200" b="1" dirty="0">
                <a:solidFill>
                  <a:srgbClr val="1464B4"/>
                </a:solidFill>
                <a:latin typeface="Segoe UI" pitchFamily="34" charset="0"/>
                <a:ea typeface="Segoe UI" pitchFamily="34" charset="-122"/>
                <a:cs typeface="Segoe UI" pitchFamily="34" charset="-120"/>
              </a:rPr>
              <a:t>@ epoch 280</a:t>
            </a:r>
            <a:endParaRPr lang="en-US" sz="1200" dirty="0"/>
          </a:p>
        </p:txBody>
      </p:sp>
      <p:sp>
        <p:nvSpPr>
          <p:cNvPr id="15" name="Text 11"/>
          <p:cNvSpPr/>
          <p:nvPr/>
        </p:nvSpPr>
        <p:spPr>
          <a:xfrm>
            <a:off x="810768" y="2791968"/>
            <a:ext cx="4918812" cy="457200"/>
          </a:xfrm>
          <a:prstGeom prst="rect">
            <a:avLst/>
          </a:prstGeom>
          <a:noFill/>
          <a:ln/>
        </p:spPr>
        <p:txBody>
          <a:bodyPr wrap="square" rtlCol="0" anchor="t"/>
          <a:lstStyle/>
          <a:p>
            <a:pPr marL="0" indent="0" algn="l">
              <a:lnSpc>
                <a:spcPct val="110000"/>
              </a:lnSpc>
              <a:buNone/>
            </a:pPr>
            <a:r>
              <a:rPr lang="en-US" sz="1150" dirty="0">
                <a:solidFill>
                  <a:srgbClr val="1A1E2E"/>
                </a:solidFill>
                <a:latin typeface="Segoe UI" pitchFamily="34" charset="0"/>
                <a:ea typeface="Segoe UI" pitchFamily="34" charset="-122"/>
                <a:cs typeface="Segoe UI" pitchFamily="34" charset="-120"/>
              </a:rPr>
              <a:t>Peaks early, then loss falls </a:t>
            </a:r>
            <a:r>
              <a:rPr lang="en-US" sz="1150" b="1" dirty="0">
                <a:solidFill>
                  <a:srgbClr val="1A1E2E"/>
                </a:solidFill>
                <a:latin typeface="Segoe UI" pitchFamily="34" charset="0"/>
                <a:ea typeface="Segoe UI" pitchFamily="34" charset="-122"/>
                <a:cs typeface="Segoe UI" pitchFamily="34" charset="-120"/>
              </a:rPr>
              <a:t>−70%</a:t>
            </a:r>
            <a:r>
              <a:rPr lang="en-US" sz="1150" dirty="0">
                <a:solidFill>
                  <a:srgbClr val="1A1E2E"/>
                </a:solidFill>
                <a:latin typeface="Segoe UI" pitchFamily="34" charset="0"/>
                <a:ea typeface="Segoe UI" pitchFamily="34" charset="-122"/>
                <a:cs typeface="Segoe UI" pitchFamily="34" charset="-120"/>
              </a:rPr>
              <a:t> while test quality drops. ~2.5× faster than BM3 → useful if budget is tight (with early stopping).</a:t>
            </a:r>
            <a:endParaRPr lang="en-US" sz="1150" dirty="0"/>
          </a:p>
        </p:txBody>
      </p:sp>
      <p:sp>
        <p:nvSpPr>
          <p:cNvPr id="16" name="Shape 12"/>
          <p:cNvSpPr/>
          <p:nvPr/>
        </p:nvSpPr>
        <p:spPr>
          <a:xfrm>
            <a:off x="609600" y="3368040"/>
            <a:ext cx="5321148" cy="960120"/>
          </a:xfrm>
          <a:prstGeom prst="roundRect">
            <a:avLst>
              <a:gd name="adj" fmla="val 4762"/>
            </a:avLst>
          </a:prstGeom>
          <a:solidFill>
            <a:srgbClr val="FDF3F3"/>
          </a:solidFill>
          <a:ln/>
        </p:spPr>
        <p:txBody>
          <a:bodyPr/>
          <a:lstStyle/>
          <a:p>
            <a:endParaRPr lang="en-US"/>
          </a:p>
        </p:txBody>
      </p:sp>
      <p:sp>
        <p:nvSpPr>
          <p:cNvPr id="17" name="Shape 13"/>
          <p:cNvSpPr/>
          <p:nvPr/>
        </p:nvSpPr>
        <p:spPr>
          <a:xfrm>
            <a:off x="609600" y="3386328"/>
            <a:ext cx="50292" cy="923544"/>
          </a:xfrm>
          <a:prstGeom prst="rect">
            <a:avLst/>
          </a:prstGeom>
          <a:solidFill>
            <a:srgbClr val="C1272D"/>
          </a:solidFill>
          <a:ln/>
        </p:spPr>
        <p:txBody>
          <a:bodyPr/>
          <a:lstStyle/>
          <a:p>
            <a:endParaRPr lang="en-US"/>
          </a:p>
        </p:txBody>
      </p:sp>
      <p:sp>
        <p:nvSpPr>
          <p:cNvPr id="18" name="Text 14"/>
          <p:cNvSpPr/>
          <p:nvPr/>
        </p:nvSpPr>
        <p:spPr>
          <a:xfrm>
            <a:off x="810768" y="3496056"/>
            <a:ext cx="3492348"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BM3</a:t>
            </a:r>
            <a:endParaRPr lang="en-US" sz="1500" dirty="0"/>
          </a:p>
        </p:txBody>
      </p:sp>
      <p:sp>
        <p:nvSpPr>
          <p:cNvPr id="19" name="Shape 15"/>
          <p:cNvSpPr/>
          <p:nvPr/>
        </p:nvSpPr>
        <p:spPr>
          <a:xfrm>
            <a:off x="4376268" y="3496056"/>
            <a:ext cx="1288390" cy="310896"/>
          </a:xfrm>
          <a:prstGeom prst="roundRect">
            <a:avLst>
              <a:gd name="adj" fmla="val 8824"/>
            </a:avLst>
          </a:prstGeom>
          <a:solidFill>
            <a:srgbClr val="FAE5E5"/>
          </a:solidFill>
          <a:ln/>
        </p:spPr>
        <p:txBody>
          <a:bodyPr/>
          <a:lstStyle/>
          <a:p>
            <a:endParaRPr lang="en-US"/>
          </a:p>
        </p:txBody>
      </p:sp>
      <p:sp>
        <p:nvSpPr>
          <p:cNvPr id="20" name="Text 16"/>
          <p:cNvSpPr/>
          <p:nvPr/>
        </p:nvSpPr>
        <p:spPr>
          <a:xfrm>
            <a:off x="4376268" y="3496056"/>
            <a:ext cx="1288390" cy="310896"/>
          </a:xfrm>
          <a:prstGeom prst="rect">
            <a:avLst/>
          </a:prstGeom>
          <a:noFill/>
          <a:ln/>
        </p:spPr>
        <p:txBody>
          <a:bodyPr wrap="none" rtlCol="0" anchor="ctr"/>
          <a:lstStyle/>
          <a:p>
            <a:pPr marL="0" indent="0" algn="ctr">
              <a:buNone/>
            </a:pPr>
            <a:r>
              <a:rPr lang="en-US" sz="1200" b="1" dirty="0">
                <a:solidFill>
                  <a:srgbClr val="C1272D"/>
                </a:solidFill>
                <a:latin typeface="Segoe UI" pitchFamily="34" charset="0"/>
                <a:ea typeface="Segoe UI" pitchFamily="34" charset="-122"/>
                <a:cs typeface="Segoe UI" pitchFamily="34" charset="-120"/>
              </a:rPr>
              <a:t>@ epoch 720</a:t>
            </a:r>
            <a:endParaRPr lang="en-US" sz="1200" dirty="0"/>
          </a:p>
        </p:txBody>
      </p:sp>
      <p:sp>
        <p:nvSpPr>
          <p:cNvPr id="21" name="Text 17"/>
          <p:cNvSpPr/>
          <p:nvPr/>
        </p:nvSpPr>
        <p:spPr>
          <a:xfrm>
            <a:off x="810768" y="3843528"/>
            <a:ext cx="4918812" cy="457200"/>
          </a:xfrm>
          <a:prstGeom prst="rect">
            <a:avLst/>
          </a:prstGeom>
          <a:noFill/>
          <a:ln/>
        </p:spPr>
        <p:txBody>
          <a:bodyPr wrap="square" rtlCol="0" anchor="t"/>
          <a:lstStyle/>
          <a:p>
            <a:pPr marL="0" indent="0" algn="l">
              <a:lnSpc>
                <a:spcPct val="110000"/>
              </a:lnSpc>
              <a:buNone/>
            </a:pPr>
            <a:r>
              <a:rPr lang="en-US" sz="1150" dirty="0">
                <a:solidFill>
                  <a:srgbClr val="1A1E2E"/>
                </a:solidFill>
                <a:latin typeface="Segoe UI" pitchFamily="34" charset="0"/>
                <a:ea typeface="Segoe UI" pitchFamily="34" charset="-122"/>
                <a:cs typeface="Segoe UI" pitchFamily="34" charset="-120"/>
              </a:rPr>
              <a:t>Slow but robust — loss falls only </a:t>
            </a:r>
            <a:r>
              <a:rPr lang="en-US" sz="1150" b="1" dirty="0">
                <a:solidFill>
                  <a:srgbClr val="1A1E2E"/>
                </a:solidFill>
                <a:latin typeface="Segoe UI" pitchFamily="34" charset="0"/>
                <a:ea typeface="Segoe UI" pitchFamily="34" charset="-122"/>
                <a:cs typeface="Segoe UI" pitchFamily="34" charset="-120"/>
              </a:rPr>
              <a:t>−21%</a:t>
            </a:r>
            <a:r>
              <a:rPr lang="en-US" sz="1150" dirty="0">
                <a:solidFill>
                  <a:srgbClr val="1A1E2E"/>
                </a:solidFill>
                <a:latin typeface="Segoe UI" pitchFamily="34" charset="0"/>
                <a:ea typeface="Segoe UI" pitchFamily="34" charset="-122"/>
                <a:cs typeface="Segoe UI" pitchFamily="34" charset="-120"/>
              </a:rPr>
              <a:t> after peak. Bootstrap contrastive acts as a strong implicit regularizer.</a:t>
            </a:r>
            <a:endParaRPr lang="en-US" sz="1150" dirty="0"/>
          </a:p>
        </p:txBody>
      </p:sp>
      <p:sp>
        <p:nvSpPr>
          <p:cNvPr id="22" name="Shape 18"/>
          <p:cNvSpPr/>
          <p:nvPr/>
        </p:nvSpPr>
        <p:spPr>
          <a:xfrm>
            <a:off x="609600" y="4419600"/>
            <a:ext cx="5321148" cy="960120"/>
          </a:xfrm>
          <a:prstGeom prst="roundRect">
            <a:avLst>
              <a:gd name="adj" fmla="val 4762"/>
            </a:avLst>
          </a:prstGeom>
          <a:solidFill>
            <a:srgbClr val="F0FAF5"/>
          </a:solidFill>
          <a:ln/>
        </p:spPr>
        <p:txBody>
          <a:bodyPr/>
          <a:lstStyle/>
          <a:p>
            <a:endParaRPr lang="en-US"/>
          </a:p>
        </p:txBody>
      </p:sp>
      <p:sp>
        <p:nvSpPr>
          <p:cNvPr id="23" name="Shape 19"/>
          <p:cNvSpPr/>
          <p:nvPr/>
        </p:nvSpPr>
        <p:spPr>
          <a:xfrm>
            <a:off x="609600" y="4437888"/>
            <a:ext cx="50292" cy="923544"/>
          </a:xfrm>
          <a:prstGeom prst="rect">
            <a:avLst/>
          </a:prstGeom>
          <a:solidFill>
            <a:srgbClr val="1A7A50"/>
          </a:solidFill>
          <a:ln/>
        </p:spPr>
        <p:txBody>
          <a:bodyPr/>
          <a:lstStyle/>
          <a:p>
            <a:endParaRPr lang="en-US"/>
          </a:p>
        </p:txBody>
      </p:sp>
      <p:sp>
        <p:nvSpPr>
          <p:cNvPr id="24" name="Text 20"/>
          <p:cNvSpPr/>
          <p:nvPr/>
        </p:nvSpPr>
        <p:spPr>
          <a:xfrm>
            <a:off x="810768" y="4547616"/>
            <a:ext cx="3492348"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FREEDOM</a:t>
            </a:r>
            <a:endParaRPr lang="en-US" sz="1500" dirty="0"/>
          </a:p>
        </p:txBody>
      </p:sp>
      <p:sp>
        <p:nvSpPr>
          <p:cNvPr id="25" name="Shape 21"/>
          <p:cNvSpPr/>
          <p:nvPr/>
        </p:nvSpPr>
        <p:spPr>
          <a:xfrm>
            <a:off x="4376268" y="4547616"/>
            <a:ext cx="1288390" cy="310896"/>
          </a:xfrm>
          <a:prstGeom prst="roundRect">
            <a:avLst>
              <a:gd name="adj" fmla="val 8824"/>
            </a:avLst>
          </a:prstGeom>
          <a:solidFill>
            <a:srgbClr val="D8F0E8"/>
          </a:solidFill>
          <a:ln/>
        </p:spPr>
        <p:txBody>
          <a:bodyPr/>
          <a:lstStyle/>
          <a:p>
            <a:endParaRPr lang="en-US"/>
          </a:p>
        </p:txBody>
      </p:sp>
      <p:sp>
        <p:nvSpPr>
          <p:cNvPr id="26" name="Text 22"/>
          <p:cNvSpPr/>
          <p:nvPr/>
        </p:nvSpPr>
        <p:spPr>
          <a:xfrm>
            <a:off x="4376268" y="4547616"/>
            <a:ext cx="1288390" cy="310896"/>
          </a:xfrm>
          <a:prstGeom prst="rect">
            <a:avLst/>
          </a:prstGeom>
          <a:noFill/>
          <a:ln/>
        </p:spPr>
        <p:txBody>
          <a:bodyPr wrap="none" rtlCol="0" anchor="ctr"/>
          <a:lstStyle/>
          <a:p>
            <a:pPr marL="0" indent="0" algn="ctr">
              <a:buNone/>
            </a:pPr>
            <a:r>
              <a:rPr lang="en-US" sz="1200" b="1" dirty="0">
                <a:solidFill>
                  <a:srgbClr val="1A7A50"/>
                </a:solidFill>
                <a:latin typeface="Segoe UI" pitchFamily="34" charset="0"/>
                <a:ea typeface="Segoe UI" pitchFamily="34" charset="-122"/>
                <a:cs typeface="Segoe UI" pitchFamily="34" charset="-120"/>
              </a:rPr>
              <a:t>@ epoch 960</a:t>
            </a:r>
            <a:endParaRPr lang="en-US" sz="1200" dirty="0"/>
          </a:p>
        </p:txBody>
      </p:sp>
      <p:sp>
        <p:nvSpPr>
          <p:cNvPr id="27" name="Text 23"/>
          <p:cNvSpPr/>
          <p:nvPr/>
        </p:nvSpPr>
        <p:spPr>
          <a:xfrm>
            <a:off x="810768" y="4895088"/>
            <a:ext cx="4918812" cy="457200"/>
          </a:xfrm>
          <a:prstGeom prst="rect">
            <a:avLst/>
          </a:prstGeom>
          <a:noFill/>
          <a:ln/>
        </p:spPr>
        <p:txBody>
          <a:bodyPr wrap="square" rtlCol="0" anchor="t"/>
          <a:lstStyle/>
          <a:p>
            <a:pPr marL="0" indent="0" algn="l">
              <a:lnSpc>
                <a:spcPct val="110000"/>
              </a:lnSpc>
              <a:buNone/>
            </a:pPr>
            <a:r>
              <a:rPr lang="en-US" sz="1150" dirty="0">
                <a:solidFill>
                  <a:srgbClr val="1A1E2E"/>
                </a:solidFill>
                <a:latin typeface="Segoe UI" pitchFamily="34" charset="0"/>
                <a:ea typeface="Segoe UI" pitchFamily="34" charset="-122"/>
                <a:cs typeface="Segoe UI" pitchFamily="34" charset="-120"/>
              </a:rPr>
              <a:t>Late &amp; flat — loss nearly stationary after peak. Frozen kNN prevents destabilization but also limits adaptation.</a:t>
            </a:r>
            <a:endParaRPr lang="en-US" sz="1150" dirty="0"/>
          </a:p>
        </p:txBody>
      </p:sp>
      <p:sp>
        <p:nvSpPr>
          <p:cNvPr id="28" name="Text 24"/>
          <p:cNvSpPr/>
          <p:nvPr/>
        </p:nvSpPr>
        <p:spPr>
          <a:xfrm>
            <a:off x="6260948" y="1905000"/>
            <a:ext cx="5321148" cy="320040"/>
          </a:xfrm>
          <a:prstGeom prst="rect">
            <a:avLst/>
          </a:prstGeom>
          <a:noFill/>
          <a:ln/>
        </p:spPr>
        <p:txBody>
          <a:bodyPr wrap="square" rtlCol="0" anchor="t"/>
          <a:lstStyle/>
          <a:p>
            <a:pPr marL="0" indent="0" algn="l">
              <a:buNone/>
            </a:pPr>
            <a:r>
              <a:rPr lang="en-US" sz="1500" b="1" dirty="0">
                <a:solidFill>
                  <a:srgbClr val="1464B4"/>
                </a:solidFill>
                <a:latin typeface="Segoe UI" pitchFamily="34" charset="0"/>
                <a:ea typeface="Segoe UI" pitchFamily="34" charset="-122"/>
                <a:cs typeface="Segoe UI" pitchFamily="34" charset="-120"/>
              </a:rPr>
              <a:t>Convergence Summary</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60948" y="2316480"/>
          <a:ext cx="5321146" cy="1463040"/>
        </p:xfrm>
        <a:graphic>
          <a:graphicData uri="http://schemas.openxmlformats.org/drawingml/2006/table">
            <a:tbl>
              <a:tblPr/>
              <a:tblGrid>
                <a:gridCol w="1596344">
                  <a:extLst>
                    <a:ext uri="{9D8B030D-6E8A-4147-A177-3AD203B41FA5}">
                      <a16:colId xmlns:a16="http://schemas.microsoft.com/office/drawing/2014/main" val="20000"/>
                    </a:ext>
                  </a:extLst>
                </a:gridCol>
                <a:gridCol w="1277075">
                  <a:extLst>
                    <a:ext uri="{9D8B030D-6E8A-4147-A177-3AD203B41FA5}">
                      <a16:colId xmlns:a16="http://schemas.microsoft.com/office/drawing/2014/main" val="20001"/>
                    </a:ext>
                  </a:extLst>
                </a:gridCol>
                <a:gridCol w="1170652">
                  <a:extLst>
                    <a:ext uri="{9D8B030D-6E8A-4147-A177-3AD203B41FA5}">
                      <a16:colId xmlns:a16="http://schemas.microsoft.com/office/drawing/2014/main" val="20002"/>
                    </a:ext>
                  </a:extLst>
                </a:gridCol>
                <a:gridCol w="1277075">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Model</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Peak epoch</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Loss drop</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tc>
                  <a:txBody>
                    <a:bodyPr/>
                    <a:lstStyle/>
                    <a:p>
                      <a:pPr marL="0" indent="0">
                        <a:buNone/>
                      </a:pPr>
                      <a:r>
                        <a:rPr lang="en-US" sz="1100" b="1" dirty="0">
                          <a:solidFill>
                            <a:srgbClr val="0D1B3E"/>
                          </a:solidFill>
                          <a:latin typeface="Segoe UI" pitchFamily="34" charset="0"/>
                          <a:ea typeface="Segoe UI" pitchFamily="34" charset="-122"/>
                          <a:cs typeface="Segoe UI" pitchFamily="34" charset="-120"/>
                        </a:rPr>
                        <a:t>Verdict</a:t>
                      </a:r>
                      <a:endParaRPr lang="en-US" sz="11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CombiGCN</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280</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−70%</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AAAAAA"/>
                          </a:solidFill>
                          <a:latin typeface="Segoe UI" pitchFamily="34" charset="0"/>
                          <a:ea typeface="Segoe UI" pitchFamily="34" charset="-122"/>
                          <a:cs typeface="Segoe UI" pitchFamily="34" charset="-120"/>
                        </a:rPr>
                        <a:t>Overfit risk</a:t>
                      </a:r>
                      <a:endParaRPr lang="en-US" sz="11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BM3</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720</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−21%</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b="1" dirty="0">
                          <a:solidFill>
                            <a:srgbClr val="1464B4"/>
                          </a:solidFill>
                          <a:latin typeface="Segoe UI" pitchFamily="34" charset="0"/>
                          <a:ea typeface="Segoe UI" pitchFamily="34" charset="-122"/>
                          <a:cs typeface="Segoe UI" pitchFamily="34" charset="-120"/>
                        </a:rPr>
                        <a:t>Robust</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FREEDOM</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960</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~0%</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tc>
                  <a:txBody>
                    <a:bodyPr/>
                    <a:lstStyle/>
                    <a:p>
                      <a:pPr marL="0" indent="0">
                        <a:buNone/>
                      </a:pPr>
                      <a:r>
                        <a:rPr lang="en-US" sz="1100" dirty="0">
                          <a:solidFill>
                            <a:srgbClr val="1A1E2E"/>
                          </a:solidFill>
                          <a:latin typeface="Segoe UI" pitchFamily="34" charset="0"/>
                          <a:ea typeface="Segoe UI" pitchFamily="34" charset="-122"/>
                          <a:cs typeface="Segoe UI" pitchFamily="34" charset="-120"/>
                        </a:rPr>
                        <a:t>Flat</a:t>
                      </a:r>
                      <a:endParaRPr lang="en-US" sz="11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E0E6F0"/>
                      </a:solidFill>
                      <a:prstDash val="solid"/>
                      <a:round/>
                      <a:headEnd type="none" w="med" len="med"/>
                      <a:tailEnd type="none" w="med" len="med"/>
                    </a:lnT>
                    <a:lnB w="6350" cap="flat" cmpd="sng" algn="ctr">
                      <a:solidFill>
                        <a:srgbClr val="E0E6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0" name="Shape 25"/>
          <p:cNvSpPr/>
          <p:nvPr/>
        </p:nvSpPr>
        <p:spPr>
          <a:xfrm>
            <a:off x="6260948" y="4191000"/>
            <a:ext cx="5321148" cy="1143000"/>
          </a:xfrm>
          <a:prstGeom prst="roundRect">
            <a:avLst>
              <a:gd name="adj" fmla="val 4000"/>
            </a:avLst>
          </a:prstGeom>
          <a:solidFill>
            <a:srgbClr val="0D1B3E"/>
          </a:solidFill>
          <a:ln/>
        </p:spPr>
        <p:txBody>
          <a:bodyPr/>
          <a:lstStyle/>
          <a:p>
            <a:endParaRPr lang="en-US"/>
          </a:p>
        </p:txBody>
      </p:sp>
      <p:sp>
        <p:nvSpPr>
          <p:cNvPr id="31" name="Text 26"/>
          <p:cNvSpPr/>
          <p:nvPr/>
        </p:nvSpPr>
        <p:spPr>
          <a:xfrm>
            <a:off x="6462116" y="4319016"/>
            <a:ext cx="4918812" cy="219456"/>
          </a:xfrm>
          <a:prstGeom prst="rect">
            <a:avLst/>
          </a:prstGeom>
          <a:noFill/>
          <a:ln/>
        </p:spPr>
        <p:txBody>
          <a:bodyPr wrap="square" rtlCol="0" anchor="ctr"/>
          <a:lstStyle/>
          <a:p>
            <a:pPr marL="0" indent="0">
              <a:buNone/>
            </a:pPr>
            <a:r>
              <a:rPr lang="en-US" sz="1100" b="1" kern="0" spc="100" dirty="0">
                <a:solidFill>
                  <a:srgbClr val="FFFFFF">
                    <a:alpha val="45000"/>
                  </a:srgbClr>
                </a:solidFill>
                <a:latin typeface="Segoe UI" pitchFamily="34" charset="0"/>
                <a:ea typeface="Segoe UI" pitchFamily="34" charset="-122"/>
                <a:cs typeface="Segoe UI" pitchFamily="34" charset="-120"/>
              </a:rPr>
              <a:t>PRACTICAL GUIDANCE</a:t>
            </a:r>
            <a:endParaRPr lang="en-US" sz="1100" dirty="0"/>
          </a:p>
        </p:txBody>
      </p:sp>
      <p:sp>
        <p:nvSpPr>
          <p:cNvPr id="32" name="Text 27"/>
          <p:cNvSpPr/>
          <p:nvPr/>
        </p:nvSpPr>
        <p:spPr>
          <a:xfrm>
            <a:off x="6462116" y="4593336"/>
            <a:ext cx="4918812" cy="457200"/>
          </a:xfrm>
          <a:prstGeom prst="rect">
            <a:avLst/>
          </a:prstGeom>
          <a:noFill/>
          <a:ln/>
        </p:spPr>
        <p:txBody>
          <a:bodyPr wrap="square" rtlCol="0" anchor="t"/>
          <a:lstStyle/>
          <a:p>
            <a:pPr marL="0" indent="0" algn="l">
              <a:lnSpc>
                <a:spcPct val="115000"/>
              </a:lnSpc>
              <a:buNone/>
            </a:pPr>
            <a:r>
              <a:rPr lang="en-US" sz="1200" dirty="0">
                <a:solidFill>
                  <a:srgbClr val="FFFFFF"/>
                </a:solidFill>
                <a:latin typeface="Segoe UI" pitchFamily="34" charset="0"/>
                <a:ea typeface="Segoe UI" pitchFamily="34" charset="-122"/>
                <a:cs typeface="Segoe UI" pitchFamily="34" charset="-120"/>
              </a:rPr>
              <a:t>Use </a:t>
            </a:r>
            <a:r>
              <a:rPr lang="en-US" sz="1200" b="1" dirty="0">
                <a:solidFill>
                  <a:srgbClr val="FFFFFF"/>
                </a:solidFill>
                <a:latin typeface="Segoe UI" pitchFamily="34" charset="0"/>
                <a:ea typeface="Segoe UI" pitchFamily="34" charset="-122"/>
                <a:cs typeface="Segoe UI" pitchFamily="34" charset="-120"/>
              </a:rPr>
              <a:t>CombiGCN</a:t>
            </a:r>
            <a:r>
              <a:rPr lang="en-US" sz="1200" dirty="0">
                <a:solidFill>
                  <a:srgbClr val="FFFFFF"/>
                </a:solidFill>
                <a:latin typeface="Segoe UI" pitchFamily="34" charset="0"/>
                <a:ea typeface="Segoe UI" pitchFamily="34" charset="-122"/>
                <a:cs typeface="Segoe UI" pitchFamily="34" charset="-120"/>
              </a:rPr>
              <a:t> when training budget is tight (with early stopping). Use </a:t>
            </a:r>
            <a:r>
              <a:rPr lang="en-US" sz="1200" b="1" dirty="0">
                <a:solidFill>
                  <a:srgbClr val="FFFFFF"/>
                </a:solidFill>
                <a:latin typeface="Segoe UI" pitchFamily="34" charset="0"/>
                <a:ea typeface="Segoe UI" pitchFamily="34" charset="-122"/>
                <a:cs typeface="Segoe UI" pitchFamily="34" charset="-120"/>
              </a:rPr>
              <a:t>BM3</a:t>
            </a:r>
            <a:r>
              <a:rPr lang="en-US" sz="1200" dirty="0">
                <a:solidFill>
                  <a:srgbClr val="FFFFFF"/>
                </a:solidFill>
                <a:latin typeface="Segoe UI" pitchFamily="34" charset="0"/>
                <a:ea typeface="Segoe UI" pitchFamily="34" charset="-122"/>
                <a:cs typeface="Segoe UI" pitchFamily="34" charset="-120"/>
              </a:rPr>
              <a:t> when ranking quality matters most — its regularization pays off at K ≥ 5.</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3E"/>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8899BB"/>
                </a:solidFill>
                <a:latin typeface="Segoe UI" pitchFamily="34" charset="0"/>
                <a:ea typeface="Segoe UI" pitchFamily="34" charset="-122"/>
                <a:cs typeface="Segoe UI" pitchFamily="34" charset="-120"/>
              </a:rPr>
              <a:t>11 · CONCLUSION &amp; CONTRIBUTIONS</a:t>
            </a:r>
            <a:endParaRPr lang="en-US" sz="1200" dirty="0"/>
          </a:p>
        </p:txBody>
      </p:sp>
      <p:sp>
        <p:nvSpPr>
          <p:cNvPr id="5" name="Text 1"/>
          <p:cNvSpPr/>
          <p:nvPr/>
        </p:nvSpPr>
        <p:spPr>
          <a:xfrm>
            <a:off x="609600" y="1003300"/>
            <a:ext cx="10972495" cy="914400"/>
          </a:xfrm>
          <a:prstGeom prst="rect">
            <a:avLst/>
          </a:prstGeom>
          <a:noFill/>
          <a:ln/>
        </p:spPr>
        <p:txBody>
          <a:bodyPr wrap="square" rtlCol="0" anchor="t"/>
          <a:lstStyle/>
          <a:p>
            <a:pPr marL="0" indent="0" algn="l">
              <a:lnSpc>
                <a:spcPct val="105000"/>
              </a:lnSpc>
              <a:buNone/>
            </a:pPr>
            <a:r>
              <a:rPr lang="en-US" sz="2500" b="1" dirty="0">
                <a:solidFill>
                  <a:srgbClr val="FFFFFF"/>
                </a:solidFill>
                <a:latin typeface="Georgia" pitchFamily="34" charset="0"/>
                <a:ea typeface="Georgia" pitchFamily="34" charset="-122"/>
                <a:cs typeface="Georgia" pitchFamily="34" charset="-120"/>
              </a:rPr>
              <a:t>Four reproducible findings on multimodal GNN</a:t>
            </a:r>
            <a:endParaRPr lang="en-US" sz="2500" dirty="0"/>
          </a:p>
          <a:p>
            <a:pPr marL="0" indent="0" algn="l">
              <a:lnSpc>
                <a:spcPct val="105000"/>
              </a:lnSpc>
              <a:buNone/>
            </a:pPr>
            <a:r>
              <a:rPr lang="en-US" sz="2500" b="1" dirty="0">
                <a:solidFill>
                  <a:srgbClr val="FFFFFF"/>
                </a:solidFill>
                <a:latin typeface="Georgia" pitchFamily="34" charset="0"/>
                <a:ea typeface="Georgia" pitchFamily="34" charset="-122"/>
                <a:cs typeface="Georgia" pitchFamily="34" charset="-120"/>
              </a:rPr>
              <a:t>for sparse fashion recommendation</a:t>
            </a:r>
            <a:endParaRPr lang="en-US" sz="2500" dirty="0"/>
          </a:p>
        </p:txBody>
      </p:sp>
      <p:sp>
        <p:nvSpPr>
          <p:cNvPr id="6" name="Shape 2"/>
          <p:cNvSpPr/>
          <p:nvPr/>
        </p:nvSpPr>
        <p:spPr>
          <a:xfrm>
            <a:off x="609600" y="2514600"/>
            <a:ext cx="5349088" cy="1600200"/>
          </a:xfrm>
          <a:prstGeom prst="roundRect">
            <a:avLst>
              <a:gd name="adj" fmla="val 2857"/>
            </a:avLst>
          </a:prstGeom>
          <a:solidFill>
            <a:srgbClr val="FFFFFF">
              <a:alpha val="6000"/>
            </a:srgbClr>
          </a:solidFill>
          <a:ln/>
        </p:spPr>
        <p:txBody>
          <a:bodyPr/>
          <a:lstStyle/>
          <a:p>
            <a:endParaRPr lang="en-US"/>
          </a:p>
        </p:txBody>
      </p:sp>
      <p:sp>
        <p:nvSpPr>
          <p:cNvPr id="7" name="Shape 3"/>
          <p:cNvSpPr/>
          <p:nvPr/>
        </p:nvSpPr>
        <p:spPr>
          <a:xfrm>
            <a:off x="609600" y="2514600"/>
            <a:ext cx="5349088" cy="41148"/>
          </a:xfrm>
          <a:prstGeom prst="rect">
            <a:avLst/>
          </a:prstGeom>
          <a:solidFill>
            <a:srgbClr val="1464B4"/>
          </a:solidFill>
          <a:ln/>
        </p:spPr>
        <p:txBody>
          <a:bodyPr/>
          <a:lstStyle/>
          <a:p>
            <a:endParaRPr lang="en-US"/>
          </a:p>
        </p:txBody>
      </p:sp>
      <p:sp>
        <p:nvSpPr>
          <p:cNvPr id="8" name="Text 4"/>
          <p:cNvSpPr/>
          <p:nvPr/>
        </p:nvSpPr>
        <p:spPr>
          <a:xfrm>
            <a:off x="865632" y="2660904"/>
            <a:ext cx="914400" cy="365760"/>
          </a:xfrm>
          <a:prstGeom prst="rect">
            <a:avLst/>
          </a:prstGeom>
          <a:noFill/>
          <a:ln/>
        </p:spPr>
        <p:txBody>
          <a:bodyPr wrap="square" rtlCol="0" anchor="t"/>
          <a:lstStyle/>
          <a:p>
            <a:pPr marL="0" indent="0">
              <a:buNone/>
            </a:pPr>
            <a:r>
              <a:rPr lang="en-US" sz="1800" b="1" dirty="0">
                <a:solidFill>
                  <a:srgbClr val="1464B4"/>
                </a:solidFill>
                <a:latin typeface="Georgia" pitchFamily="34" charset="0"/>
                <a:ea typeface="Georgia" pitchFamily="34" charset="-122"/>
                <a:cs typeface="Georgia" pitchFamily="34" charset="-120"/>
              </a:rPr>
              <a:t>01</a:t>
            </a:r>
            <a:endParaRPr lang="en-US" sz="1800" dirty="0"/>
          </a:p>
        </p:txBody>
      </p:sp>
      <p:sp>
        <p:nvSpPr>
          <p:cNvPr id="9" name="Text 5"/>
          <p:cNvSpPr/>
          <p:nvPr/>
        </p:nvSpPr>
        <p:spPr>
          <a:xfrm>
            <a:off x="865632" y="3081528"/>
            <a:ext cx="4891888" cy="365760"/>
          </a:xfrm>
          <a:prstGeom prst="rect">
            <a:avLst/>
          </a:prstGeom>
          <a:noFill/>
          <a:ln/>
        </p:spPr>
        <p:txBody>
          <a:bodyPr wrap="square" rtlCol="0" anchor="t"/>
          <a:lstStyle/>
          <a:p>
            <a:pPr marL="0" indent="0">
              <a:buNone/>
            </a:pPr>
            <a:r>
              <a:rPr lang="en-US" sz="1500" b="1" dirty="0">
                <a:solidFill>
                  <a:srgbClr val="FFFFFF"/>
                </a:solidFill>
                <a:latin typeface="Segoe UI" pitchFamily="34" charset="0"/>
                <a:ea typeface="Segoe UI" pitchFamily="34" charset="-122"/>
                <a:cs typeface="Segoe UI" pitchFamily="34" charset="-120"/>
              </a:rPr>
              <a:t>Multimodal late fusion helps</a:t>
            </a:r>
            <a:endParaRPr lang="en-US" sz="1500" dirty="0"/>
          </a:p>
        </p:txBody>
      </p:sp>
      <p:sp>
        <p:nvSpPr>
          <p:cNvPr id="10" name="Text 6"/>
          <p:cNvSpPr/>
          <p:nvPr/>
        </p:nvSpPr>
        <p:spPr>
          <a:xfrm>
            <a:off x="865632" y="3447288"/>
            <a:ext cx="4891888" cy="594360"/>
          </a:xfrm>
          <a:prstGeom prst="rect">
            <a:avLst/>
          </a:prstGeom>
          <a:noFill/>
          <a:ln/>
        </p:spPr>
        <p:txBody>
          <a:bodyPr wrap="square" rtlCol="0" anchor="t"/>
          <a:lstStyle/>
          <a:p>
            <a:pPr marL="0" indent="0">
              <a:lnSpc>
                <a:spcPct val="115000"/>
              </a:lnSpc>
              <a:buNone/>
            </a:pPr>
            <a:r>
              <a:rPr lang="en-US" sz="1200" dirty="0">
                <a:solidFill>
                  <a:srgbClr val="FFFFFF">
                    <a:alpha val="70000"/>
                  </a:srgbClr>
                </a:solidFill>
                <a:latin typeface="Segoe UI" pitchFamily="34" charset="0"/>
                <a:ea typeface="Segoe UI" pitchFamily="34" charset="-122"/>
                <a:cs typeface="Segoe UI" pitchFamily="34" charset="-120"/>
              </a:rPr>
              <a:t>Within every evaluated architecture, fusing visual + textual beats single-modality variants</a:t>
            </a:r>
            <a:endParaRPr lang="en-US" sz="1200" dirty="0"/>
          </a:p>
        </p:txBody>
      </p:sp>
      <p:sp>
        <p:nvSpPr>
          <p:cNvPr id="11" name="Shape 7"/>
          <p:cNvSpPr/>
          <p:nvPr/>
        </p:nvSpPr>
        <p:spPr>
          <a:xfrm>
            <a:off x="6233008" y="2514600"/>
            <a:ext cx="5349088" cy="1600200"/>
          </a:xfrm>
          <a:prstGeom prst="roundRect">
            <a:avLst>
              <a:gd name="adj" fmla="val 2857"/>
            </a:avLst>
          </a:prstGeom>
          <a:solidFill>
            <a:srgbClr val="FFFFFF">
              <a:alpha val="6000"/>
            </a:srgbClr>
          </a:solidFill>
          <a:ln/>
        </p:spPr>
        <p:txBody>
          <a:bodyPr/>
          <a:lstStyle/>
          <a:p>
            <a:endParaRPr lang="en-US"/>
          </a:p>
        </p:txBody>
      </p:sp>
      <p:sp>
        <p:nvSpPr>
          <p:cNvPr id="12" name="Shape 8"/>
          <p:cNvSpPr/>
          <p:nvPr/>
        </p:nvSpPr>
        <p:spPr>
          <a:xfrm>
            <a:off x="6233008" y="2514600"/>
            <a:ext cx="5349088" cy="41148"/>
          </a:xfrm>
          <a:prstGeom prst="rect">
            <a:avLst/>
          </a:prstGeom>
          <a:solidFill>
            <a:srgbClr val="C1272D"/>
          </a:solidFill>
          <a:ln/>
        </p:spPr>
        <p:txBody>
          <a:bodyPr/>
          <a:lstStyle/>
          <a:p>
            <a:endParaRPr lang="en-US"/>
          </a:p>
        </p:txBody>
      </p:sp>
      <p:sp>
        <p:nvSpPr>
          <p:cNvPr id="13" name="Text 9"/>
          <p:cNvSpPr/>
          <p:nvPr/>
        </p:nvSpPr>
        <p:spPr>
          <a:xfrm>
            <a:off x="6489040" y="2660904"/>
            <a:ext cx="914400" cy="365760"/>
          </a:xfrm>
          <a:prstGeom prst="rect">
            <a:avLst/>
          </a:prstGeom>
          <a:noFill/>
          <a:ln/>
        </p:spPr>
        <p:txBody>
          <a:bodyPr wrap="square" rtlCol="0" anchor="t"/>
          <a:lstStyle/>
          <a:p>
            <a:pPr marL="0" indent="0">
              <a:buNone/>
            </a:pPr>
            <a:r>
              <a:rPr lang="en-US" sz="1800" b="1" dirty="0">
                <a:solidFill>
                  <a:srgbClr val="C1272D"/>
                </a:solidFill>
                <a:latin typeface="Georgia" pitchFamily="34" charset="0"/>
                <a:ea typeface="Georgia" pitchFamily="34" charset="-122"/>
                <a:cs typeface="Georgia" pitchFamily="34" charset="-120"/>
              </a:rPr>
              <a:t>02</a:t>
            </a:r>
            <a:endParaRPr lang="en-US" sz="1800" dirty="0"/>
          </a:p>
        </p:txBody>
      </p:sp>
      <p:sp>
        <p:nvSpPr>
          <p:cNvPr id="14" name="Text 10"/>
          <p:cNvSpPr/>
          <p:nvPr/>
        </p:nvSpPr>
        <p:spPr>
          <a:xfrm>
            <a:off x="6489040" y="3081528"/>
            <a:ext cx="4891888" cy="365760"/>
          </a:xfrm>
          <a:prstGeom prst="rect">
            <a:avLst/>
          </a:prstGeom>
          <a:noFill/>
          <a:ln/>
        </p:spPr>
        <p:txBody>
          <a:bodyPr wrap="square" rtlCol="0" anchor="t"/>
          <a:lstStyle/>
          <a:p>
            <a:pPr marL="0" indent="0">
              <a:buNone/>
            </a:pPr>
            <a:r>
              <a:rPr lang="en-US" sz="1500" b="1" dirty="0">
                <a:solidFill>
                  <a:srgbClr val="FFFFFF"/>
                </a:solidFill>
                <a:latin typeface="Segoe UI" pitchFamily="34" charset="0"/>
                <a:ea typeface="Segoe UI" pitchFamily="34" charset="-122"/>
                <a:cs typeface="Segoe UI" pitchFamily="34" charset="-120"/>
              </a:rPr>
              <a:t>Encoder choice is conditional</a:t>
            </a:r>
            <a:endParaRPr lang="en-US" sz="1500" dirty="0"/>
          </a:p>
        </p:txBody>
      </p:sp>
      <p:sp>
        <p:nvSpPr>
          <p:cNvPr id="15" name="Text 11"/>
          <p:cNvSpPr/>
          <p:nvPr/>
        </p:nvSpPr>
        <p:spPr>
          <a:xfrm>
            <a:off x="6489040" y="3447288"/>
            <a:ext cx="4891888" cy="594360"/>
          </a:xfrm>
          <a:prstGeom prst="rect">
            <a:avLst/>
          </a:prstGeom>
          <a:noFill/>
          <a:ln/>
        </p:spPr>
        <p:txBody>
          <a:bodyPr wrap="square" rtlCol="0" anchor="t"/>
          <a:lstStyle/>
          <a:p>
            <a:pPr marL="0" indent="0">
              <a:lnSpc>
                <a:spcPct val="115000"/>
              </a:lnSpc>
              <a:buNone/>
            </a:pPr>
            <a:r>
              <a:rPr lang="en-US" sz="1200" dirty="0">
                <a:solidFill>
                  <a:srgbClr val="FFFFFF">
                    <a:alpha val="70000"/>
                  </a:srgbClr>
                </a:solidFill>
                <a:latin typeface="Segoe UI" pitchFamily="34" charset="0"/>
                <a:ea typeface="Segoe UI" pitchFamily="34" charset="-122"/>
                <a:cs typeface="Segoe UI" pitchFamily="34" charset="-120"/>
              </a:rPr>
              <a:t>MobileNetV2 leads in late-fusion; CLIP wins visual-only — no universal ranking across all configs</a:t>
            </a:r>
            <a:endParaRPr lang="en-US" sz="1200" dirty="0"/>
          </a:p>
        </p:txBody>
      </p:sp>
      <p:sp>
        <p:nvSpPr>
          <p:cNvPr id="16" name="Shape 12"/>
          <p:cNvSpPr/>
          <p:nvPr/>
        </p:nvSpPr>
        <p:spPr>
          <a:xfrm>
            <a:off x="609600" y="4343400"/>
            <a:ext cx="5349088" cy="1600200"/>
          </a:xfrm>
          <a:prstGeom prst="roundRect">
            <a:avLst>
              <a:gd name="adj" fmla="val 2857"/>
            </a:avLst>
          </a:prstGeom>
          <a:solidFill>
            <a:srgbClr val="FFFFFF">
              <a:alpha val="6000"/>
            </a:srgbClr>
          </a:solidFill>
          <a:ln/>
        </p:spPr>
        <p:txBody>
          <a:bodyPr/>
          <a:lstStyle/>
          <a:p>
            <a:endParaRPr lang="en-US"/>
          </a:p>
        </p:txBody>
      </p:sp>
      <p:sp>
        <p:nvSpPr>
          <p:cNvPr id="17" name="Shape 13"/>
          <p:cNvSpPr/>
          <p:nvPr/>
        </p:nvSpPr>
        <p:spPr>
          <a:xfrm>
            <a:off x="609600" y="4343400"/>
            <a:ext cx="5349088" cy="41148"/>
          </a:xfrm>
          <a:prstGeom prst="rect">
            <a:avLst/>
          </a:prstGeom>
          <a:solidFill>
            <a:srgbClr val="7ECBA5"/>
          </a:solidFill>
          <a:ln/>
        </p:spPr>
        <p:txBody>
          <a:bodyPr/>
          <a:lstStyle/>
          <a:p>
            <a:endParaRPr lang="en-US"/>
          </a:p>
        </p:txBody>
      </p:sp>
      <p:sp>
        <p:nvSpPr>
          <p:cNvPr id="18" name="Text 14"/>
          <p:cNvSpPr/>
          <p:nvPr/>
        </p:nvSpPr>
        <p:spPr>
          <a:xfrm>
            <a:off x="865632" y="4489704"/>
            <a:ext cx="914400" cy="365760"/>
          </a:xfrm>
          <a:prstGeom prst="rect">
            <a:avLst/>
          </a:prstGeom>
          <a:noFill/>
          <a:ln/>
        </p:spPr>
        <p:txBody>
          <a:bodyPr wrap="square" rtlCol="0" anchor="t"/>
          <a:lstStyle/>
          <a:p>
            <a:pPr marL="0" indent="0">
              <a:buNone/>
            </a:pPr>
            <a:r>
              <a:rPr lang="en-US" sz="1800" b="1" dirty="0">
                <a:solidFill>
                  <a:srgbClr val="7ECBA5"/>
                </a:solidFill>
                <a:latin typeface="Georgia" pitchFamily="34" charset="0"/>
                <a:ea typeface="Georgia" pitchFamily="34" charset="-122"/>
                <a:cs typeface="Georgia" pitchFamily="34" charset="-120"/>
              </a:rPr>
              <a:t>03</a:t>
            </a:r>
            <a:endParaRPr lang="en-US" sz="1800" dirty="0"/>
          </a:p>
        </p:txBody>
      </p:sp>
      <p:sp>
        <p:nvSpPr>
          <p:cNvPr id="19" name="Text 15"/>
          <p:cNvSpPr/>
          <p:nvPr/>
        </p:nvSpPr>
        <p:spPr>
          <a:xfrm>
            <a:off x="865632" y="4910328"/>
            <a:ext cx="4891888" cy="365760"/>
          </a:xfrm>
          <a:prstGeom prst="rect">
            <a:avLst/>
          </a:prstGeom>
          <a:noFill/>
          <a:ln/>
        </p:spPr>
        <p:txBody>
          <a:bodyPr wrap="square" rtlCol="0" anchor="t"/>
          <a:lstStyle/>
          <a:p>
            <a:pPr marL="0" indent="0">
              <a:buNone/>
            </a:pPr>
            <a:r>
              <a:rPr lang="en-US" sz="1500" b="1" dirty="0">
                <a:solidFill>
                  <a:srgbClr val="FFFFFF"/>
                </a:solidFill>
                <a:latin typeface="Segoe UI" pitchFamily="34" charset="0"/>
                <a:ea typeface="Segoe UI" pitchFamily="34" charset="-122"/>
                <a:cs typeface="Segoe UI" pitchFamily="34" charset="-120"/>
              </a:rPr>
              <a:t>Simpler fusion is stronger</a:t>
            </a:r>
            <a:endParaRPr lang="en-US" sz="1500" dirty="0"/>
          </a:p>
        </p:txBody>
      </p:sp>
      <p:sp>
        <p:nvSpPr>
          <p:cNvPr id="20" name="Text 16"/>
          <p:cNvSpPr/>
          <p:nvPr/>
        </p:nvSpPr>
        <p:spPr>
          <a:xfrm>
            <a:off x="865632" y="5276088"/>
            <a:ext cx="4891888" cy="594360"/>
          </a:xfrm>
          <a:prstGeom prst="rect">
            <a:avLst/>
          </a:prstGeom>
          <a:noFill/>
          <a:ln/>
        </p:spPr>
        <p:txBody>
          <a:bodyPr wrap="square" rtlCol="0" anchor="t"/>
          <a:lstStyle/>
          <a:p>
            <a:pPr marL="0" indent="0">
              <a:lnSpc>
                <a:spcPct val="115000"/>
              </a:lnSpc>
              <a:buNone/>
            </a:pPr>
            <a:r>
              <a:rPr lang="en-US" sz="1200" dirty="0">
                <a:solidFill>
                  <a:srgbClr val="FFFFFF">
                    <a:alpha val="70000"/>
                  </a:srgbClr>
                </a:solidFill>
                <a:latin typeface="Segoe UI" pitchFamily="34" charset="0"/>
                <a:ea typeface="Segoe UI" pitchFamily="34" charset="-122"/>
                <a:cs typeface="Segoe UI" pitchFamily="34" charset="-120"/>
              </a:rPr>
              <a:t>Parameter-free late fusion is robust; trainable attention overfits the 9,455-interaction sparse log</a:t>
            </a:r>
            <a:endParaRPr lang="en-US" sz="1200" dirty="0"/>
          </a:p>
        </p:txBody>
      </p:sp>
      <p:sp>
        <p:nvSpPr>
          <p:cNvPr id="21" name="Shape 17"/>
          <p:cNvSpPr/>
          <p:nvPr/>
        </p:nvSpPr>
        <p:spPr>
          <a:xfrm>
            <a:off x="6233008" y="4343400"/>
            <a:ext cx="5349088" cy="1600200"/>
          </a:xfrm>
          <a:prstGeom prst="roundRect">
            <a:avLst>
              <a:gd name="adj" fmla="val 2857"/>
            </a:avLst>
          </a:prstGeom>
          <a:solidFill>
            <a:srgbClr val="FFFFFF">
              <a:alpha val="6000"/>
            </a:srgbClr>
          </a:solidFill>
          <a:ln/>
        </p:spPr>
        <p:txBody>
          <a:bodyPr/>
          <a:lstStyle/>
          <a:p>
            <a:endParaRPr lang="en-US"/>
          </a:p>
        </p:txBody>
      </p:sp>
      <p:sp>
        <p:nvSpPr>
          <p:cNvPr id="22" name="Shape 18"/>
          <p:cNvSpPr/>
          <p:nvPr/>
        </p:nvSpPr>
        <p:spPr>
          <a:xfrm>
            <a:off x="6233008" y="4343400"/>
            <a:ext cx="5349088" cy="41148"/>
          </a:xfrm>
          <a:prstGeom prst="rect">
            <a:avLst/>
          </a:prstGeom>
          <a:solidFill>
            <a:srgbClr val="F0C040"/>
          </a:solidFill>
          <a:ln/>
        </p:spPr>
        <p:txBody>
          <a:bodyPr/>
          <a:lstStyle/>
          <a:p>
            <a:endParaRPr lang="en-US"/>
          </a:p>
        </p:txBody>
      </p:sp>
      <p:sp>
        <p:nvSpPr>
          <p:cNvPr id="23" name="Text 19"/>
          <p:cNvSpPr/>
          <p:nvPr/>
        </p:nvSpPr>
        <p:spPr>
          <a:xfrm>
            <a:off x="6489040" y="4489704"/>
            <a:ext cx="914400" cy="365760"/>
          </a:xfrm>
          <a:prstGeom prst="rect">
            <a:avLst/>
          </a:prstGeom>
          <a:noFill/>
          <a:ln/>
        </p:spPr>
        <p:txBody>
          <a:bodyPr wrap="square" rtlCol="0" anchor="t"/>
          <a:lstStyle/>
          <a:p>
            <a:pPr marL="0" indent="0">
              <a:buNone/>
            </a:pPr>
            <a:r>
              <a:rPr lang="en-US" sz="1800" b="1" dirty="0">
                <a:solidFill>
                  <a:srgbClr val="F0C040"/>
                </a:solidFill>
                <a:latin typeface="Georgia" pitchFamily="34" charset="0"/>
                <a:ea typeface="Georgia" pitchFamily="34" charset="-122"/>
                <a:cs typeface="Georgia" pitchFamily="34" charset="-120"/>
              </a:rPr>
              <a:t>04</a:t>
            </a:r>
            <a:endParaRPr lang="en-US" sz="1800" dirty="0"/>
          </a:p>
        </p:txBody>
      </p:sp>
      <p:sp>
        <p:nvSpPr>
          <p:cNvPr id="24" name="Text 20"/>
          <p:cNvSpPr/>
          <p:nvPr/>
        </p:nvSpPr>
        <p:spPr>
          <a:xfrm>
            <a:off x="6489040" y="4910328"/>
            <a:ext cx="4891888" cy="365760"/>
          </a:xfrm>
          <a:prstGeom prst="rect">
            <a:avLst/>
          </a:prstGeom>
          <a:noFill/>
          <a:ln/>
        </p:spPr>
        <p:txBody>
          <a:bodyPr wrap="square" rtlCol="0" anchor="t"/>
          <a:lstStyle/>
          <a:p>
            <a:pPr marL="0" indent="0">
              <a:buNone/>
            </a:pPr>
            <a:r>
              <a:rPr lang="en-US" sz="1500" b="1" dirty="0">
                <a:solidFill>
                  <a:srgbClr val="FFFFFF"/>
                </a:solidFill>
                <a:latin typeface="Segoe UI" pitchFamily="34" charset="0"/>
                <a:ea typeface="Segoe UI" pitchFamily="34" charset="-122"/>
                <a:cs typeface="Segoe UI" pitchFamily="34" charset="-120"/>
              </a:rPr>
              <a:t>Architecture × depth matters</a:t>
            </a:r>
            <a:endParaRPr lang="en-US" sz="1500" dirty="0"/>
          </a:p>
        </p:txBody>
      </p:sp>
      <p:sp>
        <p:nvSpPr>
          <p:cNvPr id="25" name="Text 21"/>
          <p:cNvSpPr/>
          <p:nvPr/>
        </p:nvSpPr>
        <p:spPr>
          <a:xfrm>
            <a:off x="6489040" y="5276088"/>
            <a:ext cx="4891888" cy="594360"/>
          </a:xfrm>
          <a:prstGeom prst="rect">
            <a:avLst/>
          </a:prstGeom>
          <a:noFill/>
          <a:ln/>
        </p:spPr>
        <p:txBody>
          <a:bodyPr wrap="square" rtlCol="0" anchor="t"/>
          <a:lstStyle/>
          <a:p>
            <a:pPr marL="0" indent="0">
              <a:lnSpc>
                <a:spcPct val="115000"/>
              </a:lnSpc>
              <a:buNone/>
            </a:pPr>
            <a:r>
              <a:rPr lang="en-US" sz="1200" dirty="0">
                <a:solidFill>
                  <a:srgbClr val="FFFFFF">
                    <a:alpha val="70000"/>
                  </a:srgbClr>
                </a:solidFill>
                <a:latin typeface="Segoe UI" pitchFamily="34" charset="0"/>
                <a:ea typeface="Segoe UI" pitchFamily="34" charset="-122"/>
                <a:cs typeface="Segoe UI" pitchFamily="34" charset="-120"/>
              </a:rPr>
              <a:t>BM3 best for K ≥ 5; CombiGCN matches at K = 1; FREEDOM requires larger catalogs than VCR provides</a:t>
            </a:r>
            <a:endParaRPr lang="en-US" sz="1200" dirty="0"/>
          </a:p>
        </p:txBody>
      </p:sp>
      <p:sp>
        <p:nvSpPr>
          <p:cNvPr id="26" name="Shape 22"/>
          <p:cNvSpPr/>
          <p:nvPr/>
        </p:nvSpPr>
        <p:spPr>
          <a:xfrm>
            <a:off x="609600" y="6223000"/>
            <a:ext cx="10972495" cy="0"/>
          </a:xfrm>
          <a:prstGeom prst="line">
            <a:avLst/>
          </a:prstGeom>
          <a:noFill/>
          <a:ln w="12700">
            <a:solidFill>
              <a:srgbClr val="39456B"/>
            </a:solidFill>
            <a:prstDash val="solid"/>
          </a:ln>
        </p:spPr>
        <p:txBody>
          <a:bodyPr/>
          <a:lstStyle/>
          <a:p>
            <a:endParaRPr lang="en-US"/>
          </a:p>
        </p:txBody>
      </p:sp>
      <p:sp>
        <p:nvSpPr>
          <p:cNvPr id="27" name="Text 2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FFFFFF">
                    <a:alpha val="30000"/>
                  </a:srgbClr>
                </a:solidFill>
                <a:latin typeface="Segoe UI" pitchFamily="34" charset="0"/>
                <a:ea typeface="Segoe UI" pitchFamily="34" charset="-122"/>
                <a:cs typeface="Segoe UI" pitchFamily="34" charset="-120"/>
              </a:rPr>
              <a:t>Hoang Dinh Quy Vu · research topic 2</a:t>
            </a:r>
            <a:endParaRPr lang="en-US" sz="1200" dirty="0"/>
          </a:p>
        </p:txBody>
      </p:sp>
      <p:sp>
        <p:nvSpPr>
          <p:cNvPr id="28" name="Text 2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FFFFFF">
                    <a:alpha val="50000"/>
                  </a:srgbClr>
                </a:solidFill>
                <a:latin typeface="Segoe UI" pitchFamily="34" charset="0"/>
                <a:ea typeface="Segoe UI" pitchFamily="34" charset="-122"/>
                <a:cs typeface="Segoe UI" pitchFamily="34" charset="-120"/>
              </a:rPr>
              <a:t>18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12 · LIMITATIONS &amp; FUTURE WORK</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Single-run estimates on near-floor metrics —</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findings are directional, not definitive</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19 / 20</a:t>
            </a:r>
            <a:endParaRPr lang="en-US" sz="1200" dirty="0"/>
          </a:p>
        </p:txBody>
      </p:sp>
      <p:sp>
        <p:nvSpPr>
          <p:cNvPr id="9" name="Text 5"/>
          <p:cNvSpPr/>
          <p:nvPr/>
        </p:nvSpPr>
        <p:spPr>
          <a:xfrm>
            <a:off x="609600" y="1905000"/>
            <a:ext cx="5321148"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Current Limitations</a:t>
            </a:r>
            <a:endParaRPr lang="en-US" sz="1500" dirty="0"/>
          </a:p>
        </p:txBody>
      </p:sp>
      <p:sp>
        <p:nvSpPr>
          <p:cNvPr id="10" name="Shape 6"/>
          <p:cNvSpPr/>
          <p:nvPr/>
        </p:nvSpPr>
        <p:spPr>
          <a:xfrm>
            <a:off x="609600" y="2389632"/>
            <a:ext cx="64008" cy="64008"/>
          </a:xfrm>
          <a:prstGeom prst="ellipse">
            <a:avLst/>
          </a:prstGeom>
          <a:solidFill>
            <a:srgbClr val="C1272D"/>
          </a:solidFill>
          <a:ln/>
        </p:spPr>
        <p:txBody>
          <a:bodyPr/>
          <a:lstStyle/>
          <a:p>
            <a:endParaRPr lang="en-US"/>
          </a:p>
        </p:txBody>
      </p:sp>
      <p:sp>
        <p:nvSpPr>
          <p:cNvPr id="11" name="Text 7"/>
          <p:cNvSpPr/>
          <p:nvPr/>
        </p:nvSpPr>
        <p:spPr>
          <a:xfrm>
            <a:off x="755904" y="2307336"/>
            <a:ext cx="5174844" cy="658368"/>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Single-run estimates</a:t>
            </a:r>
            <a:r>
              <a:rPr lang="en-US" sz="1300" dirty="0">
                <a:solidFill>
                  <a:srgbClr val="1A1E2E"/>
                </a:solidFill>
                <a:latin typeface="Segoe UI" pitchFamily="34" charset="0"/>
                <a:ea typeface="Segoe UI" pitchFamily="34" charset="-122"/>
                <a:cs typeface="Segoe UI" pitchFamily="34" charset="-120"/>
              </a:rPr>
              <a:t> — no multiple seeds or significance tests; narrow margins (BM3 vs CombiGCN) are indicative trends</a:t>
            </a:r>
            <a:endParaRPr lang="en-US" sz="1300" dirty="0"/>
          </a:p>
        </p:txBody>
      </p:sp>
      <p:sp>
        <p:nvSpPr>
          <p:cNvPr id="12" name="Shape 8"/>
          <p:cNvSpPr/>
          <p:nvPr/>
        </p:nvSpPr>
        <p:spPr>
          <a:xfrm>
            <a:off x="609600" y="3084576"/>
            <a:ext cx="64008" cy="64008"/>
          </a:xfrm>
          <a:prstGeom prst="ellipse">
            <a:avLst/>
          </a:prstGeom>
          <a:solidFill>
            <a:srgbClr val="C1272D"/>
          </a:solidFill>
          <a:ln/>
        </p:spPr>
        <p:txBody>
          <a:bodyPr/>
          <a:lstStyle/>
          <a:p>
            <a:endParaRPr lang="en-US"/>
          </a:p>
        </p:txBody>
      </p:sp>
      <p:sp>
        <p:nvSpPr>
          <p:cNvPr id="13" name="Text 9"/>
          <p:cNvSpPr/>
          <p:nvPr/>
        </p:nvSpPr>
        <p:spPr>
          <a:xfrm>
            <a:off x="755904" y="3002280"/>
            <a:ext cx="5174844" cy="658368"/>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Near-floor absolute metrics</a:t>
            </a:r>
            <a:r>
              <a:rPr lang="en-US" sz="1300" dirty="0">
                <a:solidFill>
                  <a:srgbClr val="1A1E2E"/>
                </a:solidFill>
                <a:latin typeface="Segoe UI" pitchFamily="34" charset="0"/>
                <a:ea typeface="Segoe UI" pitchFamily="34" charset="-122"/>
                <a:cs typeface="Segoe UI" pitchFamily="34" charset="-120"/>
              </a:rPr>
              <a:t> — extreme sparsity (3.81 test items/user) keeps HR@10 ~0.07; focus is relative comparison</a:t>
            </a:r>
            <a:endParaRPr lang="en-US" sz="1300" dirty="0"/>
          </a:p>
        </p:txBody>
      </p:sp>
      <p:sp>
        <p:nvSpPr>
          <p:cNvPr id="14" name="Shape 10"/>
          <p:cNvSpPr/>
          <p:nvPr/>
        </p:nvSpPr>
        <p:spPr>
          <a:xfrm>
            <a:off x="609600" y="3779520"/>
            <a:ext cx="64008" cy="64008"/>
          </a:xfrm>
          <a:prstGeom prst="ellipse">
            <a:avLst/>
          </a:prstGeom>
          <a:solidFill>
            <a:srgbClr val="C1272D"/>
          </a:solidFill>
          <a:ln/>
        </p:spPr>
        <p:txBody>
          <a:bodyPr/>
          <a:lstStyle/>
          <a:p>
            <a:endParaRPr lang="en-US"/>
          </a:p>
        </p:txBody>
      </p:sp>
      <p:sp>
        <p:nvSpPr>
          <p:cNvPr id="15" name="Text 11"/>
          <p:cNvSpPr/>
          <p:nvPr/>
        </p:nvSpPr>
        <p:spPr>
          <a:xfrm>
            <a:off x="755904" y="3697224"/>
            <a:ext cx="5174844" cy="658368"/>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No standalone baselines</a:t>
            </a:r>
            <a:r>
              <a:rPr lang="en-US" sz="1300" dirty="0">
                <a:solidFill>
                  <a:srgbClr val="1A1E2E"/>
                </a:solidFill>
                <a:latin typeface="Segoe UI" pitchFamily="34" charset="0"/>
                <a:ea typeface="Segoe UI" pitchFamily="34" charset="-122"/>
                <a:cs typeface="Segoe UI" pitchFamily="34" charset="-120"/>
              </a:rPr>
              <a:t> — LightGCN-only and popularity baselines not benchmarked; d = 512 fixed without ablation</a:t>
            </a:r>
            <a:endParaRPr lang="en-US" sz="1300" dirty="0"/>
          </a:p>
        </p:txBody>
      </p:sp>
      <p:sp>
        <p:nvSpPr>
          <p:cNvPr id="16" name="Shape 12"/>
          <p:cNvSpPr/>
          <p:nvPr/>
        </p:nvSpPr>
        <p:spPr>
          <a:xfrm>
            <a:off x="609600" y="4474464"/>
            <a:ext cx="64008" cy="64008"/>
          </a:xfrm>
          <a:prstGeom prst="ellipse">
            <a:avLst/>
          </a:prstGeom>
          <a:solidFill>
            <a:srgbClr val="C1272D"/>
          </a:solidFill>
          <a:ln/>
        </p:spPr>
        <p:txBody>
          <a:bodyPr/>
          <a:lstStyle/>
          <a:p>
            <a:endParaRPr lang="en-US"/>
          </a:p>
        </p:txBody>
      </p:sp>
      <p:sp>
        <p:nvSpPr>
          <p:cNvPr id="17" name="Text 13"/>
          <p:cNvSpPr/>
          <p:nvPr/>
        </p:nvSpPr>
        <p:spPr>
          <a:xfrm>
            <a:off x="755904" y="4392168"/>
            <a:ext cx="5174844" cy="658368"/>
          </a:xfrm>
          <a:prstGeom prst="rect">
            <a:avLst/>
          </a:prstGeom>
          <a:noFill/>
          <a:ln/>
        </p:spPr>
        <p:txBody>
          <a:bodyPr wrap="square" rtlCol="0" anchor="t"/>
          <a:lstStyle/>
          <a:p>
            <a:pPr marL="0" indent="0" algn="l">
              <a:lnSpc>
                <a:spcPct val="110000"/>
              </a:lnSpc>
              <a:buNone/>
            </a:pPr>
            <a:r>
              <a:rPr lang="en-US" sz="1300" b="1" dirty="0">
                <a:solidFill>
                  <a:srgbClr val="1A1E2E"/>
                </a:solidFill>
                <a:latin typeface="Segoe UI" pitchFamily="34" charset="0"/>
                <a:ea typeface="Segoe UI" pitchFamily="34" charset="-122"/>
                <a:cs typeface="Segoe UI" pitchFamily="34" charset="-120"/>
              </a:rPr>
              <a:t>Static offline features</a:t>
            </a:r>
            <a:r>
              <a:rPr lang="en-US" sz="1300" dirty="0">
                <a:solidFill>
                  <a:srgbClr val="1A1E2E"/>
                </a:solidFill>
                <a:latin typeface="Segoe UI" pitchFamily="34" charset="0"/>
                <a:ea typeface="Segoe UI" pitchFamily="34" charset="-122"/>
                <a:cs typeface="Segoe UI" pitchFamily="34" charset="-120"/>
              </a:rPr>
              <a:t> — pre-extracted embeddings ignore temporal trends in fashion</a:t>
            </a:r>
            <a:endParaRPr lang="en-US" sz="1300" dirty="0"/>
          </a:p>
        </p:txBody>
      </p:sp>
      <p:sp>
        <p:nvSpPr>
          <p:cNvPr id="18" name="Text 14"/>
          <p:cNvSpPr/>
          <p:nvPr/>
        </p:nvSpPr>
        <p:spPr>
          <a:xfrm>
            <a:off x="6260948" y="1905000"/>
            <a:ext cx="5321148" cy="320040"/>
          </a:xfrm>
          <a:prstGeom prst="rect">
            <a:avLst/>
          </a:prstGeom>
          <a:noFill/>
          <a:ln/>
        </p:spPr>
        <p:txBody>
          <a:bodyPr wrap="square" rtlCol="0" anchor="t"/>
          <a:lstStyle/>
          <a:p>
            <a:pPr marL="0" indent="0" algn="l">
              <a:buNone/>
            </a:pPr>
            <a:r>
              <a:rPr lang="en-US" sz="1500" b="1" dirty="0">
                <a:solidFill>
                  <a:srgbClr val="0D1B3E"/>
                </a:solidFill>
                <a:latin typeface="Segoe UI" pitchFamily="34" charset="0"/>
                <a:ea typeface="Segoe UI" pitchFamily="34" charset="-122"/>
                <a:cs typeface="Segoe UI" pitchFamily="34" charset="-120"/>
              </a:rPr>
              <a:t>Future Work</a:t>
            </a:r>
            <a:endParaRPr lang="en-US" sz="1500" dirty="0"/>
          </a:p>
        </p:txBody>
      </p:sp>
      <p:sp>
        <p:nvSpPr>
          <p:cNvPr id="19" name="Shape 15"/>
          <p:cNvSpPr/>
          <p:nvPr/>
        </p:nvSpPr>
        <p:spPr>
          <a:xfrm>
            <a:off x="6260948" y="2307336"/>
            <a:ext cx="310896" cy="310896"/>
          </a:xfrm>
          <a:prstGeom prst="ellipse">
            <a:avLst/>
          </a:prstGeom>
          <a:solidFill>
            <a:srgbClr val="1A7A50"/>
          </a:solidFill>
          <a:ln/>
        </p:spPr>
        <p:txBody>
          <a:bodyPr/>
          <a:lstStyle/>
          <a:p>
            <a:endParaRPr lang="en-US"/>
          </a:p>
        </p:txBody>
      </p:sp>
      <p:sp>
        <p:nvSpPr>
          <p:cNvPr id="20" name="Text 16"/>
          <p:cNvSpPr/>
          <p:nvPr/>
        </p:nvSpPr>
        <p:spPr>
          <a:xfrm>
            <a:off x="6260948" y="2307336"/>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F1</a:t>
            </a:r>
            <a:endParaRPr lang="en-US" sz="1200" dirty="0"/>
          </a:p>
        </p:txBody>
      </p:sp>
      <p:sp>
        <p:nvSpPr>
          <p:cNvPr id="21" name="Text 17"/>
          <p:cNvSpPr/>
          <p:nvPr/>
        </p:nvSpPr>
        <p:spPr>
          <a:xfrm>
            <a:off x="6718148" y="2289048"/>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Multi-seed evaluation + significance testing to confirm BM3 vs CombiGCN margin</a:t>
            </a:r>
            <a:endParaRPr lang="en-US" sz="1250" dirty="0"/>
          </a:p>
        </p:txBody>
      </p:sp>
      <p:sp>
        <p:nvSpPr>
          <p:cNvPr id="22" name="Shape 18"/>
          <p:cNvSpPr/>
          <p:nvPr/>
        </p:nvSpPr>
        <p:spPr>
          <a:xfrm>
            <a:off x="6260948" y="3020568"/>
            <a:ext cx="310896" cy="310896"/>
          </a:xfrm>
          <a:prstGeom prst="ellipse">
            <a:avLst/>
          </a:prstGeom>
          <a:solidFill>
            <a:srgbClr val="1A7A50"/>
          </a:solidFill>
          <a:ln/>
        </p:spPr>
        <p:txBody>
          <a:bodyPr/>
          <a:lstStyle/>
          <a:p>
            <a:endParaRPr lang="en-US"/>
          </a:p>
        </p:txBody>
      </p:sp>
      <p:sp>
        <p:nvSpPr>
          <p:cNvPr id="23" name="Text 19"/>
          <p:cNvSpPr/>
          <p:nvPr/>
        </p:nvSpPr>
        <p:spPr>
          <a:xfrm>
            <a:off x="6260948" y="3020568"/>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F2</a:t>
            </a:r>
            <a:endParaRPr lang="en-US" sz="1200" dirty="0"/>
          </a:p>
        </p:txBody>
      </p:sp>
      <p:sp>
        <p:nvSpPr>
          <p:cNvPr id="24" name="Text 20"/>
          <p:cNvSpPr/>
          <p:nvPr/>
        </p:nvSpPr>
        <p:spPr>
          <a:xfrm>
            <a:off x="6718148" y="3002280"/>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Benchmark standalone LightGCN baseline; ablate embedding dimension d</a:t>
            </a:r>
            <a:endParaRPr lang="en-US" sz="1250" dirty="0"/>
          </a:p>
        </p:txBody>
      </p:sp>
      <p:sp>
        <p:nvSpPr>
          <p:cNvPr id="25" name="Shape 21"/>
          <p:cNvSpPr/>
          <p:nvPr/>
        </p:nvSpPr>
        <p:spPr>
          <a:xfrm>
            <a:off x="6260948" y="3733800"/>
            <a:ext cx="310896" cy="310896"/>
          </a:xfrm>
          <a:prstGeom prst="ellipse">
            <a:avLst/>
          </a:prstGeom>
          <a:solidFill>
            <a:srgbClr val="1A7A50"/>
          </a:solidFill>
          <a:ln/>
        </p:spPr>
        <p:txBody>
          <a:bodyPr/>
          <a:lstStyle/>
          <a:p>
            <a:endParaRPr lang="en-US"/>
          </a:p>
        </p:txBody>
      </p:sp>
      <p:sp>
        <p:nvSpPr>
          <p:cNvPr id="26" name="Text 22"/>
          <p:cNvSpPr/>
          <p:nvPr/>
        </p:nvSpPr>
        <p:spPr>
          <a:xfrm>
            <a:off x="6260948" y="3733800"/>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F3</a:t>
            </a:r>
            <a:endParaRPr lang="en-US" sz="1200" dirty="0"/>
          </a:p>
        </p:txBody>
      </p:sp>
      <p:sp>
        <p:nvSpPr>
          <p:cNvPr id="27" name="Text 23"/>
          <p:cNvSpPr/>
          <p:nvPr/>
        </p:nvSpPr>
        <p:spPr>
          <a:xfrm>
            <a:off x="6718148" y="3715512"/>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Cross-dataset validation — test on larger fashion catalog to verify FREEDOM’s kNN hypothesis</a:t>
            </a:r>
            <a:endParaRPr lang="en-US" sz="1250" dirty="0"/>
          </a:p>
        </p:txBody>
      </p:sp>
      <p:sp>
        <p:nvSpPr>
          <p:cNvPr id="28" name="Shape 24"/>
          <p:cNvSpPr/>
          <p:nvPr/>
        </p:nvSpPr>
        <p:spPr>
          <a:xfrm>
            <a:off x="6260948" y="4447032"/>
            <a:ext cx="310896" cy="310896"/>
          </a:xfrm>
          <a:prstGeom prst="ellipse">
            <a:avLst/>
          </a:prstGeom>
          <a:solidFill>
            <a:srgbClr val="1A7A50"/>
          </a:solidFill>
          <a:ln/>
        </p:spPr>
        <p:txBody>
          <a:bodyPr/>
          <a:lstStyle/>
          <a:p>
            <a:endParaRPr lang="en-US"/>
          </a:p>
        </p:txBody>
      </p:sp>
      <p:sp>
        <p:nvSpPr>
          <p:cNvPr id="29" name="Text 25"/>
          <p:cNvSpPr/>
          <p:nvPr/>
        </p:nvSpPr>
        <p:spPr>
          <a:xfrm>
            <a:off x="6260948" y="4447032"/>
            <a:ext cx="310896" cy="310896"/>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F4</a:t>
            </a:r>
            <a:endParaRPr lang="en-US" sz="1200" dirty="0"/>
          </a:p>
        </p:txBody>
      </p:sp>
      <p:sp>
        <p:nvSpPr>
          <p:cNvPr id="30" name="Text 26"/>
          <p:cNvSpPr/>
          <p:nvPr/>
        </p:nvSpPr>
        <p:spPr>
          <a:xfrm>
            <a:off x="6718148" y="4428744"/>
            <a:ext cx="4863948" cy="457200"/>
          </a:xfrm>
          <a:prstGeom prst="rect">
            <a:avLst/>
          </a:prstGeom>
          <a:noFill/>
          <a:ln/>
        </p:spPr>
        <p:txBody>
          <a:bodyPr wrap="square" rtlCol="0" anchor="t"/>
          <a:lstStyle/>
          <a:p>
            <a:pPr marL="0" indent="0" algn="l">
              <a:lnSpc>
                <a:spcPct val="110000"/>
              </a:lnSpc>
              <a:buNone/>
            </a:pPr>
            <a:r>
              <a:rPr lang="en-US" sz="1250" dirty="0">
                <a:solidFill>
                  <a:srgbClr val="1A1E2E"/>
                </a:solidFill>
                <a:latin typeface="Segoe UI" pitchFamily="34" charset="0"/>
                <a:ea typeface="Segoe UI" pitchFamily="34" charset="-122"/>
                <a:cs typeface="Segoe UI" pitchFamily="34" charset="-120"/>
              </a:rPr>
              <a:t>Temporal-aware feature extraction and seasonal trend modeling</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3E"/>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Shape 0"/>
          <p:cNvSpPr/>
          <p:nvPr/>
        </p:nvSpPr>
        <p:spPr>
          <a:xfrm>
            <a:off x="5806440" y="1737360"/>
            <a:ext cx="283464" cy="27432"/>
          </a:xfrm>
          <a:prstGeom prst="roundRect">
            <a:avLst>
              <a:gd name="adj" fmla="val 50000"/>
            </a:avLst>
          </a:prstGeom>
          <a:solidFill>
            <a:srgbClr val="C1272D"/>
          </a:solidFill>
          <a:ln/>
        </p:spPr>
        <p:txBody>
          <a:bodyPr/>
          <a:lstStyle/>
          <a:p>
            <a:endParaRPr lang="en-US"/>
          </a:p>
        </p:txBody>
      </p:sp>
      <p:sp>
        <p:nvSpPr>
          <p:cNvPr id="5" name="Shape 1"/>
          <p:cNvSpPr/>
          <p:nvPr/>
        </p:nvSpPr>
        <p:spPr>
          <a:xfrm>
            <a:off x="6135624" y="1737360"/>
            <a:ext cx="91440" cy="27432"/>
          </a:xfrm>
          <a:prstGeom prst="roundRect">
            <a:avLst>
              <a:gd name="adj" fmla="val 50000"/>
            </a:avLst>
          </a:prstGeom>
          <a:solidFill>
            <a:srgbClr val="1464B4"/>
          </a:solidFill>
          <a:ln/>
        </p:spPr>
        <p:txBody>
          <a:bodyPr/>
          <a:lstStyle/>
          <a:p>
            <a:endParaRPr lang="en-US"/>
          </a:p>
        </p:txBody>
      </p:sp>
      <p:sp>
        <p:nvSpPr>
          <p:cNvPr id="6" name="Text 2"/>
          <p:cNvSpPr/>
          <p:nvPr/>
        </p:nvSpPr>
        <p:spPr>
          <a:xfrm>
            <a:off x="0" y="2011680"/>
            <a:ext cx="12191695" cy="100584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7" name="Text 3"/>
          <p:cNvSpPr/>
          <p:nvPr/>
        </p:nvSpPr>
        <p:spPr>
          <a:xfrm>
            <a:off x="0" y="3063240"/>
            <a:ext cx="12191695" cy="457200"/>
          </a:xfrm>
          <a:prstGeom prst="rect">
            <a:avLst/>
          </a:prstGeom>
          <a:noFill/>
          <a:ln/>
        </p:spPr>
        <p:txBody>
          <a:bodyPr wrap="square" rtlCol="0" anchor="ctr"/>
          <a:lstStyle/>
          <a:p>
            <a:pPr marL="0" indent="0" algn="ctr">
              <a:buNone/>
            </a:pPr>
            <a:r>
              <a:rPr lang="en-US" sz="1800" dirty="0">
                <a:solidFill>
                  <a:srgbClr val="8899BB"/>
                </a:solidFill>
                <a:latin typeface="Segoe UI" pitchFamily="34" charset="0"/>
                <a:ea typeface="Segoe UI" pitchFamily="34" charset="-122"/>
                <a:cs typeface="Segoe UI" pitchFamily="34" charset="-120"/>
              </a:rPr>
              <a:t>Questions &amp; Discussion</a:t>
            </a:r>
            <a:endParaRPr lang="en-US" sz="1800" dirty="0"/>
          </a:p>
        </p:txBody>
      </p:sp>
      <p:sp>
        <p:nvSpPr>
          <p:cNvPr id="8" name="Text 4"/>
          <p:cNvSpPr/>
          <p:nvPr/>
        </p:nvSpPr>
        <p:spPr>
          <a:xfrm>
            <a:off x="1158088" y="4114800"/>
            <a:ext cx="3291840" cy="274320"/>
          </a:xfrm>
          <a:prstGeom prst="rect">
            <a:avLst/>
          </a:prstGeom>
          <a:noFill/>
          <a:ln/>
        </p:spPr>
        <p:txBody>
          <a:bodyPr wrap="square" rtlCol="0" anchor="ctr"/>
          <a:lstStyle/>
          <a:p>
            <a:pPr marL="0" indent="0" algn="ctr">
              <a:buNone/>
            </a:pPr>
            <a:r>
              <a:rPr lang="en-US" sz="1100" dirty="0">
                <a:solidFill>
                  <a:srgbClr val="8899BB"/>
                </a:solidFill>
                <a:latin typeface="Segoe UI" pitchFamily="34" charset="0"/>
                <a:ea typeface="Segoe UI" pitchFamily="34" charset="-122"/>
                <a:cs typeface="Segoe UI" pitchFamily="34" charset="-120"/>
              </a:rPr>
              <a:t>Presented by</a:t>
            </a:r>
            <a:endParaRPr lang="en-US" sz="1100" dirty="0"/>
          </a:p>
        </p:txBody>
      </p:sp>
      <p:sp>
        <p:nvSpPr>
          <p:cNvPr id="9" name="Text 5"/>
          <p:cNvSpPr/>
          <p:nvPr/>
        </p:nvSpPr>
        <p:spPr>
          <a:xfrm>
            <a:off x="1158088" y="4389120"/>
            <a:ext cx="3291840" cy="32004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Hoang Dinh Quy Vu · 252805008</a:t>
            </a:r>
            <a:endParaRPr lang="en-US" sz="1300" dirty="0"/>
          </a:p>
        </p:txBody>
      </p:sp>
      <p:sp>
        <p:nvSpPr>
          <p:cNvPr id="10" name="Text 6"/>
          <p:cNvSpPr/>
          <p:nvPr/>
        </p:nvSpPr>
        <p:spPr>
          <a:xfrm>
            <a:off x="4449928" y="4114800"/>
            <a:ext cx="3291840" cy="274320"/>
          </a:xfrm>
          <a:prstGeom prst="rect">
            <a:avLst/>
          </a:prstGeom>
          <a:noFill/>
          <a:ln/>
        </p:spPr>
        <p:txBody>
          <a:bodyPr wrap="square" rtlCol="0" anchor="ctr"/>
          <a:lstStyle/>
          <a:p>
            <a:pPr marL="0" indent="0" algn="ctr">
              <a:buNone/>
            </a:pPr>
            <a:r>
              <a:rPr lang="en-US" sz="1100" dirty="0">
                <a:solidFill>
                  <a:srgbClr val="8899BB"/>
                </a:solidFill>
                <a:latin typeface="Segoe UI" pitchFamily="34" charset="0"/>
                <a:ea typeface="Segoe UI" pitchFamily="34" charset="-122"/>
                <a:cs typeface="Segoe UI" pitchFamily="34" charset="-120"/>
              </a:rPr>
              <a:t>Advised by</a:t>
            </a:r>
            <a:endParaRPr lang="en-US" sz="1100" dirty="0"/>
          </a:p>
        </p:txBody>
      </p:sp>
      <p:sp>
        <p:nvSpPr>
          <p:cNvPr id="11" name="Text 7"/>
          <p:cNvSpPr/>
          <p:nvPr/>
        </p:nvSpPr>
        <p:spPr>
          <a:xfrm>
            <a:off x="4449928" y="4389120"/>
            <a:ext cx="3291840" cy="32004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Dr. Tran Trung Tin</a:t>
            </a:r>
            <a:endParaRPr lang="en-US" sz="1300" dirty="0"/>
          </a:p>
        </p:txBody>
      </p:sp>
      <p:sp>
        <p:nvSpPr>
          <p:cNvPr id="12" name="Text 8"/>
          <p:cNvSpPr/>
          <p:nvPr/>
        </p:nvSpPr>
        <p:spPr>
          <a:xfrm>
            <a:off x="7741768" y="4114800"/>
            <a:ext cx="3291840" cy="274320"/>
          </a:xfrm>
          <a:prstGeom prst="rect">
            <a:avLst/>
          </a:prstGeom>
          <a:noFill/>
          <a:ln/>
        </p:spPr>
        <p:txBody>
          <a:bodyPr wrap="square" rtlCol="0" anchor="ctr"/>
          <a:lstStyle/>
          <a:p>
            <a:pPr marL="0" indent="0" algn="ctr">
              <a:buNone/>
            </a:pPr>
            <a:r>
              <a:rPr lang="en-US" sz="1100" dirty="0">
                <a:solidFill>
                  <a:srgbClr val="8899BB"/>
                </a:solidFill>
                <a:latin typeface="Segoe UI" pitchFamily="34" charset="0"/>
                <a:ea typeface="Segoe UI" pitchFamily="34" charset="-122"/>
                <a:cs typeface="Segoe UI" pitchFamily="34" charset="-120"/>
              </a:rPr>
              <a:t>Institution</a:t>
            </a:r>
            <a:endParaRPr lang="en-US" sz="1100" dirty="0"/>
          </a:p>
        </p:txBody>
      </p:sp>
      <p:sp>
        <p:nvSpPr>
          <p:cNvPr id="13" name="Text 9"/>
          <p:cNvSpPr/>
          <p:nvPr/>
        </p:nvSpPr>
        <p:spPr>
          <a:xfrm>
            <a:off x="7741768" y="4389120"/>
            <a:ext cx="3291840" cy="32004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Ton Duc Thang University</a:t>
            </a:r>
            <a:endParaRPr lang="en-US" sz="1300" dirty="0"/>
          </a:p>
        </p:txBody>
      </p:sp>
      <p:sp>
        <p:nvSpPr>
          <p:cNvPr id="14" name="Shape 10"/>
          <p:cNvSpPr/>
          <p:nvPr/>
        </p:nvSpPr>
        <p:spPr>
          <a:xfrm>
            <a:off x="3670402" y="5120640"/>
            <a:ext cx="452628" cy="310896"/>
          </a:xfrm>
          <a:prstGeom prst="roundRect">
            <a:avLst>
              <a:gd name="adj" fmla="val 8824"/>
            </a:avLst>
          </a:prstGeom>
          <a:solidFill>
            <a:srgbClr val="17264A"/>
          </a:solidFill>
          <a:ln/>
        </p:spPr>
        <p:txBody>
          <a:bodyPr/>
          <a:lstStyle/>
          <a:p>
            <a:endParaRPr lang="en-US"/>
          </a:p>
        </p:txBody>
      </p:sp>
      <p:sp>
        <p:nvSpPr>
          <p:cNvPr id="15" name="Text 11"/>
          <p:cNvSpPr/>
          <p:nvPr/>
        </p:nvSpPr>
        <p:spPr>
          <a:xfrm>
            <a:off x="3670402" y="5120640"/>
            <a:ext cx="452628"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BM3</a:t>
            </a:r>
            <a:endParaRPr lang="en-US" sz="1100" dirty="0"/>
          </a:p>
        </p:txBody>
      </p:sp>
      <p:sp>
        <p:nvSpPr>
          <p:cNvPr id="16" name="Shape 12"/>
          <p:cNvSpPr/>
          <p:nvPr/>
        </p:nvSpPr>
        <p:spPr>
          <a:xfrm>
            <a:off x="4232758" y="5120640"/>
            <a:ext cx="841248" cy="310896"/>
          </a:xfrm>
          <a:prstGeom prst="roundRect">
            <a:avLst>
              <a:gd name="adj" fmla="val 8824"/>
            </a:avLst>
          </a:prstGeom>
          <a:solidFill>
            <a:srgbClr val="17264A"/>
          </a:solidFill>
          <a:ln/>
        </p:spPr>
        <p:txBody>
          <a:bodyPr/>
          <a:lstStyle/>
          <a:p>
            <a:endParaRPr lang="en-US"/>
          </a:p>
        </p:txBody>
      </p:sp>
      <p:sp>
        <p:nvSpPr>
          <p:cNvPr id="17" name="Text 13"/>
          <p:cNvSpPr/>
          <p:nvPr/>
        </p:nvSpPr>
        <p:spPr>
          <a:xfrm>
            <a:off x="4232758" y="5120640"/>
            <a:ext cx="841248"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CombiGCN</a:t>
            </a:r>
            <a:endParaRPr lang="en-US" sz="1100" dirty="0"/>
          </a:p>
        </p:txBody>
      </p:sp>
      <p:sp>
        <p:nvSpPr>
          <p:cNvPr id="18" name="Shape 14"/>
          <p:cNvSpPr/>
          <p:nvPr/>
        </p:nvSpPr>
        <p:spPr>
          <a:xfrm>
            <a:off x="5183734" y="5120640"/>
            <a:ext cx="763524" cy="310896"/>
          </a:xfrm>
          <a:prstGeom prst="roundRect">
            <a:avLst>
              <a:gd name="adj" fmla="val 8824"/>
            </a:avLst>
          </a:prstGeom>
          <a:solidFill>
            <a:srgbClr val="17264A"/>
          </a:solidFill>
          <a:ln/>
        </p:spPr>
        <p:txBody>
          <a:bodyPr/>
          <a:lstStyle/>
          <a:p>
            <a:endParaRPr lang="en-US"/>
          </a:p>
        </p:txBody>
      </p:sp>
      <p:sp>
        <p:nvSpPr>
          <p:cNvPr id="19" name="Text 15"/>
          <p:cNvSpPr/>
          <p:nvPr/>
        </p:nvSpPr>
        <p:spPr>
          <a:xfrm>
            <a:off x="5183734" y="5120640"/>
            <a:ext cx="763524"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FREEDOM</a:t>
            </a:r>
            <a:endParaRPr lang="en-US" sz="1100" dirty="0"/>
          </a:p>
        </p:txBody>
      </p:sp>
      <p:sp>
        <p:nvSpPr>
          <p:cNvPr id="20" name="Shape 16"/>
          <p:cNvSpPr/>
          <p:nvPr/>
        </p:nvSpPr>
        <p:spPr>
          <a:xfrm>
            <a:off x="6056986" y="5120640"/>
            <a:ext cx="530352" cy="310896"/>
          </a:xfrm>
          <a:prstGeom prst="roundRect">
            <a:avLst>
              <a:gd name="adj" fmla="val 8824"/>
            </a:avLst>
          </a:prstGeom>
          <a:solidFill>
            <a:srgbClr val="17264A"/>
          </a:solidFill>
          <a:ln/>
        </p:spPr>
        <p:txBody>
          <a:bodyPr/>
          <a:lstStyle/>
          <a:p>
            <a:endParaRPr lang="en-US"/>
          </a:p>
        </p:txBody>
      </p:sp>
      <p:sp>
        <p:nvSpPr>
          <p:cNvPr id="21" name="Text 17"/>
          <p:cNvSpPr/>
          <p:nvPr/>
        </p:nvSpPr>
        <p:spPr>
          <a:xfrm>
            <a:off x="6056986" y="5120640"/>
            <a:ext cx="530352"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CLIP</a:t>
            </a:r>
            <a:endParaRPr lang="en-US" sz="1100" dirty="0"/>
          </a:p>
        </p:txBody>
      </p:sp>
      <p:sp>
        <p:nvSpPr>
          <p:cNvPr id="22" name="Shape 18"/>
          <p:cNvSpPr/>
          <p:nvPr/>
        </p:nvSpPr>
        <p:spPr>
          <a:xfrm>
            <a:off x="6697066" y="5120640"/>
            <a:ext cx="1074420" cy="310896"/>
          </a:xfrm>
          <a:prstGeom prst="roundRect">
            <a:avLst>
              <a:gd name="adj" fmla="val 8824"/>
            </a:avLst>
          </a:prstGeom>
          <a:solidFill>
            <a:srgbClr val="17264A"/>
          </a:solidFill>
          <a:ln/>
        </p:spPr>
        <p:txBody>
          <a:bodyPr/>
          <a:lstStyle/>
          <a:p>
            <a:endParaRPr lang="en-US"/>
          </a:p>
        </p:txBody>
      </p:sp>
      <p:sp>
        <p:nvSpPr>
          <p:cNvPr id="23" name="Text 19"/>
          <p:cNvSpPr/>
          <p:nvPr/>
        </p:nvSpPr>
        <p:spPr>
          <a:xfrm>
            <a:off x="6697066" y="5120640"/>
            <a:ext cx="1074420"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MobileNetV2</a:t>
            </a:r>
            <a:endParaRPr lang="en-US" sz="1100" dirty="0"/>
          </a:p>
        </p:txBody>
      </p:sp>
      <p:sp>
        <p:nvSpPr>
          <p:cNvPr id="24" name="Shape 20"/>
          <p:cNvSpPr/>
          <p:nvPr/>
        </p:nvSpPr>
        <p:spPr>
          <a:xfrm>
            <a:off x="7881214" y="5120640"/>
            <a:ext cx="530352" cy="310896"/>
          </a:xfrm>
          <a:prstGeom prst="roundRect">
            <a:avLst>
              <a:gd name="adj" fmla="val 8824"/>
            </a:avLst>
          </a:prstGeom>
          <a:solidFill>
            <a:srgbClr val="17264A"/>
          </a:solidFill>
          <a:ln/>
        </p:spPr>
        <p:txBody>
          <a:bodyPr/>
          <a:lstStyle/>
          <a:p>
            <a:endParaRPr lang="en-US"/>
          </a:p>
        </p:txBody>
      </p:sp>
      <p:sp>
        <p:nvSpPr>
          <p:cNvPr id="25" name="Text 21"/>
          <p:cNvSpPr/>
          <p:nvPr/>
        </p:nvSpPr>
        <p:spPr>
          <a:xfrm>
            <a:off x="7881214" y="5120640"/>
            <a:ext cx="530352" cy="310896"/>
          </a:xfrm>
          <a:prstGeom prst="rect">
            <a:avLst/>
          </a:prstGeom>
          <a:noFill/>
          <a:ln/>
        </p:spPr>
        <p:txBody>
          <a:bodyPr wrap="square" rtlCol="0" anchor="ctr"/>
          <a:lstStyle/>
          <a:p>
            <a:pPr marL="0" indent="0" algn="ctr">
              <a:buNone/>
            </a:pPr>
            <a:r>
              <a:rPr lang="en-US" sz="1100" dirty="0">
                <a:solidFill>
                  <a:srgbClr val="7ECBA5"/>
                </a:solidFill>
                <a:latin typeface="Consolas" pitchFamily="34" charset="0"/>
                <a:ea typeface="Consolas" pitchFamily="34" charset="-122"/>
                <a:cs typeface="Consolas" pitchFamily="34" charset="-120"/>
              </a:rPr>
              <a:t>BERT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APPENDIX · MATHEMATICAL FORMULATIONS</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CombiGCN — Dual-Graph Propagation Equations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A1 / A3</a:t>
            </a:r>
            <a:endParaRPr lang="en-US" sz="1200" dirty="0"/>
          </a:p>
        </p:txBody>
      </p:sp>
      <p:sp>
        <p:nvSpPr>
          <p:cNvPr id="9" name="Shape 5"/>
          <p:cNvSpPr/>
          <p:nvPr/>
        </p:nvSpPr>
        <p:spPr>
          <a:xfrm>
            <a:off x="609600" y="1905000"/>
            <a:ext cx="5321148" cy="1417320"/>
          </a:xfrm>
          <a:prstGeom prst="roundRect">
            <a:avLst>
              <a:gd name="adj" fmla="val 3226"/>
            </a:avLst>
          </a:prstGeom>
          <a:solidFill>
            <a:srgbClr val="EEF3FA"/>
          </a:solidFill>
          <a:ln/>
        </p:spPr>
        <p:txBody>
          <a:bodyPr/>
          <a:lstStyle/>
          <a:p>
            <a:endParaRPr lang="en-US"/>
          </a:p>
        </p:txBody>
      </p:sp>
      <p:sp>
        <p:nvSpPr>
          <p:cNvPr id="10" name="Shape 6"/>
          <p:cNvSpPr/>
          <p:nvPr/>
        </p:nvSpPr>
        <p:spPr>
          <a:xfrm>
            <a:off x="609600" y="1923288"/>
            <a:ext cx="50292" cy="1380744"/>
          </a:xfrm>
          <a:prstGeom prst="rect">
            <a:avLst/>
          </a:prstGeom>
          <a:solidFill>
            <a:srgbClr val="1464B4"/>
          </a:solidFill>
          <a:ln/>
        </p:spPr>
        <p:txBody>
          <a:bodyPr/>
          <a:lstStyle/>
          <a:p>
            <a:endParaRPr lang="en-US"/>
          </a:p>
        </p:txBody>
      </p:sp>
      <p:sp>
        <p:nvSpPr>
          <p:cNvPr id="11" name="Text 7"/>
          <p:cNvSpPr/>
          <p:nvPr/>
        </p:nvSpPr>
        <p:spPr>
          <a:xfrm>
            <a:off x="792480" y="2014728"/>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1. Symmetric Graph Normalization</a:t>
            </a:r>
            <a:endParaRPr lang="en-US" sz="1400" dirty="0"/>
          </a:p>
        </p:txBody>
      </p:sp>
      <p:pic>
        <p:nvPicPr>
          <p:cNvPr id="12" name="Image 1" descr="E:\DoCode\CD2\01_Report_CD2_FashionRecommendation\4_docs\02_Present\present_v2\formulas\c1.png"/>
          <p:cNvPicPr>
            <a:picLocks noChangeAspect="1"/>
          </p:cNvPicPr>
          <p:nvPr/>
        </p:nvPicPr>
        <p:blipFill>
          <a:blip r:embed="rId4"/>
          <a:stretch>
            <a:fillRect/>
          </a:stretch>
        </p:blipFill>
        <p:spPr>
          <a:xfrm>
            <a:off x="1990014" y="2407920"/>
            <a:ext cx="2560320" cy="365760"/>
          </a:xfrm>
          <a:prstGeom prst="rect">
            <a:avLst/>
          </a:prstGeom>
        </p:spPr>
      </p:pic>
      <p:sp>
        <p:nvSpPr>
          <p:cNvPr id="13" name="Text 8"/>
          <p:cNvSpPr/>
          <p:nvPr/>
        </p:nvSpPr>
        <p:spPr>
          <a:xfrm>
            <a:off x="792480" y="2837688"/>
            <a:ext cx="4955388" cy="457200"/>
          </a:xfrm>
          <a:prstGeom prst="rect">
            <a:avLst/>
          </a:prstGeom>
          <a:noFill/>
          <a:ln/>
        </p:spPr>
        <p:txBody>
          <a:bodyPr wrap="square" rtlCol="0" anchor="t"/>
          <a:lstStyle/>
          <a:p>
            <a:pPr marL="0" indent="0" algn="l">
              <a:lnSpc>
                <a:spcPct val="105000"/>
              </a:lnSpc>
              <a:buNone/>
            </a:pPr>
            <a:r>
              <a:rPr lang="en-US" sz="1050" dirty="0">
                <a:solidFill>
                  <a:srgbClr val="1A7A50"/>
                </a:solidFill>
                <a:latin typeface="Consolas" pitchFamily="34" charset="0"/>
                <a:ea typeface="Consolas" pitchFamily="34" charset="-122"/>
                <a:cs typeface="Consolas" pitchFamily="34" charset="-120"/>
              </a:rPr>
              <a:t>W</a:t>
            </a:r>
            <a:r>
              <a:rPr lang="en-US" sz="1050" dirty="0">
                <a:solidFill>
                  <a:srgbClr val="8899BB"/>
                </a:solidFill>
                <a:latin typeface="Segoe UI" pitchFamily="34" charset="0"/>
                <a:ea typeface="Segoe UI" pitchFamily="34" charset="-122"/>
                <a:cs typeface="Segoe UI" pitchFamily="34" charset="-120"/>
              </a:rPr>
              <a:t>: cosine similarity thresholded at 0.5 · </a:t>
            </a:r>
            <a:r>
              <a:rPr lang="en-US" sz="1050" dirty="0">
                <a:solidFill>
                  <a:srgbClr val="1A7A50"/>
                </a:solidFill>
                <a:latin typeface="Consolas" pitchFamily="34" charset="0"/>
                <a:ea typeface="Consolas" pitchFamily="34" charset="-122"/>
                <a:cs typeface="Consolas" pitchFamily="34" charset="-120"/>
              </a:rPr>
              <a:t>D_s</a:t>
            </a:r>
            <a:r>
              <a:rPr lang="en-US" sz="1050" dirty="0">
                <a:solidFill>
                  <a:srgbClr val="8899BB"/>
                </a:solidFill>
                <a:latin typeface="Segoe UI" pitchFamily="34" charset="0"/>
                <a:ea typeface="Segoe UI" pitchFamily="34" charset="-122"/>
                <a:cs typeface="Segoe UI" pitchFamily="34" charset="-120"/>
              </a:rPr>
              <a:t>: degree matrix · </a:t>
            </a:r>
            <a:r>
              <a:rPr lang="en-US" sz="1050" dirty="0">
                <a:solidFill>
                  <a:srgbClr val="1A7A50"/>
                </a:solidFill>
                <a:latin typeface="Consolas" pitchFamily="34" charset="0"/>
                <a:ea typeface="Consolas" pitchFamily="34" charset="-122"/>
                <a:cs typeface="Consolas" pitchFamily="34" charset="-120"/>
              </a:rPr>
              <a:t>S</a:t>
            </a:r>
            <a:r>
              <a:rPr lang="en-US" sz="1050" dirty="0">
                <a:solidFill>
                  <a:srgbClr val="8899BB"/>
                </a:solidFill>
                <a:latin typeface="Segoe UI" pitchFamily="34" charset="0"/>
                <a:ea typeface="Segoe UI" pitchFamily="34" charset="-122"/>
                <a:cs typeface="Segoe UI" pitchFamily="34" charset="-120"/>
              </a:rPr>
              <a:t>: normalised item adjacency</a:t>
            </a:r>
            <a:endParaRPr lang="en-US" sz="1050" dirty="0"/>
          </a:p>
        </p:txBody>
      </p:sp>
      <p:sp>
        <p:nvSpPr>
          <p:cNvPr id="14" name="Shape 9"/>
          <p:cNvSpPr/>
          <p:nvPr/>
        </p:nvSpPr>
        <p:spPr>
          <a:xfrm>
            <a:off x="609600" y="3432048"/>
            <a:ext cx="5321148" cy="1325880"/>
          </a:xfrm>
          <a:prstGeom prst="roundRect">
            <a:avLst>
              <a:gd name="adj" fmla="val 3448"/>
            </a:avLst>
          </a:prstGeom>
          <a:solidFill>
            <a:srgbClr val="EEF3FA"/>
          </a:solidFill>
          <a:ln/>
        </p:spPr>
        <p:txBody>
          <a:bodyPr/>
          <a:lstStyle/>
          <a:p>
            <a:endParaRPr lang="en-US"/>
          </a:p>
        </p:txBody>
      </p:sp>
      <p:sp>
        <p:nvSpPr>
          <p:cNvPr id="15" name="Shape 10"/>
          <p:cNvSpPr/>
          <p:nvPr/>
        </p:nvSpPr>
        <p:spPr>
          <a:xfrm>
            <a:off x="609600" y="3450336"/>
            <a:ext cx="50292" cy="1289304"/>
          </a:xfrm>
          <a:prstGeom prst="rect">
            <a:avLst/>
          </a:prstGeom>
          <a:solidFill>
            <a:srgbClr val="1464B4"/>
          </a:solidFill>
          <a:ln/>
        </p:spPr>
        <p:txBody>
          <a:bodyPr/>
          <a:lstStyle/>
          <a:p>
            <a:endParaRPr lang="en-US"/>
          </a:p>
        </p:txBody>
      </p:sp>
      <p:sp>
        <p:nvSpPr>
          <p:cNvPr id="16" name="Text 11"/>
          <p:cNvSpPr/>
          <p:nvPr/>
        </p:nvSpPr>
        <p:spPr>
          <a:xfrm>
            <a:off x="792480" y="3541776"/>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2. User Representation Update</a:t>
            </a:r>
            <a:endParaRPr lang="en-US" sz="1400" dirty="0"/>
          </a:p>
        </p:txBody>
      </p:sp>
      <p:pic>
        <p:nvPicPr>
          <p:cNvPr id="17" name="Image 2" descr="E:\DoCode\CD2\01_Report_CD2_FashionRecommendation\4_docs\02_Present\present_v2\formulas\c2.png"/>
          <p:cNvPicPr>
            <a:picLocks noChangeAspect="1"/>
          </p:cNvPicPr>
          <p:nvPr/>
        </p:nvPicPr>
        <p:blipFill>
          <a:blip r:embed="rId5"/>
          <a:stretch>
            <a:fillRect/>
          </a:stretch>
        </p:blipFill>
        <p:spPr>
          <a:xfrm>
            <a:off x="2240588" y="3925824"/>
            <a:ext cx="2059172" cy="457200"/>
          </a:xfrm>
          <a:prstGeom prst="rect">
            <a:avLst/>
          </a:prstGeom>
        </p:spPr>
      </p:pic>
      <p:sp>
        <p:nvSpPr>
          <p:cNvPr id="18" name="Text 12"/>
          <p:cNvSpPr/>
          <p:nvPr/>
        </p:nvSpPr>
        <p:spPr>
          <a:xfrm>
            <a:off x="792480" y="4437888"/>
            <a:ext cx="4955388" cy="457200"/>
          </a:xfrm>
          <a:prstGeom prst="rect">
            <a:avLst/>
          </a:prstGeom>
          <a:noFill/>
          <a:ln/>
        </p:spPr>
        <p:txBody>
          <a:bodyPr wrap="square" rtlCol="0" anchor="t"/>
          <a:lstStyle/>
          <a:p>
            <a:pPr marL="0" indent="0" algn="l">
              <a:lnSpc>
                <a:spcPct val="115000"/>
              </a:lnSpc>
              <a:buNone/>
            </a:pPr>
            <a:r>
              <a:rPr lang="en-US" sz="1050" dirty="0">
                <a:solidFill>
                  <a:srgbClr val="8899BB"/>
                </a:solidFill>
                <a:latin typeface="Segoe UI" pitchFamily="34" charset="0"/>
                <a:ea typeface="Segoe UI" pitchFamily="34" charset="-122"/>
                <a:cs typeface="Segoe UI" pitchFamily="34" charset="-120"/>
              </a:rPr>
              <a:t>User updates are driven </a:t>
            </a:r>
            <a:r>
              <a:rPr lang="en-US" sz="1050" b="1" dirty="0">
                <a:solidFill>
                  <a:srgbClr val="8899BB"/>
                </a:solidFill>
                <a:latin typeface="Segoe UI" pitchFamily="34" charset="0"/>
                <a:ea typeface="Segoe UI" pitchFamily="34" charset="-122"/>
                <a:cs typeface="Segoe UI" pitchFamily="34" charset="-120"/>
              </a:rPr>
              <a:t>solely</a:t>
            </a:r>
            <a:r>
              <a:rPr lang="en-US" sz="1050" dirty="0">
                <a:solidFill>
                  <a:srgbClr val="8899BB"/>
                </a:solidFill>
                <a:latin typeface="Segoe UI" pitchFamily="34" charset="0"/>
                <a:ea typeface="Segoe UI" pitchFamily="34" charset="-122"/>
                <a:cs typeface="Segoe UI" pitchFamily="34" charset="-120"/>
              </a:rPr>
              <a:t> by the user–item interaction graph</a:t>
            </a:r>
            <a:endParaRPr lang="en-US" sz="1050" dirty="0"/>
          </a:p>
        </p:txBody>
      </p:sp>
      <p:sp>
        <p:nvSpPr>
          <p:cNvPr id="19" name="Shape 13"/>
          <p:cNvSpPr/>
          <p:nvPr/>
        </p:nvSpPr>
        <p:spPr>
          <a:xfrm>
            <a:off x="6260948" y="1905000"/>
            <a:ext cx="5321148" cy="1737360"/>
          </a:xfrm>
          <a:prstGeom prst="roundRect">
            <a:avLst>
              <a:gd name="adj" fmla="val 2632"/>
            </a:avLst>
          </a:prstGeom>
          <a:solidFill>
            <a:srgbClr val="EEF3FA"/>
          </a:solidFill>
          <a:ln/>
        </p:spPr>
        <p:txBody>
          <a:bodyPr/>
          <a:lstStyle/>
          <a:p>
            <a:endParaRPr lang="en-US"/>
          </a:p>
        </p:txBody>
      </p:sp>
      <p:sp>
        <p:nvSpPr>
          <p:cNvPr id="20" name="Shape 14"/>
          <p:cNvSpPr/>
          <p:nvPr/>
        </p:nvSpPr>
        <p:spPr>
          <a:xfrm>
            <a:off x="6260948" y="1923288"/>
            <a:ext cx="50292" cy="1700784"/>
          </a:xfrm>
          <a:prstGeom prst="rect">
            <a:avLst/>
          </a:prstGeom>
          <a:solidFill>
            <a:srgbClr val="1464B4"/>
          </a:solidFill>
          <a:ln/>
        </p:spPr>
        <p:txBody>
          <a:bodyPr/>
          <a:lstStyle/>
          <a:p>
            <a:endParaRPr lang="en-US"/>
          </a:p>
        </p:txBody>
      </p:sp>
      <p:sp>
        <p:nvSpPr>
          <p:cNvPr id="21" name="Text 15"/>
          <p:cNvSpPr/>
          <p:nvPr/>
        </p:nvSpPr>
        <p:spPr>
          <a:xfrm>
            <a:off x="6443828" y="2014728"/>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3. Item Dual-Graph Fusion</a:t>
            </a:r>
            <a:endParaRPr lang="en-US" sz="1400" dirty="0"/>
          </a:p>
        </p:txBody>
      </p:sp>
      <p:pic>
        <p:nvPicPr>
          <p:cNvPr id="22" name="Image 3" descr="E:\DoCode\CD2\01_Report_CD2_FashionRecommendation\4_docs\02_Present\present_v2\formulas\c3.png"/>
          <p:cNvPicPr>
            <a:picLocks noChangeAspect="1"/>
          </p:cNvPicPr>
          <p:nvPr/>
        </p:nvPicPr>
        <p:blipFill>
          <a:blip r:embed="rId6"/>
          <a:stretch>
            <a:fillRect/>
          </a:stretch>
        </p:blipFill>
        <p:spPr>
          <a:xfrm>
            <a:off x="7844204" y="2380488"/>
            <a:ext cx="2154635" cy="320040"/>
          </a:xfrm>
          <a:prstGeom prst="rect">
            <a:avLst/>
          </a:prstGeom>
        </p:spPr>
      </p:pic>
      <p:sp>
        <p:nvSpPr>
          <p:cNvPr id="23" name="Text 16"/>
          <p:cNvSpPr/>
          <p:nvPr/>
        </p:nvSpPr>
        <p:spPr>
          <a:xfrm>
            <a:off x="6443828" y="2773680"/>
            <a:ext cx="1828800" cy="219456"/>
          </a:xfrm>
          <a:prstGeom prst="rect">
            <a:avLst/>
          </a:prstGeom>
          <a:noFill/>
          <a:ln/>
        </p:spPr>
        <p:txBody>
          <a:bodyPr wrap="square" rtlCol="0" anchor="ctr"/>
          <a:lstStyle/>
          <a:p>
            <a:pPr marL="0" indent="0">
              <a:buNone/>
            </a:pPr>
            <a:r>
              <a:rPr lang="en-US" sz="1000" b="1" dirty="0">
                <a:solidFill>
                  <a:srgbClr val="0D1B3E"/>
                </a:solidFill>
                <a:latin typeface="Segoe UI" pitchFamily="34" charset="0"/>
                <a:ea typeface="Segoe UI" pitchFamily="34" charset="-122"/>
                <a:cs typeface="Segoe UI" pitchFamily="34" charset="-120"/>
              </a:rPr>
              <a:t>CF branch</a:t>
            </a:r>
            <a:endParaRPr lang="en-US" sz="1000" dirty="0"/>
          </a:p>
        </p:txBody>
      </p:sp>
      <p:pic>
        <p:nvPicPr>
          <p:cNvPr id="24" name="Image 4" descr="E:\DoCode\CD2\01_Report_CD2_FashionRecommendation\4_docs\02_Present\present_v2\formulas\c3b.png"/>
          <p:cNvPicPr>
            <a:picLocks noChangeAspect="1"/>
          </p:cNvPicPr>
          <p:nvPr/>
        </p:nvPicPr>
        <p:blipFill>
          <a:blip r:embed="rId7"/>
          <a:stretch>
            <a:fillRect/>
          </a:stretch>
        </p:blipFill>
        <p:spPr>
          <a:xfrm>
            <a:off x="8063322" y="2983992"/>
            <a:ext cx="1716399" cy="384048"/>
          </a:xfrm>
          <a:prstGeom prst="rect">
            <a:avLst/>
          </a:prstGeom>
        </p:spPr>
      </p:pic>
      <p:sp>
        <p:nvSpPr>
          <p:cNvPr id="25" name="Shape 17"/>
          <p:cNvSpPr/>
          <p:nvPr/>
        </p:nvSpPr>
        <p:spPr>
          <a:xfrm>
            <a:off x="6260948" y="3752088"/>
            <a:ext cx="5321148" cy="1005840"/>
          </a:xfrm>
          <a:prstGeom prst="roundRect">
            <a:avLst>
              <a:gd name="adj" fmla="val 4545"/>
            </a:avLst>
          </a:prstGeom>
          <a:solidFill>
            <a:srgbClr val="EEF3FA"/>
          </a:solidFill>
          <a:ln/>
        </p:spPr>
        <p:txBody>
          <a:bodyPr/>
          <a:lstStyle/>
          <a:p>
            <a:endParaRPr lang="en-US"/>
          </a:p>
        </p:txBody>
      </p:sp>
      <p:sp>
        <p:nvSpPr>
          <p:cNvPr id="26" name="Shape 18"/>
          <p:cNvSpPr/>
          <p:nvPr/>
        </p:nvSpPr>
        <p:spPr>
          <a:xfrm>
            <a:off x="6260948" y="3770376"/>
            <a:ext cx="50292" cy="969264"/>
          </a:xfrm>
          <a:prstGeom prst="rect">
            <a:avLst/>
          </a:prstGeom>
          <a:solidFill>
            <a:srgbClr val="1464B4"/>
          </a:solidFill>
          <a:ln/>
        </p:spPr>
        <p:txBody>
          <a:bodyPr/>
          <a:lstStyle/>
          <a:p>
            <a:endParaRPr lang="en-US"/>
          </a:p>
        </p:txBody>
      </p:sp>
      <p:sp>
        <p:nvSpPr>
          <p:cNvPr id="27" name="Text 19"/>
          <p:cNvSpPr/>
          <p:nvPr/>
        </p:nvSpPr>
        <p:spPr>
          <a:xfrm>
            <a:off x="6443828" y="3843528"/>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4. Layer-wise Mean Pooling</a:t>
            </a:r>
            <a:endParaRPr lang="en-US" sz="1400" dirty="0"/>
          </a:p>
        </p:txBody>
      </p:sp>
      <p:pic>
        <p:nvPicPr>
          <p:cNvPr id="28" name="Image 5" descr="E:\DoCode\CD2\01_Report_CD2_FashionRecommendation\4_docs\02_Present\present_v2\formulas\c4.png"/>
          <p:cNvPicPr>
            <a:picLocks noChangeAspect="1"/>
          </p:cNvPicPr>
          <p:nvPr/>
        </p:nvPicPr>
        <p:blipFill>
          <a:blip r:embed="rId8"/>
          <a:stretch>
            <a:fillRect/>
          </a:stretch>
        </p:blipFill>
        <p:spPr>
          <a:xfrm>
            <a:off x="7738707" y="4191000"/>
            <a:ext cx="2365629" cy="38404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C1272D"/>
                </a:solidFill>
                <a:latin typeface="Segoe UI" pitchFamily="34" charset="0"/>
                <a:ea typeface="Segoe UI" pitchFamily="34" charset="-122"/>
                <a:cs typeface="Segoe UI" pitchFamily="34" charset="-120"/>
              </a:rPr>
              <a:t>APPENDIX · MATHEMATICAL FORMULATIONS</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BM3 — Self-Supervised Bootstrap Equations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A2 / A3</a:t>
            </a:r>
            <a:endParaRPr lang="en-US" sz="1200" dirty="0"/>
          </a:p>
        </p:txBody>
      </p:sp>
      <p:sp>
        <p:nvSpPr>
          <p:cNvPr id="9" name="Shape 5"/>
          <p:cNvSpPr/>
          <p:nvPr/>
        </p:nvSpPr>
        <p:spPr>
          <a:xfrm>
            <a:off x="609600" y="1905000"/>
            <a:ext cx="5321148" cy="1600200"/>
          </a:xfrm>
          <a:prstGeom prst="roundRect">
            <a:avLst>
              <a:gd name="adj" fmla="val 2857"/>
            </a:avLst>
          </a:prstGeom>
          <a:solidFill>
            <a:srgbClr val="FDF3F3"/>
          </a:solidFill>
          <a:ln/>
        </p:spPr>
        <p:txBody>
          <a:bodyPr/>
          <a:lstStyle/>
          <a:p>
            <a:endParaRPr lang="en-US"/>
          </a:p>
        </p:txBody>
      </p:sp>
      <p:sp>
        <p:nvSpPr>
          <p:cNvPr id="10" name="Shape 6"/>
          <p:cNvSpPr/>
          <p:nvPr/>
        </p:nvSpPr>
        <p:spPr>
          <a:xfrm>
            <a:off x="609600" y="1923288"/>
            <a:ext cx="50292" cy="1563624"/>
          </a:xfrm>
          <a:prstGeom prst="rect">
            <a:avLst/>
          </a:prstGeom>
          <a:solidFill>
            <a:srgbClr val="C1272D"/>
          </a:solidFill>
          <a:ln/>
        </p:spPr>
        <p:txBody>
          <a:bodyPr/>
          <a:lstStyle/>
          <a:p>
            <a:endParaRPr lang="en-US"/>
          </a:p>
        </p:txBody>
      </p:sp>
      <p:sp>
        <p:nvSpPr>
          <p:cNvPr id="11" name="Text 7"/>
          <p:cNvSpPr/>
          <p:nvPr/>
        </p:nvSpPr>
        <p:spPr>
          <a:xfrm>
            <a:off x="792480" y="2014728"/>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1. Modal Projection &amp; Fusion</a:t>
            </a:r>
            <a:endParaRPr lang="en-US" sz="1400" dirty="0"/>
          </a:p>
        </p:txBody>
      </p:sp>
      <p:pic>
        <p:nvPicPr>
          <p:cNvPr id="12" name="Image 1" descr="E:\DoCode\CD2\01_Report_CD2_FashionRecommendation\4_docs\02_Present\present_v2\formulas\b1a.png"/>
          <p:cNvPicPr>
            <a:picLocks noChangeAspect="1"/>
          </p:cNvPicPr>
          <p:nvPr/>
        </p:nvPicPr>
        <p:blipFill>
          <a:blip r:embed="rId4"/>
          <a:stretch>
            <a:fillRect/>
          </a:stretch>
        </p:blipFill>
        <p:spPr>
          <a:xfrm>
            <a:off x="792480" y="2380488"/>
            <a:ext cx="4955388" cy="273476"/>
          </a:xfrm>
          <a:prstGeom prst="rect">
            <a:avLst/>
          </a:prstGeom>
        </p:spPr>
      </p:pic>
      <p:pic>
        <p:nvPicPr>
          <p:cNvPr id="13" name="Image 2" descr="E:\DoCode\CD2\01_Report_CD2_FashionRecommendation\4_docs\02_Present\present_v2\formulas\b1b.png"/>
          <p:cNvPicPr>
            <a:picLocks noChangeAspect="1"/>
          </p:cNvPicPr>
          <p:nvPr/>
        </p:nvPicPr>
        <p:blipFill>
          <a:blip r:embed="rId5"/>
          <a:stretch>
            <a:fillRect/>
          </a:stretch>
        </p:blipFill>
        <p:spPr>
          <a:xfrm>
            <a:off x="2531552" y="2773680"/>
            <a:ext cx="1477244" cy="365760"/>
          </a:xfrm>
          <a:prstGeom prst="rect">
            <a:avLst/>
          </a:prstGeom>
        </p:spPr>
      </p:pic>
      <p:sp>
        <p:nvSpPr>
          <p:cNvPr id="14" name="Shape 8"/>
          <p:cNvSpPr/>
          <p:nvPr/>
        </p:nvSpPr>
        <p:spPr>
          <a:xfrm>
            <a:off x="609600" y="3614928"/>
            <a:ext cx="5321148" cy="1325880"/>
          </a:xfrm>
          <a:prstGeom prst="roundRect">
            <a:avLst>
              <a:gd name="adj" fmla="val 3448"/>
            </a:avLst>
          </a:prstGeom>
          <a:solidFill>
            <a:srgbClr val="FDF3F3"/>
          </a:solidFill>
          <a:ln/>
        </p:spPr>
        <p:txBody>
          <a:bodyPr/>
          <a:lstStyle/>
          <a:p>
            <a:endParaRPr lang="en-US"/>
          </a:p>
        </p:txBody>
      </p:sp>
      <p:sp>
        <p:nvSpPr>
          <p:cNvPr id="15" name="Shape 9"/>
          <p:cNvSpPr/>
          <p:nvPr/>
        </p:nvSpPr>
        <p:spPr>
          <a:xfrm>
            <a:off x="609600" y="3633216"/>
            <a:ext cx="50292" cy="1289304"/>
          </a:xfrm>
          <a:prstGeom prst="rect">
            <a:avLst/>
          </a:prstGeom>
          <a:solidFill>
            <a:srgbClr val="C1272D"/>
          </a:solidFill>
          <a:ln/>
        </p:spPr>
        <p:txBody>
          <a:bodyPr/>
          <a:lstStyle/>
          <a:p>
            <a:endParaRPr lang="en-US"/>
          </a:p>
        </p:txBody>
      </p:sp>
      <p:sp>
        <p:nvSpPr>
          <p:cNvPr id="16" name="Text 10"/>
          <p:cNvSpPr/>
          <p:nvPr/>
        </p:nvSpPr>
        <p:spPr>
          <a:xfrm>
            <a:off x="792480" y="3724656"/>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2. EMA Target Encoder Update</a:t>
            </a:r>
            <a:endParaRPr lang="en-US" sz="1400" dirty="0"/>
          </a:p>
        </p:txBody>
      </p:sp>
      <p:pic>
        <p:nvPicPr>
          <p:cNvPr id="17" name="Image 3" descr="E:\DoCode\CD2\01_Report_CD2_FashionRecommendation\4_docs\02_Present\present_v2\formulas\b2.png"/>
          <p:cNvPicPr>
            <a:picLocks noChangeAspect="1"/>
          </p:cNvPicPr>
          <p:nvPr/>
        </p:nvPicPr>
        <p:blipFill>
          <a:blip r:embed="rId6"/>
          <a:stretch>
            <a:fillRect/>
          </a:stretch>
        </p:blipFill>
        <p:spPr>
          <a:xfrm>
            <a:off x="926496" y="4108704"/>
            <a:ext cx="4687355" cy="310896"/>
          </a:xfrm>
          <a:prstGeom prst="rect">
            <a:avLst/>
          </a:prstGeom>
        </p:spPr>
      </p:pic>
      <p:sp>
        <p:nvSpPr>
          <p:cNvPr id="18" name="Text 11"/>
          <p:cNvSpPr/>
          <p:nvPr/>
        </p:nvSpPr>
        <p:spPr>
          <a:xfrm>
            <a:off x="792480" y="4492752"/>
            <a:ext cx="4955388" cy="457200"/>
          </a:xfrm>
          <a:prstGeom prst="rect">
            <a:avLst/>
          </a:prstGeom>
          <a:noFill/>
          <a:ln/>
        </p:spPr>
        <p:txBody>
          <a:bodyPr wrap="square" rtlCol="0" anchor="t"/>
          <a:lstStyle/>
          <a:p>
            <a:pPr marL="0" indent="0" algn="l">
              <a:lnSpc>
                <a:spcPct val="115000"/>
              </a:lnSpc>
              <a:buNone/>
            </a:pPr>
            <a:r>
              <a:rPr lang="en-US" sz="1050" dirty="0">
                <a:solidFill>
                  <a:srgbClr val="8899BB"/>
                </a:solidFill>
                <a:latin typeface="Segoe UI" pitchFamily="34" charset="0"/>
                <a:ea typeface="Segoe UI" pitchFamily="34" charset="-122"/>
                <a:cs typeface="Segoe UI" pitchFamily="34" charset="-120"/>
              </a:rPr>
              <a:t>m = 0.995 momentum · no gradient flows through target encoder</a:t>
            </a:r>
            <a:endParaRPr lang="en-US" sz="1050" dirty="0"/>
          </a:p>
        </p:txBody>
      </p:sp>
      <p:sp>
        <p:nvSpPr>
          <p:cNvPr id="19" name="Shape 12"/>
          <p:cNvSpPr/>
          <p:nvPr/>
        </p:nvSpPr>
        <p:spPr>
          <a:xfrm>
            <a:off x="6260948" y="1905000"/>
            <a:ext cx="5321148" cy="1600200"/>
          </a:xfrm>
          <a:prstGeom prst="roundRect">
            <a:avLst>
              <a:gd name="adj" fmla="val 2857"/>
            </a:avLst>
          </a:prstGeom>
          <a:solidFill>
            <a:srgbClr val="FDF3F3"/>
          </a:solidFill>
          <a:ln/>
        </p:spPr>
        <p:txBody>
          <a:bodyPr/>
          <a:lstStyle/>
          <a:p>
            <a:endParaRPr lang="en-US"/>
          </a:p>
        </p:txBody>
      </p:sp>
      <p:sp>
        <p:nvSpPr>
          <p:cNvPr id="20" name="Shape 13"/>
          <p:cNvSpPr/>
          <p:nvPr/>
        </p:nvSpPr>
        <p:spPr>
          <a:xfrm>
            <a:off x="6260948" y="1923288"/>
            <a:ext cx="50292" cy="1563624"/>
          </a:xfrm>
          <a:prstGeom prst="rect">
            <a:avLst/>
          </a:prstGeom>
          <a:solidFill>
            <a:srgbClr val="C1272D"/>
          </a:solidFill>
          <a:ln/>
        </p:spPr>
        <p:txBody>
          <a:bodyPr/>
          <a:lstStyle/>
          <a:p>
            <a:endParaRPr lang="en-US"/>
          </a:p>
        </p:txBody>
      </p:sp>
      <p:sp>
        <p:nvSpPr>
          <p:cNvPr id="21" name="Text 14"/>
          <p:cNvSpPr/>
          <p:nvPr/>
        </p:nvSpPr>
        <p:spPr>
          <a:xfrm>
            <a:off x="6443828" y="2014728"/>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3. Asymmetric Bootstrap Loss</a:t>
            </a:r>
            <a:endParaRPr lang="en-US" sz="1400" dirty="0"/>
          </a:p>
        </p:txBody>
      </p:sp>
      <p:pic>
        <p:nvPicPr>
          <p:cNvPr id="22" name="Image 4" descr="E:\DoCode\CD2\01_Report_CD2_FashionRecommendation\4_docs\02_Present\present_v2\formulas\b3a.png"/>
          <p:cNvPicPr>
            <a:picLocks noChangeAspect="1"/>
          </p:cNvPicPr>
          <p:nvPr/>
        </p:nvPicPr>
        <p:blipFill>
          <a:blip r:embed="rId7"/>
          <a:stretch>
            <a:fillRect/>
          </a:stretch>
        </p:blipFill>
        <p:spPr>
          <a:xfrm>
            <a:off x="8170064" y="2362200"/>
            <a:ext cx="1502914" cy="329184"/>
          </a:xfrm>
          <a:prstGeom prst="rect">
            <a:avLst/>
          </a:prstGeom>
        </p:spPr>
      </p:pic>
      <p:pic>
        <p:nvPicPr>
          <p:cNvPr id="23" name="Image 5" descr="E:\DoCode\CD2\01_Report_CD2_FashionRecommendation\4_docs\02_Present\present_v2\formulas\b3b.png"/>
          <p:cNvPicPr>
            <a:picLocks noChangeAspect="1"/>
          </p:cNvPicPr>
          <p:nvPr/>
        </p:nvPicPr>
        <p:blipFill>
          <a:blip r:embed="rId8"/>
          <a:stretch>
            <a:fillRect/>
          </a:stretch>
        </p:blipFill>
        <p:spPr>
          <a:xfrm>
            <a:off x="6443828" y="2773680"/>
            <a:ext cx="4955388" cy="207353"/>
          </a:xfrm>
          <a:prstGeom prst="rect">
            <a:avLst/>
          </a:prstGeom>
        </p:spPr>
      </p:pic>
      <p:sp>
        <p:nvSpPr>
          <p:cNvPr id="24" name="Shape 15"/>
          <p:cNvSpPr/>
          <p:nvPr/>
        </p:nvSpPr>
        <p:spPr>
          <a:xfrm>
            <a:off x="6260948" y="3614928"/>
            <a:ext cx="5321148" cy="1325880"/>
          </a:xfrm>
          <a:prstGeom prst="roundRect">
            <a:avLst>
              <a:gd name="adj" fmla="val 3448"/>
            </a:avLst>
          </a:prstGeom>
          <a:solidFill>
            <a:srgbClr val="FDF3F3"/>
          </a:solidFill>
          <a:ln/>
        </p:spPr>
        <p:txBody>
          <a:bodyPr/>
          <a:lstStyle/>
          <a:p>
            <a:endParaRPr lang="en-US"/>
          </a:p>
        </p:txBody>
      </p:sp>
      <p:sp>
        <p:nvSpPr>
          <p:cNvPr id="25" name="Shape 16"/>
          <p:cNvSpPr/>
          <p:nvPr/>
        </p:nvSpPr>
        <p:spPr>
          <a:xfrm>
            <a:off x="6260948" y="3633216"/>
            <a:ext cx="50292" cy="1289304"/>
          </a:xfrm>
          <a:prstGeom prst="rect">
            <a:avLst/>
          </a:prstGeom>
          <a:solidFill>
            <a:srgbClr val="C1272D"/>
          </a:solidFill>
          <a:ln/>
        </p:spPr>
        <p:txBody>
          <a:bodyPr/>
          <a:lstStyle/>
          <a:p>
            <a:endParaRPr lang="en-US"/>
          </a:p>
        </p:txBody>
      </p:sp>
      <p:sp>
        <p:nvSpPr>
          <p:cNvPr id="26" name="Text 17"/>
          <p:cNvSpPr/>
          <p:nvPr/>
        </p:nvSpPr>
        <p:spPr>
          <a:xfrm>
            <a:off x="6443828" y="3724656"/>
            <a:ext cx="4955388" cy="320040"/>
          </a:xfrm>
          <a:prstGeom prst="rect">
            <a:avLst/>
          </a:prstGeom>
          <a:noFill/>
          <a:ln/>
        </p:spPr>
        <p:txBody>
          <a:bodyPr wrap="square" rtlCol="0" anchor="t"/>
          <a:lstStyle/>
          <a:p>
            <a:pPr marL="0" indent="0" algn="l">
              <a:buNone/>
            </a:pPr>
            <a:r>
              <a:rPr lang="en-US" sz="1400" b="1" dirty="0">
                <a:solidFill>
                  <a:srgbClr val="0D1B3E"/>
                </a:solidFill>
                <a:latin typeface="Segoe UI" pitchFamily="34" charset="0"/>
                <a:ea typeface="Segoe UI" pitchFamily="34" charset="-122"/>
                <a:cs typeface="Segoe UI" pitchFamily="34" charset="-120"/>
              </a:rPr>
              <a:t>4. Joint Optimization Objective</a:t>
            </a:r>
            <a:endParaRPr lang="en-US" sz="1400" dirty="0"/>
          </a:p>
        </p:txBody>
      </p:sp>
      <p:pic>
        <p:nvPicPr>
          <p:cNvPr id="27" name="Image 6" descr="E:\DoCode\CD2\01_Report_CD2_FashionRecommendation\4_docs\02_Present\present_v2\formulas\b4.png"/>
          <p:cNvPicPr>
            <a:picLocks noChangeAspect="1"/>
          </p:cNvPicPr>
          <p:nvPr/>
        </p:nvPicPr>
        <p:blipFill>
          <a:blip r:embed="rId9"/>
          <a:stretch>
            <a:fillRect/>
          </a:stretch>
        </p:blipFill>
        <p:spPr>
          <a:xfrm>
            <a:off x="6443828" y="4108704"/>
            <a:ext cx="4955388" cy="208035"/>
          </a:xfrm>
          <a:prstGeom prst="rect">
            <a:avLst/>
          </a:prstGeom>
        </p:spPr>
      </p:pic>
      <p:sp>
        <p:nvSpPr>
          <p:cNvPr id="28" name="Text 18"/>
          <p:cNvSpPr/>
          <p:nvPr/>
        </p:nvSpPr>
        <p:spPr>
          <a:xfrm>
            <a:off x="6443828" y="4492752"/>
            <a:ext cx="4955388" cy="457200"/>
          </a:xfrm>
          <a:prstGeom prst="rect">
            <a:avLst/>
          </a:prstGeom>
          <a:noFill/>
          <a:ln/>
        </p:spPr>
        <p:txBody>
          <a:bodyPr wrap="square" rtlCol="0" anchor="t"/>
          <a:lstStyle/>
          <a:p>
            <a:pPr marL="0" indent="0" algn="l">
              <a:lnSpc>
                <a:spcPct val="115000"/>
              </a:lnSpc>
              <a:buNone/>
            </a:pPr>
            <a:r>
              <a:rPr lang="en-US" sz="1050" dirty="0">
                <a:solidFill>
                  <a:srgbClr val="8899BB"/>
                </a:solidFill>
                <a:latin typeface="Segoe UI" pitchFamily="34" charset="0"/>
                <a:ea typeface="Segoe UI" pitchFamily="34" charset="-122"/>
                <a:cs typeface="Segoe UI" pitchFamily="34" charset="-120"/>
              </a:rPr>
              <a:t>BPR loss + contrastive term (λ₂ = 0.2)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A7A50"/>
                </a:solidFill>
                <a:latin typeface="Segoe UI" pitchFamily="34" charset="0"/>
                <a:ea typeface="Segoe UI" pitchFamily="34" charset="-122"/>
                <a:cs typeface="Segoe UI" pitchFamily="34" charset="-120"/>
              </a:rPr>
              <a:t>APPENDIX · MATHEMATICAL FORMULATIONS</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FREEDOM — Decoupled Graph &amp; InfoNCE Equations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A3 / A3</a:t>
            </a:r>
            <a:endParaRPr lang="en-US" sz="1200" dirty="0"/>
          </a:p>
        </p:txBody>
      </p:sp>
      <p:sp>
        <p:nvSpPr>
          <p:cNvPr id="9" name="Shape 5"/>
          <p:cNvSpPr/>
          <p:nvPr/>
        </p:nvSpPr>
        <p:spPr>
          <a:xfrm>
            <a:off x="609600" y="1905000"/>
            <a:ext cx="5321148" cy="1417320"/>
          </a:xfrm>
          <a:prstGeom prst="roundRect">
            <a:avLst>
              <a:gd name="adj" fmla="val 3226"/>
            </a:avLst>
          </a:prstGeom>
          <a:solidFill>
            <a:srgbClr val="F0FAF5"/>
          </a:solidFill>
          <a:ln/>
        </p:spPr>
        <p:txBody>
          <a:bodyPr/>
          <a:lstStyle/>
          <a:p>
            <a:endParaRPr lang="en-US"/>
          </a:p>
        </p:txBody>
      </p:sp>
      <p:sp>
        <p:nvSpPr>
          <p:cNvPr id="10" name="Shape 6"/>
          <p:cNvSpPr/>
          <p:nvPr/>
        </p:nvSpPr>
        <p:spPr>
          <a:xfrm>
            <a:off x="609600" y="1923288"/>
            <a:ext cx="50292" cy="1380744"/>
          </a:xfrm>
          <a:prstGeom prst="rect">
            <a:avLst/>
          </a:prstGeom>
          <a:solidFill>
            <a:srgbClr val="1A7A50"/>
          </a:solidFill>
          <a:ln/>
        </p:spPr>
        <p:txBody>
          <a:bodyPr/>
          <a:lstStyle/>
          <a:p>
            <a:endParaRPr lang="en-US"/>
          </a:p>
        </p:txBody>
      </p:sp>
      <p:sp>
        <p:nvSpPr>
          <p:cNvPr id="11" name="Text 7"/>
          <p:cNvSpPr/>
          <p:nvPr/>
        </p:nvSpPr>
        <p:spPr>
          <a:xfrm>
            <a:off x="792480" y="2014728"/>
            <a:ext cx="4955388" cy="320040"/>
          </a:xfrm>
          <a:prstGeom prst="rect">
            <a:avLst/>
          </a:prstGeom>
          <a:noFill/>
          <a:ln/>
        </p:spPr>
        <p:txBody>
          <a:bodyPr wrap="square" rtlCol="0" anchor="t"/>
          <a:lstStyle/>
          <a:p>
            <a:pPr marL="0" indent="0" algn="l">
              <a:buNone/>
            </a:pPr>
            <a:r>
              <a:rPr lang="en-US" sz="1400" b="1" dirty="0">
                <a:solidFill>
                  <a:srgbClr val="1A7A50"/>
                </a:solidFill>
                <a:latin typeface="Segoe UI" pitchFamily="34" charset="0"/>
                <a:ea typeface="Segoe UI" pitchFamily="34" charset="-122"/>
                <a:cs typeface="Segoe UI" pitchFamily="34" charset="-120"/>
              </a:rPr>
              <a:t>1. Frozen kNN Graph Construction</a:t>
            </a:r>
            <a:endParaRPr lang="en-US" sz="1400" dirty="0"/>
          </a:p>
        </p:txBody>
      </p:sp>
      <p:pic>
        <p:nvPicPr>
          <p:cNvPr id="12" name="Image 1" descr="E:\DoCode\CD2\01_Report_CD2_FashionRecommendation\4_docs\02_Present\present_v2\formulas\r1.png"/>
          <p:cNvPicPr>
            <a:picLocks noChangeAspect="1"/>
          </p:cNvPicPr>
          <p:nvPr/>
        </p:nvPicPr>
        <p:blipFill>
          <a:blip r:embed="rId4"/>
          <a:stretch>
            <a:fillRect/>
          </a:stretch>
        </p:blipFill>
        <p:spPr>
          <a:xfrm>
            <a:off x="1798847" y="2407920"/>
            <a:ext cx="2942654" cy="347472"/>
          </a:xfrm>
          <a:prstGeom prst="rect">
            <a:avLst/>
          </a:prstGeom>
        </p:spPr>
      </p:pic>
      <p:sp>
        <p:nvSpPr>
          <p:cNvPr id="13" name="Text 8"/>
          <p:cNvSpPr/>
          <p:nvPr/>
        </p:nvSpPr>
        <p:spPr>
          <a:xfrm>
            <a:off x="792480" y="2865120"/>
            <a:ext cx="4955388" cy="457200"/>
          </a:xfrm>
          <a:prstGeom prst="rect">
            <a:avLst/>
          </a:prstGeom>
          <a:noFill/>
          <a:ln/>
        </p:spPr>
        <p:txBody>
          <a:bodyPr wrap="square" rtlCol="0" anchor="t"/>
          <a:lstStyle/>
          <a:p>
            <a:pPr marL="0" indent="0" algn="l">
              <a:lnSpc>
                <a:spcPct val="115000"/>
              </a:lnSpc>
              <a:buNone/>
            </a:pPr>
            <a:r>
              <a:rPr lang="en-US" sz="1050" dirty="0">
                <a:solidFill>
                  <a:srgbClr val="8899BB"/>
                </a:solidFill>
                <a:latin typeface="Segoe UI" pitchFamily="34" charset="0"/>
                <a:ea typeface="Segoe UI" pitchFamily="34" charset="-122"/>
                <a:cs typeface="Segoe UI" pitchFamily="34" charset="-120"/>
              </a:rPr>
              <a:t>Top-k = 10 neighbours by modal cosine similarity · frozen during training</a:t>
            </a:r>
            <a:endParaRPr lang="en-US" sz="1050" dirty="0"/>
          </a:p>
        </p:txBody>
      </p:sp>
      <p:sp>
        <p:nvSpPr>
          <p:cNvPr id="14" name="Shape 9"/>
          <p:cNvSpPr/>
          <p:nvPr/>
        </p:nvSpPr>
        <p:spPr>
          <a:xfrm>
            <a:off x="609600" y="3432048"/>
            <a:ext cx="5321148" cy="1417320"/>
          </a:xfrm>
          <a:prstGeom prst="roundRect">
            <a:avLst>
              <a:gd name="adj" fmla="val 3226"/>
            </a:avLst>
          </a:prstGeom>
          <a:solidFill>
            <a:srgbClr val="F0FAF5"/>
          </a:solidFill>
          <a:ln/>
        </p:spPr>
        <p:txBody>
          <a:bodyPr/>
          <a:lstStyle/>
          <a:p>
            <a:endParaRPr lang="en-US"/>
          </a:p>
        </p:txBody>
      </p:sp>
      <p:sp>
        <p:nvSpPr>
          <p:cNvPr id="15" name="Shape 10"/>
          <p:cNvSpPr/>
          <p:nvPr/>
        </p:nvSpPr>
        <p:spPr>
          <a:xfrm>
            <a:off x="609600" y="3450336"/>
            <a:ext cx="50292" cy="1380744"/>
          </a:xfrm>
          <a:prstGeom prst="rect">
            <a:avLst/>
          </a:prstGeom>
          <a:solidFill>
            <a:srgbClr val="1A7A50"/>
          </a:solidFill>
          <a:ln/>
        </p:spPr>
        <p:txBody>
          <a:bodyPr/>
          <a:lstStyle/>
          <a:p>
            <a:endParaRPr lang="en-US"/>
          </a:p>
        </p:txBody>
      </p:sp>
      <p:sp>
        <p:nvSpPr>
          <p:cNvPr id="16" name="Text 11"/>
          <p:cNvSpPr/>
          <p:nvPr/>
        </p:nvSpPr>
        <p:spPr>
          <a:xfrm>
            <a:off x="792480" y="3541776"/>
            <a:ext cx="4955388" cy="320040"/>
          </a:xfrm>
          <a:prstGeom prst="rect">
            <a:avLst/>
          </a:prstGeom>
          <a:noFill/>
          <a:ln/>
        </p:spPr>
        <p:txBody>
          <a:bodyPr wrap="square" rtlCol="0" anchor="t"/>
          <a:lstStyle/>
          <a:p>
            <a:pPr marL="0" indent="0" algn="l">
              <a:buNone/>
            </a:pPr>
            <a:r>
              <a:rPr lang="en-US" sz="1400" b="1" dirty="0">
                <a:solidFill>
                  <a:srgbClr val="1A7A50"/>
                </a:solidFill>
                <a:latin typeface="Segoe UI" pitchFamily="34" charset="0"/>
                <a:ea typeface="Segoe UI" pitchFamily="34" charset="-122"/>
                <a:cs typeface="Segoe UI" pitchFamily="34" charset="-120"/>
              </a:rPr>
              <a:t>2. Decoupled Content Propagation</a:t>
            </a:r>
            <a:endParaRPr lang="en-US" sz="1400" dirty="0"/>
          </a:p>
        </p:txBody>
      </p:sp>
      <p:pic>
        <p:nvPicPr>
          <p:cNvPr id="17" name="Image 2" descr="E:\DoCode\CD2\01_Report_CD2_FashionRecommendation\4_docs\02_Present\present_v2\formulas\r2.png"/>
          <p:cNvPicPr>
            <a:picLocks noChangeAspect="1"/>
          </p:cNvPicPr>
          <p:nvPr/>
        </p:nvPicPr>
        <p:blipFill>
          <a:blip r:embed="rId5"/>
          <a:stretch>
            <a:fillRect/>
          </a:stretch>
        </p:blipFill>
        <p:spPr>
          <a:xfrm>
            <a:off x="2260031" y="3925824"/>
            <a:ext cx="2020286" cy="384048"/>
          </a:xfrm>
          <a:prstGeom prst="rect">
            <a:avLst/>
          </a:prstGeom>
        </p:spPr>
      </p:pic>
      <p:sp>
        <p:nvSpPr>
          <p:cNvPr id="18" name="Text 12"/>
          <p:cNvSpPr/>
          <p:nvPr/>
        </p:nvSpPr>
        <p:spPr>
          <a:xfrm>
            <a:off x="792480" y="4419600"/>
            <a:ext cx="4955388" cy="457200"/>
          </a:xfrm>
          <a:prstGeom prst="rect">
            <a:avLst/>
          </a:prstGeom>
          <a:noFill/>
          <a:ln/>
        </p:spPr>
        <p:txBody>
          <a:bodyPr wrap="square" rtlCol="0" anchor="t"/>
          <a:lstStyle/>
          <a:p>
            <a:pPr marL="0" indent="0" algn="l">
              <a:lnSpc>
                <a:spcPct val="115000"/>
              </a:lnSpc>
              <a:buNone/>
            </a:pPr>
            <a:r>
              <a:rPr lang="en-US" sz="1050" dirty="0">
                <a:solidFill>
                  <a:srgbClr val="8899BB"/>
                </a:solidFill>
                <a:latin typeface="Segoe UI" pitchFamily="34" charset="0"/>
                <a:ea typeface="Segoe UI" pitchFamily="34" charset="-122"/>
                <a:cs typeface="Segoe UI" pitchFamily="34" charset="-120"/>
              </a:rPr>
              <a:t>Initialised with modal embeddings; learns pure semantic structure</a:t>
            </a:r>
            <a:endParaRPr lang="en-US" sz="1050" dirty="0"/>
          </a:p>
        </p:txBody>
      </p:sp>
      <p:sp>
        <p:nvSpPr>
          <p:cNvPr id="19" name="Shape 13"/>
          <p:cNvSpPr/>
          <p:nvPr/>
        </p:nvSpPr>
        <p:spPr>
          <a:xfrm>
            <a:off x="6260948" y="1905000"/>
            <a:ext cx="5321148" cy="1417320"/>
          </a:xfrm>
          <a:prstGeom prst="roundRect">
            <a:avLst>
              <a:gd name="adj" fmla="val 3226"/>
            </a:avLst>
          </a:prstGeom>
          <a:solidFill>
            <a:srgbClr val="F0FAF5"/>
          </a:solidFill>
          <a:ln/>
        </p:spPr>
        <p:txBody>
          <a:bodyPr/>
          <a:lstStyle/>
          <a:p>
            <a:endParaRPr lang="en-US"/>
          </a:p>
        </p:txBody>
      </p:sp>
      <p:sp>
        <p:nvSpPr>
          <p:cNvPr id="20" name="Shape 14"/>
          <p:cNvSpPr/>
          <p:nvPr/>
        </p:nvSpPr>
        <p:spPr>
          <a:xfrm>
            <a:off x="6260948" y="1923288"/>
            <a:ext cx="50292" cy="1380744"/>
          </a:xfrm>
          <a:prstGeom prst="rect">
            <a:avLst/>
          </a:prstGeom>
          <a:solidFill>
            <a:srgbClr val="1A7A50"/>
          </a:solidFill>
          <a:ln/>
        </p:spPr>
        <p:txBody>
          <a:bodyPr/>
          <a:lstStyle/>
          <a:p>
            <a:endParaRPr lang="en-US"/>
          </a:p>
        </p:txBody>
      </p:sp>
      <p:sp>
        <p:nvSpPr>
          <p:cNvPr id="21" name="Text 15"/>
          <p:cNvSpPr/>
          <p:nvPr/>
        </p:nvSpPr>
        <p:spPr>
          <a:xfrm>
            <a:off x="6443828" y="2014728"/>
            <a:ext cx="4955388" cy="320040"/>
          </a:xfrm>
          <a:prstGeom prst="rect">
            <a:avLst/>
          </a:prstGeom>
          <a:noFill/>
          <a:ln/>
        </p:spPr>
        <p:txBody>
          <a:bodyPr wrap="square" rtlCol="0" anchor="t"/>
          <a:lstStyle/>
          <a:p>
            <a:pPr marL="0" indent="0" algn="l">
              <a:buNone/>
            </a:pPr>
            <a:r>
              <a:rPr lang="en-US" sz="1400" b="1" dirty="0">
                <a:solidFill>
                  <a:srgbClr val="1A7A50"/>
                </a:solidFill>
                <a:latin typeface="Segoe UI" pitchFamily="34" charset="0"/>
                <a:ea typeface="Segoe UI" pitchFamily="34" charset="-122"/>
                <a:cs typeface="Segoe UI" pitchFamily="34" charset="-120"/>
              </a:rPr>
              <a:t>3. InfoNCE Contrastive Alignment</a:t>
            </a:r>
            <a:endParaRPr lang="en-US" sz="1400" dirty="0"/>
          </a:p>
        </p:txBody>
      </p:sp>
      <p:pic>
        <p:nvPicPr>
          <p:cNvPr id="22" name="Image 3" descr="E:\DoCode\CD2\01_Report_CD2_FashionRecommendation\4_docs\02_Present\present_v2\formulas\r3.png"/>
          <p:cNvPicPr>
            <a:picLocks noChangeAspect="1"/>
          </p:cNvPicPr>
          <p:nvPr/>
        </p:nvPicPr>
        <p:blipFill>
          <a:blip r:embed="rId6"/>
          <a:stretch>
            <a:fillRect/>
          </a:stretch>
        </p:blipFill>
        <p:spPr>
          <a:xfrm>
            <a:off x="6903607" y="2453640"/>
            <a:ext cx="4035829" cy="548640"/>
          </a:xfrm>
          <a:prstGeom prst="rect">
            <a:avLst/>
          </a:prstGeom>
        </p:spPr>
      </p:pic>
      <p:sp>
        <p:nvSpPr>
          <p:cNvPr id="23" name="Text 16"/>
          <p:cNvSpPr/>
          <p:nvPr/>
        </p:nvSpPr>
        <p:spPr>
          <a:xfrm>
            <a:off x="6443828" y="3048000"/>
            <a:ext cx="4955388" cy="457200"/>
          </a:xfrm>
          <a:prstGeom prst="rect">
            <a:avLst/>
          </a:prstGeom>
          <a:noFill/>
          <a:ln/>
        </p:spPr>
        <p:txBody>
          <a:bodyPr wrap="square" rtlCol="0" anchor="t"/>
          <a:lstStyle/>
          <a:p>
            <a:pPr marL="0" indent="0" algn="l">
              <a:lnSpc>
                <a:spcPct val="115000"/>
              </a:lnSpc>
              <a:buNone/>
            </a:pPr>
            <a:r>
              <a:rPr lang="en-US" sz="1050" dirty="0">
                <a:solidFill>
                  <a:srgbClr val="8899BB"/>
                </a:solidFill>
                <a:latin typeface="Segoe UI" pitchFamily="34" charset="0"/>
                <a:ea typeface="Segoe UI" pitchFamily="34" charset="-122"/>
                <a:cs typeface="Segoe UI" pitchFamily="34" charset="-120"/>
              </a:rPr>
              <a:t>B: mini-batch · s(·): cosine similarity · τ = 0.2 temperature</a:t>
            </a:r>
            <a:endParaRPr lang="en-US" sz="1050" dirty="0"/>
          </a:p>
        </p:txBody>
      </p:sp>
      <p:sp>
        <p:nvSpPr>
          <p:cNvPr id="24" name="Shape 17"/>
          <p:cNvSpPr/>
          <p:nvPr/>
        </p:nvSpPr>
        <p:spPr>
          <a:xfrm>
            <a:off x="6260948" y="3432048"/>
            <a:ext cx="5321148" cy="1417320"/>
          </a:xfrm>
          <a:prstGeom prst="roundRect">
            <a:avLst>
              <a:gd name="adj" fmla="val 3226"/>
            </a:avLst>
          </a:prstGeom>
          <a:solidFill>
            <a:srgbClr val="F0FAF5"/>
          </a:solidFill>
          <a:ln/>
        </p:spPr>
        <p:txBody>
          <a:bodyPr/>
          <a:lstStyle/>
          <a:p>
            <a:endParaRPr lang="en-US"/>
          </a:p>
        </p:txBody>
      </p:sp>
      <p:sp>
        <p:nvSpPr>
          <p:cNvPr id="25" name="Shape 18"/>
          <p:cNvSpPr/>
          <p:nvPr/>
        </p:nvSpPr>
        <p:spPr>
          <a:xfrm>
            <a:off x="6260948" y="3450336"/>
            <a:ext cx="50292" cy="1380744"/>
          </a:xfrm>
          <a:prstGeom prst="rect">
            <a:avLst/>
          </a:prstGeom>
          <a:solidFill>
            <a:srgbClr val="1A7A50"/>
          </a:solidFill>
          <a:ln/>
        </p:spPr>
        <p:txBody>
          <a:bodyPr/>
          <a:lstStyle/>
          <a:p>
            <a:endParaRPr lang="en-US"/>
          </a:p>
        </p:txBody>
      </p:sp>
      <p:sp>
        <p:nvSpPr>
          <p:cNvPr id="26" name="Text 19"/>
          <p:cNvSpPr/>
          <p:nvPr/>
        </p:nvSpPr>
        <p:spPr>
          <a:xfrm>
            <a:off x="6443828" y="3541776"/>
            <a:ext cx="4955388" cy="320040"/>
          </a:xfrm>
          <a:prstGeom prst="rect">
            <a:avLst/>
          </a:prstGeom>
          <a:noFill/>
          <a:ln/>
        </p:spPr>
        <p:txBody>
          <a:bodyPr wrap="square" rtlCol="0" anchor="t"/>
          <a:lstStyle/>
          <a:p>
            <a:pPr marL="0" indent="0" algn="l">
              <a:buNone/>
            </a:pPr>
            <a:r>
              <a:rPr lang="en-US" sz="1400" b="1" dirty="0">
                <a:solidFill>
                  <a:srgbClr val="1A7A50"/>
                </a:solidFill>
                <a:latin typeface="Segoe UI" pitchFamily="34" charset="0"/>
                <a:ea typeface="Segoe UI" pitchFamily="34" charset="-122"/>
                <a:cs typeface="Segoe UI" pitchFamily="34" charset="-120"/>
              </a:rPr>
              <a:t>4. Final Fused Joint Loss</a:t>
            </a:r>
            <a:endParaRPr lang="en-US" sz="1400" dirty="0"/>
          </a:p>
        </p:txBody>
      </p:sp>
      <p:pic>
        <p:nvPicPr>
          <p:cNvPr id="27" name="Image 4" descr="E:\DoCode\CD2\01_Report_CD2_FashionRecommendation\4_docs\02_Present\present_v2\formulas\r4.png"/>
          <p:cNvPicPr>
            <a:picLocks noChangeAspect="1"/>
          </p:cNvPicPr>
          <p:nvPr/>
        </p:nvPicPr>
        <p:blipFill>
          <a:blip r:embed="rId7"/>
          <a:stretch>
            <a:fillRect/>
          </a:stretch>
        </p:blipFill>
        <p:spPr>
          <a:xfrm>
            <a:off x="6443828" y="3962400"/>
            <a:ext cx="4955388" cy="205618"/>
          </a:xfrm>
          <a:prstGeom prst="rect">
            <a:avLst/>
          </a:prstGeom>
        </p:spPr>
      </p:pic>
      <p:sp>
        <p:nvSpPr>
          <p:cNvPr id="28" name="Text 20"/>
          <p:cNvSpPr/>
          <p:nvPr/>
        </p:nvSpPr>
        <p:spPr>
          <a:xfrm>
            <a:off x="6443828" y="4419600"/>
            <a:ext cx="4955388" cy="457200"/>
          </a:xfrm>
          <a:prstGeom prst="rect">
            <a:avLst/>
          </a:prstGeom>
          <a:noFill/>
          <a:ln/>
        </p:spPr>
        <p:txBody>
          <a:bodyPr wrap="square" rtlCol="0" anchor="t"/>
          <a:lstStyle/>
          <a:p>
            <a:pPr marL="0" indent="0" algn="l">
              <a:lnSpc>
                <a:spcPct val="115000"/>
              </a:lnSpc>
              <a:buNone/>
            </a:pPr>
            <a:r>
              <a:rPr lang="en-US" sz="1050" dirty="0">
                <a:solidFill>
                  <a:srgbClr val="8899BB"/>
                </a:solidFill>
                <a:latin typeface="Segoe UI" pitchFamily="34" charset="0"/>
                <a:ea typeface="Segoe UI" pitchFamily="34" charset="-122"/>
                <a:cs typeface="Segoe UI" pitchFamily="34" charset="-120"/>
              </a:rPr>
              <a:t>Contrastive alignment weight λ₂ = 0.1</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E:\DoCode\CD2\01_Report_CD2_FashionRecommendation\4_docs\02_Present\present_v2\uploads\logo.jpg"/>
          <p:cNvPicPr>
            <a:picLocks noChangeAspect="1"/>
          </p:cNvPicPr>
          <p:nvPr/>
        </p:nvPicPr>
        <p:blipFill>
          <a:blip r:embed="rId3"/>
          <a:srcRect/>
          <a:stretch/>
        </p:blipFill>
        <p:spPr>
          <a:xfrm>
            <a:off x="10667695" y="109728"/>
            <a:ext cx="914400" cy="475488"/>
          </a:xfrm>
          <a:prstGeom prst="rect">
            <a:avLst/>
          </a:prstGeom>
        </p:spPr>
      </p:pic>
      <p:sp>
        <p:nvSpPr>
          <p:cNvPr id="4" name="Text 0"/>
          <p:cNvSpPr/>
          <p:nvPr/>
        </p:nvSpPr>
        <p:spPr>
          <a:xfrm>
            <a:off x="609600" y="711200"/>
            <a:ext cx="10972495" cy="274320"/>
          </a:xfrm>
          <a:prstGeom prst="rect">
            <a:avLst/>
          </a:prstGeom>
          <a:noFill/>
          <a:ln/>
        </p:spPr>
        <p:txBody>
          <a:bodyPr wrap="square" rtlCol="0" anchor="ctr"/>
          <a:lstStyle/>
          <a:p>
            <a:pPr marL="0" indent="0" algn="l">
              <a:buNone/>
            </a:pPr>
            <a:r>
              <a:rPr lang="en-US" sz="1200" b="1" kern="0" spc="200" dirty="0">
                <a:solidFill>
                  <a:srgbClr val="1464B4"/>
                </a:solidFill>
                <a:latin typeface="Segoe UI" pitchFamily="34" charset="0"/>
                <a:ea typeface="Segoe UI" pitchFamily="34" charset="-122"/>
                <a:cs typeface="Segoe UI" pitchFamily="34" charset="-120"/>
              </a:rPr>
              <a:t>APPENDIX · RQ1 DETAIL · TABLE 4.2</a:t>
            </a:r>
            <a:endParaRPr lang="en-US" sz="1200" dirty="0"/>
          </a:p>
        </p:txBody>
      </p:sp>
      <p:sp>
        <p:nvSpPr>
          <p:cNvPr id="5" name="Text 1"/>
          <p:cNvSpPr/>
          <p:nvPr/>
        </p:nvSpPr>
        <p:spPr>
          <a:xfrm>
            <a:off x="609600" y="1003300"/>
            <a:ext cx="10972495" cy="868680"/>
          </a:xfrm>
          <a:prstGeom prst="rect">
            <a:avLst/>
          </a:prstGeom>
          <a:noFill/>
          <a:ln/>
        </p:spPr>
        <p:txBody>
          <a:bodyPr wrap="square" rtlCol="0" anchor="t"/>
          <a:lstStyle/>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Visual encoder impact on NDCG@10 —</a:t>
            </a:r>
            <a:endParaRPr lang="en-US" sz="2500" dirty="0"/>
          </a:p>
          <a:p>
            <a:pPr marL="0" indent="0" algn="l">
              <a:lnSpc>
                <a:spcPct val="105000"/>
              </a:lnSpc>
              <a:buNone/>
            </a:pPr>
            <a:r>
              <a:rPr lang="en-US" sz="2500" b="1" dirty="0">
                <a:solidFill>
                  <a:srgbClr val="0D1B3E"/>
                </a:solidFill>
                <a:latin typeface="Georgia" pitchFamily="34" charset="0"/>
                <a:ea typeface="Georgia" pitchFamily="34" charset="-122"/>
                <a:cs typeface="Georgia" pitchFamily="34" charset="-120"/>
              </a:rPr>
              <a:t>CLIP vs MobileNetV2 across all configs</a:t>
            </a:r>
            <a:endParaRPr lang="en-US" sz="2500" dirty="0"/>
          </a:p>
        </p:txBody>
      </p:sp>
      <p:sp>
        <p:nvSpPr>
          <p:cNvPr id="6" name="Shape 2"/>
          <p:cNvSpPr/>
          <p:nvPr/>
        </p:nvSpPr>
        <p:spPr>
          <a:xfrm>
            <a:off x="609600" y="6223000"/>
            <a:ext cx="10972495" cy="0"/>
          </a:xfrm>
          <a:prstGeom prst="line">
            <a:avLst/>
          </a:prstGeom>
          <a:noFill/>
          <a:ln w="12700">
            <a:solidFill>
              <a:srgbClr val="DDE3F0"/>
            </a:solidFill>
            <a:prstDash val="solid"/>
          </a:ln>
        </p:spPr>
        <p:txBody>
          <a:bodyPr/>
          <a:lstStyle/>
          <a:p>
            <a:endParaRPr lang="en-US"/>
          </a:p>
        </p:txBody>
      </p:sp>
      <p:sp>
        <p:nvSpPr>
          <p:cNvPr id="7" name="Text 3"/>
          <p:cNvSpPr/>
          <p:nvPr/>
        </p:nvSpPr>
        <p:spPr>
          <a:xfrm>
            <a:off x="609600" y="6250432"/>
            <a:ext cx="7680747" cy="274320"/>
          </a:xfrm>
          <a:prstGeom prst="rect">
            <a:avLst/>
          </a:prstGeom>
          <a:noFill/>
          <a:ln/>
        </p:spPr>
        <p:txBody>
          <a:bodyPr wrap="square" rtlCol="0" anchor="ctr"/>
          <a:lstStyle/>
          <a:p>
            <a:pPr marL="0" indent="0" algn="l">
              <a:buNone/>
            </a:pPr>
            <a:r>
              <a:rPr lang="en-US" sz="1200" dirty="0">
                <a:solidFill>
                  <a:srgbClr val="8899BB"/>
                </a:solidFill>
                <a:latin typeface="Segoe UI" pitchFamily="34" charset="0"/>
                <a:ea typeface="Segoe UI" pitchFamily="34" charset="-122"/>
                <a:cs typeface="Segoe UI" pitchFamily="34" charset="-120"/>
              </a:rPr>
              <a:t>Hoang Dinh Quy Vu · research topic 2</a:t>
            </a:r>
            <a:endParaRPr lang="en-US" sz="1200" dirty="0"/>
          </a:p>
        </p:txBody>
      </p:sp>
      <p:sp>
        <p:nvSpPr>
          <p:cNvPr id="8" name="Text 4"/>
          <p:cNvSpPr/>
          <p:nvPr/>
        </p:nvSpPr>
        <p:spPr>
          <a:xfrm>
            <a:off x="9753295" y="6250432"/>
            <a:ext cx="1828800" cy="274320"/>
          </a:xfrm>
          <a:prstGeom prst="rect">
            <a:avLst/>
          </a:prstGeom>
          <a:noFill/>
          <a:ln/>
        </p:spPr>
        <p:txBody>
          <a:bodyPr wrap="square" rtlCol="0" anchor="ctr"/>
          <a:lstStyle/>
          <a:p>
            <a:pPr marL="0" indent="0" algn="r">
              <a:buNone/>
            </a:pPr>
            <a:r>
              <a:rPr lang="en-US" sz="1200" b="1" dirty="0">
                <a:solidFill>
                  <a:srgbClr val="0D1B3E"/>
                </a:solidFill>
                <a:latin typeface="Segoe UI" pitchFamily="34" charset="0"/>
                <a:ea typeface="Segoe UI" pitchFamily="34" charset="-122"/>
                <a:cs typeface="Segoe UI" pitchFamily="34" charset="-120"/>
              </a:rPr>
              <a:t>A4 / A4</a:t>
            </a:r>
            <a:endParaRPr lang="en-US" sz="1200" dirty="0"/>
          </a:p>
        </p:txBody>
      </p:sp>
      <p:sp>
        <p:nvSpPr>
          <p:cNvPr id="9" name="Text 5"/>
          <p:cNvSpPr/>
          <p:nvPr/>
        </p:nvSpPr>
        <p:spPr>
          <a:xfrm>
            <a:off x="609600" y="1859280"/>
            <a:ext cx="10972495" cy="274320"/>
          </a:xfrm>
          <a:prstGeom prst="rect">
            <a:avLst/>
          </a:prstGeom>
          <a:noFill/>
          <a:ln/>
        </p:spPr>
        <p:txBody>
          <a:bodyPr wrap="square" rtlCol="0" anchor="ctr"/>
          <a:lstStyle/>
          <a:p>
            <a:pPr marL="0" indent="0">
              <a:buNone/>
            </a:pPr>
            <a:r>
              <a:rPr lang="en-US" sz="1200" i="1" dirty="0">
                <a:solidFill>
                  <a:srgbClr val="8899BB"/>
                </a:solidFill>
                <a:latin typeface="Segoe UI" pitchFamily="34" charset="0"/>
                <a:ea typeface="Segoe UI" pitchFamily="34" charset="-122"/>
                <a:cs typeface="Segoe UI" pitchFamily="34" charset="-120"/>
              </a:rPr>
              <a:t>Bold marks the better encoder in each row · final column = relative change CLIP → MobileNetV2</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09600" y="2225040"/>
          <a:ext cx="10972495" cy="3566160"/>
        </p:xfrm>
        <a:graphic>
          <a:graphicData uri="http://schemas.openxmlformats.org/drawingml/2006/table">
            <a:tbl>
              <a:tblPr/>
              <a:tblGrid>
                <a:gridCol w="2194499">
                  <a:extLst>
                    <a:ext uri="{9D8B030D-6E8A-4147-A177-3AD203B41FA5}">
                      <a16:colId xmlns:a16="http://schemas.microsoft.com/office/drawing/2014/main" val="20000"/>
                    </a:ext>
                  </a:extLst>
                </a:gridCol>
                <a:gridCol w="2633399">
                  <a:extLst>
                    <a:ext uri="{9D8B030D-6E8A-4147-A177-3AD203B41FA5}">
                      <a16:colId xmlns:a16="http://schemas.microsoft.com/office/drawing/2014/main" val="20001"/>
                    </a:ext>
                  </a:extLst>
                </a:gridCol>
                <a:gridCol w="2194499">
                  <a:extLst>
                    <a:ext uri="{9D8B030D-6E8A-4147-A177-3AD203B41FA5}">
                      <a16:colId xmlns:a16="http://schemas.microsoft.com/office/drawing/2014/main" val="20002"/>
                    </a:ext>
                  </a:extLst>
                </a:gridCol>
                <a:gridCol w="2194499">
                  <a:extLst>
                    <a:ext uri="{9D8B030D-6E8A-4147-A177-3AD203B41FA5}">
                      <a16:colId xmlns:a16="http://schemas.microsoft.com/office/drawing/2014/main" val="20003"/>
                    </a:ext>
                  </a:extLst>
                </a:gridCol>
                <a:gridCol w="1755599">
                  <a:extLst>
                    <a:ext uri="{9D8B030D-6E8A-4147-A177-3AD203B41FA5}">
                      <a16:colId xmlns:a16="http://schemas.microsoft.com/office/drawing/2014/main" val="20004"/>
                    </a:ext>
                  </a:extLst>
                </a:gridCol>
              </a:tblGrid>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Model</a:t>
                      </a:r>
                      <a:endParaRPr lang="en-US" sz="12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tcPr>
                </a:tc>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Sim Type</a:t>
                      </a:r>
                      <a:endParaRPr lang="en-US" sz="12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tcPr>
                </a:tc>
                <a:tc>
                  <a:txBody>
                    <a:bodyPr/>
                    <a:lstStyle/>
                    <a:p>
                      <a:pPr marL="0" indent="0" algn="r">
                        <a:buNone/>
                      </a:pPr>
                      <a:r>
                        <a:rPr lang="en-US" sz="1200" b="1" dirty="0">
                          <a:solidFill>
                            <a:srgbClr val="0D1B3E"/>
                          </a:solidFill>
                          <a:latin typeface="Segoe UI" pitchFamily="34" charset="0"/>
                          <a:ea typeface="Segoe UI" pitchFamily="34" charset="-122"/>
                          <a:cs typeface="Segoe UI" pitchFamily="34" charset="-120"/>
                        </a:rPr>
                        <a:t>NDCG@10 (CLIP)</a:t>
                      </a:r>
                      <a:endParaRPr lang="en-US" sz="12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tcPr>
                </a:tc>
                <a:tc>
                  <a:txBody>
                    <a:bodyPr/>
                    <a:lstStyle/>
                    <a:p>
                      <a:pPr marL="0" indent="0" algn="r">
                        <a:buNone/>
                      </a:pPr>
                      <a:r>
                        <a:rPr lang="en-US" sz="1200" b="1" dirty="0">
                          <a:solidFill>
                            <a:srgbClr val="0D1B3E"/>
                          </a:solidFill>
                          <a:latin typeface="Segoe UI" pitchFamily="34" charset="0"/>
                          <a:ea typeface="Segoe UI" pitchFamily="34" charset="-122"/>
                          <a:cs typeface="Segoe UI" pitchFamily="34" charset="-120"/>
                        </a:rPr>
                        <a:t>NDCG@10 (MBNv2)</a:t>
                      </a:r>
                      <a:endParaRPr lang="en-US" sz="12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tcPr>
                </a:tc>
                <a:tc>
                  <a:txBody>
                    <a:bodyPr/>
                    <a:lstStyle/>
                    <a:p>
                      <a:pPr marL="0" indent="0" algn="r">
                        <a:buNone/>
                      </a:pPr>
                      <a:r>
                        <a:rPr lang="en-US" sz="1200" b="1" dirty="0">
                          <a:solidFill>
                            <a:srgbClr val="0D1B3E"/>
                          </a:solidFill>
                          <a:latin typeface="Segoe UI" pitchFamily="34" charset="0"/>
                          <a:ea typeface="Segoe UI" pitchFamily="34" charset="-122"/>
                          <a:cs typeface="Segoe UI" pitchFamily="34" charset="-120"/>
                        </a:rPr>
                        <a:t>MBNv2 Δ (%)</a:t>
                      </a:r>
                      <a:endParaRPr lang="en-US" sz="12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19050" cap="flat" cmpd="sng" algn="ctr">
                      <a:solidFill>
                        <a:srgbClr val="0D1B3E"/>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BM3</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img_only</a:t>
                      </a:r>
                      <a:endParaRPr lang="en-US" sz="1200" dirty="0">
                        <a:latin typeface="Consolas" charset="0"/>
                        <a:ea typeface="Consolas" charset="0"/>
                        <a:cs typeface="Consolas"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0.0129</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0.0150</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A7A50"/>
                          </a:solidFill>
                          <a:latin typeface="Segoe UI" pitchFamily="34" charset="0"/>
                          <a:ea typeface="Segoe UI" pitchFamily="34" charset="-122"/>
                          <a:cs typeface="Segoe UI" pitchFamily="34" charset="-120"/>
                        </a:rPr>
                        <a:t>+16.3</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solidFill>
                        <a:srgbClr val="0D1B3E"/>
                      </a:solid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BM3</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text_only</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0.0158</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0.0149</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C1272D"/>
                          </a:solidFill>
                          <a:latin typeface="Segoe UI" pitchFamily="34" charset="0"/>
                          <a:ea typeface="Segoe UI" pitchFamily="34" charset="-122"/>
                          <a:cs typeface="Segoe UI" pitchFamily="34" charset="-120"/>
                        </a:rPr>
                        <a:t>−6.1</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BM3</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multimodal</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0.0142</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0.0186</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A7A50"/>
                          </a:solidFill>
                          <a:latin typeface="Segoe UI" pitchFamily="34" charset="0"/>
                          <a:ea typeface="Segoe UI" pitchFamily="34" charset="-122"/>
                          <a:cs typeface="Segoe UI" pitchFamily="34" charset="-120"/>
                        </a:rPr>
                        <a:t>+30.8</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BM3</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mm_attention</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0.0059</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0.0101</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A7A50"/>
                          </a:solidFill>
                          <a:latin typeface="Segoe UI" pitchFamily="34" charset="0"/>
                          <a:ea typeface="Segoe UI" pitchFamily="34" charset="-122"/>
                          <a:cs typeface="Segoe UI" pitchFamily="34" charset="-120"/>
                        </a:rPr>
                        <a:t>+72.2</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CombiGCN</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img_only</a:t>
                      </a:r>
                      <a:endParaRPr lang="en-US" sz="1200" dirty="0">
                        <a:latin typeface="Consolas" charset="0"/>
                        <a:ea typeface="Consolas" charset="0"/>
                        <a:cs typeface="Consolas"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0.0155</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0.0085</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C1272D"/>
                          </a:solidFill>
                          <a:latin typeface="Segoe UI" pitchFamily="34" charset="0"/>
                          <a:ea typeface="Segoe UI" pitchFamily="34" charset="-122"/>
                          <a:cs typeface="Segoe UI" pitchFamily="34" charset="-120"/>
                        </a:rPr>
                        <a:t>−45.2</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CombiGCN</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text_only</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0.0077</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0.0071</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C1272D"/>
                          </a:solidFill>
                          <a:latin typeface="Segoe UI" pitchFamily="34" charset="0"/>
                          <a:ea typeface="Segoe UI" pitchFamily="34" charset="-122"/>
                          <a:cs typeface="Segoe UI" pitchFamily="34" charset="-120"/>
                        </a:rPr>
                        <a:t>−7.5</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CombiGCN</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multimodal</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0.0174</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0.0175</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A7A50"/>
                          </a:solidFill>
                          <a:latin typeface="Segoe UI" pitchFamily="34" charset="0"/>
                          <a:ea typeface="Segoe UI" pitchFamily="34" charset="-122"/>
                          <a:cs typeface="Segoe UI" pitchFamily="34" charset="-120"/>
                        </a:rPr>
                        <a:t>+0.7</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CombiGCN</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mm_attention</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0.0153</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0.0151</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C1272D"/>
                          </a:solidFill>
                          <a:latin typeface="Segoe UI" pitchFamily="34" charset="0"/>
                          <a:ea typeface="Segoe UI" pitchFamily="34" charset="-122"/>
                          <a:cs typeface="Segoe UI" pitchFamily="34" charset="-120"/>
                        </a:rPr>
                        <a:t>−1.6</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8"/>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FREEDOM</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img_only</a:t>
                      </a:r>
                      <a:endParaRPr lang="en-US" sz="1200" dirty="0">
                        <a:latin typeface="Consolas" charset="0"/>
                        <a:ea typeface="Consolas" charset="0"/>
                        <a:cs typeface="Consolas"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0.0060</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0.0062</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A7A50"/>
                          </a:solidFill>
                          <a:latin typeface="Segoe UI" pitchFamily="34" charset="0"/>
                          <a:ea typeface="Segoe UI" pitchFamily="34" charset="-122"/>
                          <a:cs typeface="Segoe UI" pitchFamily="34" charset="-120"/>
                        </a:rPr>
                        <a:t>+3.7</a:t>
                      </a:r>
                      <a:endParaRPr lang="en-US" sz="1200" dirty="0">
                        <a:latin typeface="Segoe UI" charset="0"/>
                        <a:ea typeface="Segoe UI" charset="0"/>
                        <a:cs typeface="Segoe UI" charset="0"/>
                      </a:endParaRPr>
                    </a:p>
                  </a:txBody>
                  <a:tcPr anchor="ctr">
                    <a:lnL w="0" cap="flat" cmpd="sng" algn="ctr">
                      <a:noFill/>
                    </a:lnL>
                    <a:lnR w="0" cap="flat" cmpd="sng" algn="ctr">
                      <a:noFill/>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9"/>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FREEDOM</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text_only</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0.0049</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0.0031</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C1272D"/>
                          </a:solidFill>
                          <a:latin typeface="Segoe UI" pitchFamily="34" charset="0"/>
                          <a:ea typeface="Segoe UI" pitchFamily="34" charset="-122"/>
                          <a:cs typeface="Segoe UI" pitchFamily="34" charset="-120"/>
                        </a:rPr>
                        <a:t>−36.1</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0"/>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FREEDOM</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multimodal</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0.0049</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0.0081</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A7A50"/>
                          </a:solidFill>
                          <a:latin typeface="Segoe UI" pitchFamily="34" charset="0"/>
                          <a:ea typeface="Segoe UI" pitchFamily="34" charset="-122"/>
                          <a:cs typeface="Segoe UI" pitchFamily="34" charset="-120"/>
                        </a:rPr>
                        <a:t>+63.7</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1"/>
                  </a:ext>
                </a:extLst>
              </a:tr>
              <a:tr h="274320">
                <a:tc>
                  <a:txBody>
                    <a:bodyPr/>
                    <a:lstStyle/>
                    <a:p>
                      <a:pPr marL="0" indent="0" algn="l">
                        <a:buNone/>
                      </a:pPr>
                      <a:r>
                        <a:rPr lang="en-US" sz="1200" b="1" dirty="0">
                          <a:solidFill>
                            <a:srgbClr val="0D1B3E"/>
                          </a:solidFill>
                          <a:latin typeface="Segoe UI" pitchFamily="34" charset="0"/>
                          <a:ea typeface="Segoe UI" pitchFamily="34" charset="-122"/>
                          <a:cs typeface="Segoe UI" pitchFamily="34" charset="-120"/>
                        </a:rPr>
                        <a:t>FREEDOM</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1A1E2E"/>
                          </a:solidFill>
                          <a:latin typeface="Consolas" pitchFamily="34" charset="0"/>
                          <a:ea typeface="Consolas" pitchFamily="34" charset="-122"/>
                          <a:cs typeface="Consolas" pitchFamily="34" charset="-120"/>
                        </a:rPr>
                        <a:t>mm_attention</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dirty="0">
                          <a:solidFill>
                            <a:srgbClr val="1A1E2E"/>
                          </a:solidFill>
                          <a:latin typeface="Segoe UI" pitchFamily="34" charset="0"/>
                          <a:ea typeface="Segoe UI" pitchFamily="34" charset="-122"/>
                          <a:cs typeface="Segoe UI" pitchFamily="34" charset="-120"/>
                        </a:rPr>
                        <a:t>0.0033</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464B4"/>
                          </a:solidFill>
                          <a:latin typeface="Segoe UI" pitchFamily="34" charset="0"/>
                          <a:ea typeface="Segoe UI" pitchFamily="34" charset="-122"/>
                          <a:cs typeface="Segoe UI" pitchFamily="34" charset="-120"/>
                        </a:rPr>
                        <a:t>0.0088</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r">
                        <a:buNone/>
                      </a:pPr>
                      <a:r>
                        <a:rPr lang="en-US" sz="1200" b="1" dirty="0">
                          <a:solidFill>
                            <a:srgbClr val="1A7A50"/>
                          </a:solidFill>
                          <a:latin typeface="Segoe UI" pitchFamily="34" charset="0"/>
                          <a:ea typeface="Segoe UI" pitchFamily="34" charset="-122"/>
                          <a:cs typeface="Segoe UI" pitchFamily="34" charset="-120"/>
                        </a:rPr>
                        <a:t>+165.3</a:t>
                      </a:r>
                      <a:endParaRPr lang="en-US" sz="12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4506</Words>
  <Application>Microsoft Office PowerPoint</Application>
  <PresentationFormat>Widescreen</PresentationFormat>
  <Paragraphs>564</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Integrating Multimodal Representations into Graph-based Fashion Recommender Systems</dc:title>
  <dc:subject>PptxGenJS Presentation</dc:subject>
  <dc:creator>Hoang Dinh Quy Vu</dc:creator>
  <cp:lastModifiedBy>Vũ Hoàng</cp:lastModifiedBy>
  <cp:revision>3</cp:revision>
  <dcterms:created xsi:type="dcterms:W3CDTF">2026-07-03T10:59:10Z</dcterms:created>
  <dcterms:modified xsi:type="dcterms:W3CDTF">2026-07-03T12:41:29Z</dcterms:modified>
</cp:coreProperties>
</file>